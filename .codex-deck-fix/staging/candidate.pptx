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290f336b87049d1" /><Relationship Type="http://schemas.openxmlformats.org/officeDocument/2006/relationships/extended-properties" Target="/docProps/app.xml" Id="R3a5e0b051b48457b" /><Relationship Type="http://schemas.openxmlformats.org/officeDocument/2006/relationships/officeDocument" Target="/ppt/presentation.xml" Id="R9ce36ce1ad344a20" /></Relationships>
</file>

<file path=ppt/presentation.xml><?xml version="1.0" encoding="utf-8"?>
<p:presentation xmlns:p="http://schemas.openxmlformats.org/presentationml/2006/main">
  <p:sldMasterIdLst>
    <p:sldMasterId xmlns:r="http://schemas.openxmlformats.org/officeDocument/2006/relationships" id="2147483648" r:id="R38646bdd93ae4f2d"/>
  </p:sldMasterIdLst>
  <p:notesMasterIdLst>
    <p:notesMasterId xmlns:r="http://schemas.openxmlformats.org/officeDocument/2006/relationships" r:id="Rc2c1a582e9a54032"/>
  </p:notesMasterIdLst>
  <p:sldIdLst>
    <p:sldId xmlns:r="http://schemas.openxmlformats.org/officeDocument/2006/relationships" id="256" r:id="R98fbede928af4009"/>
    <p:sldId xmlns:r="http://schemas.openxmlformats.org/officeDocument/2006/relationships" id="257" r:id="Rebffd9b1a1c84031"/>
    <p:sldId xmlns:r="http://schemas.openxmlformats.org/officeDocument/2006/relationships" id="258" r:id="Rb6d698defdab4a1b"/>
    <p:sldId xmlns:r="http://schemas.openxmlformats.org/officeDocument/2006/relationships" id="259" r:id="R4c650cb4733b4b70"/>
    <p:sldId xmlns:r="http://schemas.openxmlformats.org/officeDocument/2006/relationships" id="260" r:id="R0cc0884841c24621"/>
    <p:sldId xmlns:r="http://schemas.openxmlformats.org/officeDocument/2006/relationships" id="261" r:id="Rb9c04aa0032048c6"/>
    <p:sldId xmlns:r="http://schemas.openxmlformats.org/officeDocument/2006/relationships" id="262" r:id="R5bb43a3377a14840"/>
    <p:sldId xmlns:r="http://schemas.openxmlformats.org/officeDocument/2006/relationships" id="263" r:id="R0e41f44c33264089"/>
    <p:sldId xmlns:r="http://schemas.openxmlformats.org/officeDocument/2006/relationships" id="264" r:id="Rc0f9f43cc7854885"/>
    <p:sldId xmlns:r="http://schemas.openxmlformats.org/officeDocument/2006/relationships" id="265" r:id="Rbb74e708316d4fb7"/>
    <p:sldId xmlns:r="http://schemas.openxmlformats.org/officeDocument/2006/relationships" id="266" r:id="Rc18c972fa276443e"/>
    <p:sldId xmlns:r="http://schemas.openxmlformats.org/officeDocument/2006/relationships" id="267" r:id="Re804c1c7fc7c4b8a"/>
    <p:sldId xmlns:r="http://schemas.openxmlformats.org/officeDocument/2006/relationships" id="268" r:id="Rb09f68d913e84212"/>
    <p:sldId xmlns:r="http://schemas.openxmlformats.org/officeDocument/2006/relationships" id="269" r:id="R48b4b463d1024c04"/>
    <p:sldId xmlns:r="http://schemas.openxmlformats.org/officeDocument/2006/relationships" id="270" r:id="Rcff8c43de3804d4b"/>
    <p:sldId xmlns:r="http://schemas.openxmlformats.org/officeDocument/2006/relationships" id="271" r:id="R05a653e83ba947c5"/>
    <p:sldId xmlns:r="http://schemas.openxmlformats.org/officeDocument/2006/relationships" id="272" r:id="R4ab721f053fe4f3b"/>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13ede37c2cf4a29" /><Relationship Type="http://schemas.openxmlformats.org/officeDocument/2006/relationships/slideMaster" Target="/ppt/slideMasters/slideMaster1.xml" Id="R38646bdd93ae4f2d" /><Relationship Type="http://schemas.openxmlformats.org/officeDocument/2006/relationships/notesMaster" Target="/ppt/notesMasters/notesMaster1.xml" Id="Rc2c1a582e9a54032" /><Relationship Type="http://schemas.openxmlformats.org/officeDocument/2006/relationships/presProps" Target="/ppt/presProps.xml" Id="R4503e9e6d0ce40a4" /><Relationship Type="http://schemas.openxmlformats.org/officeDocument/2006/relationships/viewProps" Target="/ppt/viewProps.xml" Id="R42c33b2c8be146b4" /><Relationship Type="http://schemas.openxmlformats.org/officeDocument/2006/relationships/tableStyles" Target="/ppt/tableStyles.xml" Id="R3735c14e451f4889" /><Relationship Type="http://schemas.openxmlformats.org/officeDocument/2006/relationships/slide" Target="/ppt/slides/slide1.xml" Id="R98fbede928af4009" /><Relationship Type="http://schemas.openxmlformats.org/officeDocument/2006/relationships/slide" Target="/ppt/slides/slide2.xml" Id="Rebffd9b1a1c84031" /><Relationship Type="http://schemas.openxmlformats.org/officeDocument/2006/relationships/slide" Target="/ppt/slides/slide3.xml" Id="Rb6d698defdab4a1b" /><Relationship Type="http://schemas.openxmlformats.org/officeDocument/2006/relationships/slide" Target="/ppt/slides/slide4.xml" Id="R4c650cb4733b4b70" /><Relationship Type="http://schemas.openxmlformats.org/officeDocument/2006/relationships/slide" Target="/ppt/slides/slide5.xml" Id="R0cc0884841c24621" /><Relationship Type="http://schemas.openxmlformats.org/officeDocument/2006/relationships/slide" Target="/ppt/slides/slide6.xml" Id="Rb9c04aa0032048c6" /><Relationship Type="http://schemas.openxmlformats.org/officeDocument/2006/relationships/slide" Target="/ppt/slides/slide7.xml" Id="R5bb43a3377a14840" /><Relationship Type="http://schemas.openxmlformats.org/officeDocument/2006/relationships/slide" Target="/ppt/slides/slide8.xml" Id="R0e41f44c33264089" /><Relationship Type="http://schemas.openxmlformats.org/officeDocument/2006/relationships/slide" Target="/ppt/slides/slide9.xml" Id="Rc0f9f43cc7854885" /><Relationship Type="http://schemas.openxmlformats.org/officeDocument/2006/relationships/slide" Target="/ppt/slides/slide10.xml" Id="Rbb74e708316d4fb7" /><Relationship Type="http://schemas.openxmlformats.org/officeDocument/2006/relationships/slide" Target="/ppt/slides/slide11.xml" Id="Rc18c972fa276443e" /><Relationship Type="http://schemas.openxmlformats.org/officeDocument/2006/relationships/slide" Target="/ppt/slides/slide12.xml" Id="Re804c1c7fc7c4b8a" /><Relationship Type="http://schemas.openxmlformats.org/officeDocument/2006/relationships/slide" Target="/ppt/slides/slide13.xml" Id="Rb09f68d913e84212" /><Relationship Type="http://schemas.openxmlformats.org/officeDocument/2006/relationships/slide" Target="/ppt/slides/slide14.xml" Id="R48b4b463d1024c04" /><Relationship Type="http://schemas.openxmlformats.org/officeDocument/2006/relationships/slide" Target="/ppt/slides/slide15.xml" Id="Rcff8c43de3804d4b" /><Relationship Type="http://schemas.openxmlformats.org/officeDocument/2006/relationships/slide" Target="/ppt/slides/slide16.xml" Id="R05a653e83ba947c5" /><Relationship Type="http://schemas.openxmlformats.org/officeDocument/2006/relationships/slide" Target="/ppt/slides/slide17.xml" Id="R4ab721f053fe4f3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9a4c33016b459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bd9d6ef92984cac" /><Relationship Type="http://schemas.openxmlformats.org/officeDocument/2006/relationships/notesMaster" Target="/ppt/notesMasters/notesMaster1.xml" Id="R34b52cf9eb7a48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91ee57282d47d4" /><Relationship Type="http://schemas.openxmlformats.org/officeDocument/2006/relationships/notesMaster" Target="/ppt/notesMasters/notesMaster1.xml" Id="R9c3e226f8b4743f1"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eac50832a440e8" /><Relationship Type="http://schemas.openxmlformats.org/officeDocument/2006/relationships/notesMaster" Target="/ppt/notesMasters/notesMaster1.xml" Id="R9bec86dc3f3d4592"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6ede3953224769" /><Relationship Type="http://schemas.openxmlformats.org/officeDocument/2006/relationships/notesMaster" Target="/ppt/notesMasters/notesMaster1.xml" Id="Rfa03386248a743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23b811d91f9641d7" /><Relationship Type="http://schemas.openxmlformats.org/officeDocument/2006/relationships/notesMaster" Target="/ppt/notesMasters/notesMaster1.xml" Id="R2da936a8d9d54b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8654a6be6b4056" /><Relationship Type="http://schemas.openxmlformats.org/officeDocument/2006/relationships/notesMaster" Target="/ppt/notesMasters/notesMaster1.xml" Id="R918a7d64e6284b7e" /></Relationships>
</file>

<file path=ppt/notesSlides/_rels/notesSlide7.xml.rels>&#65279;<?xml version="1.0" encoding="utf-8"?><Relationships xmlns="http://schemas.openxmlformats.org/package/2006/relationships"><Relationship Type="http://schemas.openxmlformats.org/officeDocument/2006/relationships/slide" Target="/ppt/slides/slide7.xml" Id="R7d451e90e6024fd7" /><Relationship Type="http://schemas.openxmlformats.org/officeDocument/2006/relationships/notesMaster" Target="/ppt/notesMasters/notesMaster1.xml" Id="R1780af2cafb34c22" /></Relationships>
</file>

<file path=ppt/notesSlides/_rels/notesSlide8.xml.rels>&#65279;<?xml version="1.0" encoding="utf-8"?><Relationships xmlns="http://schemas.openxmlformats.org/package/2006/relationships"><Relationship Type="http://schemas.openxmlformats.org/officeDocument/2006/relationships/slide" Target="/ppt/slides/slide8.xml" Id="R85fe1d39df594a0f" /><Relationship Type="http://schemas.openxmlformats.org/officeDocument/2006/relationships/notesMaster" Target="/ppt/notesMasters/notesMaster1.xml" Id="Re59fb3d19a70437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265b1d52ccc44ee" /><Relationship Type="http://schemas.openxmlformats.org/officeDocument/2006/relationships/notesMaster" Target="/ppt/notesMasters/notesMaster1.xml" Id="R87564ad2840543e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a5a3aab088a4e36" /><Relationship Type="http://schemas.openxmlformats.org/officeDocument/2006/relationships/notesMaster" Target="/ppt/notesMasters/notesMaster1.xml" Id="R9dc9f6bcfced438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b0c7074ab2d4338" /><Relationship Type="http://schemas.openxmlformats.org/officeDocument/2006/relationships/notesMaster" Target="/ppt/notesMasters/notesMaster1.xml" Id="Reba9b7577f29453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193c32e49714874" /><Relationship Type="http://schemas.openxmlformats.org/officeDocument/2006/relationships/notesMaster" Target="/ppt/notesMasters/notesMaster1.xml" Id="Rf47e85eb9d7e4c8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e05e7fea8d44de1" /><Relationship Type="http://schemas.openxmlformats.org/officeDocument/2006/relationships/notesMaster" Target="/ppt/notesMasters/notesMaster1.xml" Id="Rbb42501d219b49d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ab635fce2864357" /><Relationship Type="http://schemas.openxmlformats.org/officeDocument/2006/relationships/notesMaster" Target="/ppt/notesMasters/notesMaster1.xml" Id="R0d140125bb674fa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54752f2a275479b" /><Relationship Type="http://schemas.openxmlformats.org/officeDocument/2006/relationships/notesMaster" Target="/ppt/notesMasters/notesMaster1.xml" Id="Ra2a70388f3ce443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4d6d0919473483c" /><Relationship Type="http://schemas.openxmlformats.org/officeDocument/2006/relationships/notesMaster" Target="/ppt/notesMasters/notesMaster1.xml" Id="R6496930ca8dd47f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69d7011a7c14147" /><Relationship Type="http://schemas.openxmlformats.org/officeDocument/2006/relationships/notesMaster" Target="/ppt/notesMasters/notesMaster1.xml" Id="R4812e9c3b576482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exists as of Sep 11, 2026, how the pieces fit, and the path to zero-knowledge proofs of llama.cpp inference.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Framing for people outside the field. Everything after this slide is what exists in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programs and one document. Prover and replay verifier are C++ in llama.cpp; the trace verifier is Python; the spec is Lean 4; the proof is Rust on Expander.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Signing is left to the operator's key tooling; the README shows an openssl one-liner.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23,000 leaves for a 32-token generation of a 1.5B model. Same-backend replay is deterministic once the KV cache starts zeroed.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Checks 1 to 6 are hash comparisons over about 23,000 small JSON objects. Only the openings touch tensor bytes, and there are k of them, 32 by default.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Calibrated with the native llama.cpp tool on both backends.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Q2_K case forged the leaf metadata to claim Q4_K_M types; only the opened bytes betray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Lean 4.33.1, lake build in seconds. Floating point is opaque to Lean's logic; the float parts are checked by differential testing.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activation row from a CPU trace of qwen2.5 1.5B Q4_K_M, Apple M5. The Lean theorems s1_lt_2_pow_25 and s2_bound are what make M31 field arithmetic equal integer arithmetic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Draft PRs in the fork so the work is reviewable as a unit. Upstream submission is a separate step with its own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provers today reach minutes per token at 7B; the closed claim is tens of tokens per second at 31B. The point here is that the native arithmetic is provable at all, which was not established before.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a044ff17a645d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6f95d931aa6441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627f103d3a6406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0da01284aa947e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f54513ed64c486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9c0bed19ed34fb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a779d63ab8e49b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2bf90cc2844437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cab53204de8421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7560e92414f4a9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c3d384bf0434ab7"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2057981-C960-4D3D-8462-DADD1DD21E1E}"/>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C674E5F0-4668-479B-9C26-102383B39AFF}"/>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4FCC5F7D-C4CB-440B-B8D2-8B3A3442678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B6DBA64F-8E31-4271-8FE3-9D82783BCCC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1F31EF3-61F7-4658-9E33-1AEA794B0FC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C416529-4A33-4EBC-B191-3EEEA694910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212FE7E-EBF1-4A16-8D9C-FC7A51CD0909}"/>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78C1ECC7-68FC-48EF-ABF1-CFB14DDE6BF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70BAD11E-D6A6-4EC4-8BE2-8C51ACC97E8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8C189E7-6AD9-4415-825A-5E55C4FA763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B5A8BC8-BD80-413E-9A64-B842742AC41E}"/>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0033FE46-4DDC-4919-B307-FA1D7BB9DAAB}"/>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7265038A-95AB-4DC7-90D2-A4B6A6DF589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FF4F9CCF-2CB3-4905-8D13-C0988BADEFD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4BCF5BB-05DC-404C-83CE-B5C95F8428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FF4268B-81D2-4461-ABD4-8FC8B076785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E7C8203F-F6E2-4D7C-8584-34526BD71F1B}"/>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107CAE0C-6FBB-403A-B264-F3E65008CF7A}"/>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DD502A2D-3D8F-4E07-8917-37041C4AD27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69A28C6A-CACD-4498-9C47-0477288A256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D759F18-FF2D-410F-AAF4-A5BFDB83A00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CC4E5CE-FB99-4A50-9F5B-E7F8D750392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BEE4A618-50B7-43A0-9AD4-5ACCFD4E40FD}"/>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FC166EB2-D799-40CC-B3E6-FBFE6F112310}"/>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ED8AF4CF-F347-40EB-A804-7FA42CD9B6BD}"/>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BBB124B5-EA87-483E-8594-00CF8DC5A8C0}"/>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FAADB963-FDE1-4D9D-AF76-2577EC54911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0B5A6BBB-0093-4BF5-B142-23B7BDC7D0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72715B9-D2FC-4D05-82E8-DF55B5CC8FD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B036623-CA10-4E98-8F22-C93C58AC844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654FBD59-7CE5-430A-9FFB-33F976BD0B6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A332482C-D172-4F5B-B4E5-9C305814BC7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2410897E-3438-430D-A617-DC1370DE237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67DB1096-B490-4284-BCBC-C10F7EF84B4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904BE8A5-F615-4917-B037-36F272668FE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F7F50A0C-625B-4B67-94A5-73EE5C78138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89F115F-A440-4B8D-9DFE-90EC116598B0}"/>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1D8C4522-A29E-402C-B13A-AE993A228385}"/>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321C9985-4465-43C9-ABF8-F05F24CEC5D8}"/>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728F24F-6AEF-4466-842E-8460713DF68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27F7AE78-DCA9-43FC-82CB-2F2A3C6E201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D87A5DA-99BD-4EDC-B543-A84C4BEDC14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1C8A7AE-096E-4928-BA57-DF85A61D079E}"/>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B389EBC1-17BB-4331-944E-3C2361CC782E}"/>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70CAFE91-A500-41C7-A18B-A97710F76B58}"/>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D2B7BA41-C5EC-4D02-8C66-11DE0993492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624C07BE-6B87-445F-A7AE-13BB8E3545C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687A20A-A562-4965-930D-5C2FE3DB584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CA81E04-22B2-45DC-B65F-13FFB5DDDE1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96D20873-C5E0-4301-93F6-94982305BF13}"/>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4172D036-5958-42E2-A0A7-346DEDBDC91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2B767E12-0B94-4277-84A7-F5456EFB45F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4E03A60-9B5D-4916-9157-0CCFEF495B9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B999321D-526D-40AE-A223-9E0ACC622D36}"/>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8F33C3EE-86E6-4BA9-8701-566F594A5FCD}"/>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574576F-CE0C-4CAB-8F03-FBF7E171A84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7942940B-D887-4CFC-B4AB-8BE2D000E33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19F5C26-C19A-42EA-81B4-1A98600C74C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3ec9940029e40d6" /><Relationship Type="http://schemas.openxmlformats.org/officeDocument/2006/relationships/slideLayout" Target="/ppt/slideLayouts/slideLayout1.xml" Id="R02e11cf162614083" /><Relationship Type="http://schemas.openxmlformats.org/officeDocument/2006/relationships/slideLayout" Target="/ppt/slideLayouts/slideLayout2.xml" Id="R777ce0554c3f4c45" /><Relationship Type="http://schemas.openxmlformats.org/officeDocument/2006/relationships/slideLayout" Target="/ppt/slideLayouts/slideLayout3.xml" Id="Rc311381a46294c3f" /><Relationship Type="http://schemas.openxmlformats.org/officeDocument/2006/relationships/slideLayout" Target="/ppt/slideLayouts/slideLayout4.xml" Id="Rdccba79278b3446d" /><Relationship Type="http://schemas.openxmlformats.org/officeDocument/2006/relationships/slideLayout" Target="/ppt/slideLayouts/slideLayout5.xml" Id="Rb9728b9cf7de40f2" /><Relationship Type="http://schemas.openxmlformats.org/officeDocument/2006/relationships/slideLayout" Target="/ppt/slideLayouts/slideLayout6.xml" Id="Rc36b3eeb23e241c0" /><Relationship Type="http://schemas.openxmlformats.org/officeDocument/2006/relationships/slideLayout" Target="/ppt/slideLayouts/slideLayout7.xml" Id="Ra104cf3f9cd84d23" /><Relationship Type="http://schemas.openxmlformats.org/officeDocument/2006/relationships/slideLayout" Target="/ppt/slideLayouts/slideLayout8.xml" Id="Rc5fa151e38e74c2c" /><Relationship Type="http://schemas.openxmlformats.org/officeDocument/2006/relationships/slideLayout" Target="/ppt/slideLayouts/slideLayout9.xml" Id="R2020277ccb0d4770" /><Relationship Type="http://schemas.openxmlformats.org/officeDocument/2006/relationships/slideLayout" Target="/ppt/slideLayouts/slideLayout10.xml" Id="R0912bd7d1ca34ea2" /><Relationship Type="http://schemas.openxmlformats.org/officeDocument/2006/relationships/slideLayout" Target="/ppt/slideLayouts/slideLayout11.xml" Id="Rd1fe9303a5b94da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919BABB2-B3B5-45A0-9345-FA8CE06AB50A}"/>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D2E35F77-9D16-4E37-8D8E-B6AD8FCFC272}"/>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DA54233-341B-4BF2-A4E5-8DFBFF010D03}"/>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441F738A-9F8A-4C2D-9292-4934CFCF60F0}"/>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FBF3FD3-8E18-435E-89F6-0537A1B20090}"/>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e11cf162614083"/>
    <p:sldLayoutId xmlns:r="http://schemas.openxmlformats.org/officeDocument/2006/relationships" id="2147483650" r:id="R777ce0554c3f4c45"/>
    <p:sldLayoutId xmlns:r="http://schemas.openxmlformats.org/officeDocument/2006/relationships" id="2147483651" r:id="Rc311381a46294c3f"/>
    <p:sldLayoutId xmlns:r="http://schemas.openxmlformats.org/officeDocument/2006/relationships" id="2147483652" r:id="Rdccba79278b3446d"/>
    <p:sldLayoutId xmlns:r="http://schemas.openxmlformats.org/officeDocument/2006/relationships" id="2147483653" r:id="Rb9728b9cf7de40f2"/>
    <p:sldLayoutId xmlns:r="http://schemas.openxmlformats.org/officeDocument/2006/relationships" id="2147483654" r:id="Rc36b3eeb23e241c0"/>
    <p:sldLayoutId xmlns:r="http://schemas.openxmlformats.org/officeDocument/2006/relationships" id="2147483655" r:id="Ra104cf3f9cd84d23"/>
    <p:sldLayoutId xmlns:r="http://schemas.openxmlformats.org/officeDocument/2006/relationships" id="2147483656" r:id="Rc5fa151e38e74c2c"/>
    <p:sldLayoutId xmlns:r="http://schemas.openxmlformats.org/officeDocument/2006/relationships" id="2147483657" r:id="R2020277ccb0d4770"/>
    <p:sldLayoutId xmlns:r="http://schemas.openxmlformats.org/officeDocument/2006/relationships" id="2147483658" r:id="R0912bd7d1ca34ea2"/>
    <p:sldLayoutId xmlns:r="http://schemas.openxmlformats.org/officeDocument/2006/relationships" id="2147483659" r:id="Rd1fe9303a5b94da2"/>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884fce05b7114078" /><Relationship Type="http://schemas.openxmlformats.org/officeDocument/2006/relationships/notesSlide" Target="/ppt/notesSlides/notesSlide1.xml" Id="Rd2bb3485a7e14eaf"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d96aa66dbed446d2" /><Relationship Type="http://schemas.openxmlformats.org/officeDocument/2006/relationships/notesSlide" Target="/ppt/notesSlides/notesSlide2.xml" Id="Rc4325aa7107e4404"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d74b3cc702394ede" /><Relationship Type="http://schemas.openxmlformats.org/officeDocument/2006/relationships/notesSlide" Target="/ppt/notesSlides/notesSlide3.xml" Id="R54ff8d1116c246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79e1c3a2975f4307" /><Relationship Type="http://schemas.openxmlformats.org/officeDocument/2006/relationships/notesSlide" Target="/ppt/notesSlides/notesSlide4.xml" Id="Rf18c48b98964414b"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6a551bb669ee4240" /><Relationship Type="http://schemas.openxmlformats.org/officeDocument/2006/relationships/notesSlide" Target="/ppt/notesSlides/notesSlide5.xml" Id="R4165b2055a3d49a6"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11f9b28699a84713" /><Relationship Type="http://schemas.openxmlformats.org/officeDocument/2006/relationships/notesSlide" Target="/ppt/notesSlides/notesSlide6.xml" Id="Rcea6bcd7223f43e2"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504da42690a54f37" /><Relationship Type="http://schemas.openxmlformats.org/officeDocument/2006/relationships/notesSlide" Target="/ppt/notesSlides/notesSlide7.xml" Id="R2cf5e40fe2e747bd"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fba5f717b1a442d1" /><Relationship Type="http://schemas.openxmlformats.org/officeDocument/2006/relationships/notesSlide" Target="/ppt/notesSlides/notesSlide8.xml" Id="R2aa60fc497bd4762"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a32c9018692e4324" /><Relationship Type="http://schemas.openxmlformats.org/officeDocument/2006/relationships/image" Target="/ppt/media/image.png" Id="R1f81f34303164de2" /><Relationship Type="http://schemas.openxmlformats.org/officeDocument/2006/relationships/image" Target="/ppt/media/image2.png" Id="R9ee052bd60d244fc" /><Relationship Type="http://schemas.openxmlformats.org/officeDocument/2006/relationships/notesSlide" Target="/ppt/notesSlides/notesSlide9.xml" Id="R41bb7f81ef6a4e2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49f4ecd889ad41a3" /><Relationship Type="http://schemas.openxmlformats.org/officeDocument/2006/relationships/image" Target="/ppt/media/image3.png" Id="Rb92cc74dd0664aaa" /><Relationship Type="http://schemas.openxmlformats.org/officeDocument/2006/relationships/notesSlide" Target="/ppt/notesSlides/notesSlide10.xml" Id="R09c644d9b19942c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e8fde5bb22db4a48" /><Relationship Type="http://schemas.openxmlformats.org/officeDocument/2006/relationships/notesSlide" Target="/ppt/notesSlides/notesSlide11.xml" Id="Rdadabff3f9bb466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936ae7f94efd4a44" /><Relationship Type="http://schemas.openxmlformats.org/officeDocument/2006/relationships/image" Target="/ppt/media/image4.png" Id="Rd9f5d745ee6d4c4d" /><Relationship Type="http://schemas.openxmlformats.org/officeDocument/2006/relationships/notesSlide" Target="/ppt/notesSlides/notesSlide12.xml" Id="Rfabd63e483ed4f6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ae1a664df0274f73" /><Relationship Type="http://schemas.openxmlformats.org/officeDocument/2006/relationships/image" Target="/ppt/media/image5.png" Id="Rd6e3731db1fd41b1" /><Relationship Type="http://schemas.openxmlformats.org/officeDocument/2006/relationships/notesSlide" Target="/ppt/notesSlides/notesSlide13.xml" Id="Rc47bd4276cd047d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9d7e0faa3b934966" /><Relationship Type="http://schemas.openxmlformats.org/officeDocument/2006/relationships/notesSlide" Target="/ppt/notesSlides/notesSlide14.xml" Id="R94ebf9ac82764c8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5c384da547384f0f" /><Relationship Type="http://schemas.openxmlformats.org/officeDocument/2006/relationships/notesSlide" Target="/ppt/notesSlides/notesSlide15.xml" Id="R432f44d9de48424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d0cf06b672d84017" /><Relationship Type="http://schemas.openxmlformats.org/officeDocument/2006/relationships/notesSlide" Target="/ppt/notesSlides/notesSlide16.xml" Id="R37134ce122b6488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92432706af0141bb" /><Relationship Type="http://schemas.openxmlformats.org/officeDocument/2006/relationships/notesSlide" Target="/ppt/notesSlides/notesSlide17.xml" Id="R5ff1a2cbdca24d9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EA6277C-B54F-46B8-BA5B-FD58FCE6A746}"/>
              </a:ext>
            </a:extLst>
          </p:cNvPr>
          <p:cNvSpPr>
            <a:spLocks xmlns:a="http://schemas.openxmlformats.org/drawingml/2006/main" noGrp="1"/>
          </p:cNvSpPr>
          <p:nvPr/>
        </p:nvSpPr>
        <p:spPr>
          <a:xfrm xmlns:a="http://schemas.openxmlformats.org/drawingml/2006/main">
            <a:off x="640080" y="6400800"/>
            <a:ext cx="10911535"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5F6770"/>
                </a:solidFill>
                <a:latin typeface="Helvetica Neue"/>
                <a:ea typeface="Helvetica Neue"/>
                <a:cs typeface="Helvetica Neue"/>
              </a:rPr>
              <a:t>llama-receipts, Sep 11, 2026</a:t>
            </a:r>
            <a:r>
              <a:rPr sz="1000">
                <a:solidFill>
                  <a:srgbClr val="5F6770"/>
                </a:solidFill>
                <a:latin typeface="Helvetica Neue"/>
                <a:ea typeface="Helvetica Neue"/>
                <a:cs typeface="Helvetica Neue"/>
              </a:rPr>
              <a:t>     1</a:t>
            </a:r>
          </a:p>
        </p:txBody>
      </p:sp>
      <p:sp>
        <p:nvSpPr>
          <p:cNvPr id="3" name="Rectangle 2">
            <a:extLst xmlns:a="http://schemas.openxmlformats.org/drawingml/2006/main">
              <a:ext uri="{FF2B5EF4-FFF2-40B4-BE49-F238E27FC236}">
                <a16:creationId xmlns:a16="http://schemas.microsoft.com/office/drawing/2014/main" id="{10AD8EF9-7FA6-4EA4-80F6-2CB366C18A8E}"/>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1F232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9D371A18-D336-4722-A856-E8F522AE4A0A}"/>
              </a:ext>
            </a:extLst>
          </p:cNvPr>
          <p:cNvSpPr>
            <a:spLocks xmlns:a="http://schemas.openxmlformats.org/drawingml/2006/main" noGrp="1"/>
          </p:cNvSpPr>
          <p:nvPr/>
        </p:nvSpPr>
        <p:spPr>
          <a:xfrm xmlns:a="http://schemas.openxmlformats.org/drawingml/2006/main">
            <a:off x="640080" y="1920240"/>
            <a:ext cx="10911535" cy="1280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4400" b="1">
                <a:solidFill>
                  <a:srgbClr val="FFFFFF"/>
                </a:solidFill>
                <a:latin typeface="Helvetica Neue"/>
                <a:ea typeface="Helvetica Neue"/>
                <a:cs typeface="Helvetica Neue"/>
              </a:rPr>
              <a:t>Inference receipts for llama.cpp</a:t>
            </a:r>
          </a:p>
        </p:txBody>
      </p:sp>
      <p:sp>
        <p:nvSpPr>
          <p:cNvPr id="5" name="TextBox 4">
            <a:extLst xmlns:a="http://schemas.openxmlformats.org/drawingml/2006/main">
              <a:ext uri="{FF2B5EF4-FFF2-40B4-BE49-F238E27FC236}">
                <a16:creationId xmlns:a16="http://schemas.microsoft.com/office/drawing/2014/main" id="{B8C05C19-0FEC-410A-BEE0-5F85A3065426}"/>
              </a:ext>
            </a:extLst>
          </p:cNvPr>
          <p:cNvSpPr>
            <a:spLocks xmlns:a="http://schemas.openxmlformats.org/drawingml/2006/main" noGrp="1"/>
          </p:cNvSpPr>
          <p:nvPr/>
        </p:nvSpPr>
        <p:spPr>
          <a:xfrm xmlns:a="http://schemas.openxmlformats.org/drawingml/2006/main">
            <a:off x="640080" y="3108960"/>
            <a:ext cx="10911535" cy="1371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000" b="0">
                <a:solidFill>
                  <a:srgbClr val="C9D6E0"/>
                </a:solidFill>
                <a:latin typeface="Helvetica Neue"/>
                <a:ea typeface="Helvetica Neue"/>
                <a:cs typeface="Helvetica Neue"/>
              </a:rPr>
              <a:t>Signed receipts, a committed trace of every tensor, a verifier that never runs the model,</a:t>
            </a:r>
          </a:p>
          <a:p xmlns:a="http://schemas.openxmlformats.org/drawingml/2006/main">
            <a:pPr>
              <a:spcBef>
                <a:spcPts val="200"/>
              </a:spcBef>
              <a:buNone/>
            </a:pPr>
            <a:r>
              <a:rPr sz="2000" b="0">
                <a:solidFill>
                  <a:srgbClr val="C9D6E0"/>
                </a:solidFill>
                <a:latin typeface="Helvetica Neue"/>
                <a:ea typeface="Helvetica Neue"/>
                <a:cs typeface="Helvetica Neue"/>
              </a:rPr>
              <a:t>a formal specification in Lean, and </a:t>
            </a:r>
            <a:r>
              <a:rPr sz="2000" b="0">
                <a:solidFill>
                  <a:srgbClr val="C9D6E0"/>
                </a:solidFill>
                <a:latin typeface="Helvetica Neue"/>
                <a:ea typeface="Helvetica Neue"/>
                <a:cs typeface="Helvetica Neue"/>
              </a:rPr>
              <a:t>a first integrity proof of the native arithmetic</a:t>
            </a:r>
          </a:p>
        </p:txBody>
      </p:sp>
      <p:sp>
        <p:nvSpPr>
          <p:cNvPr id="6" name="TextBox 5">
            <a:extLst xmlns:a="http://schemas.openxmlformats.org/drawingml/2006/main">
              <a:ext uri="{FF2B5EF4-FFF2-40B4-BE49-F238E27FC236}">
                <a16:creationId xmlns:a16="http://schemas.microsoft.com/office/drawing/2014/main" id="{AC1E36BD-FB22-445C-81FE-31A71AA9069D}"/>
              </a:ext>
            </a:extLst>
          </p:cNvPr>
          <p:cNvSpPr>
            <a:spLocks xmlns:a="http://schemas.openxmlformats.org/drawingml/2006/main" noGrp="1"/>
          </p:cNvSpPr>
          <p:nvPr/>
        </p:nvSpPr>
        <p:spPr>
          <a:xfrm xmlns:a="http://schemas.openxmlformats.org/drawingml/2006/main">
            <a:off x="640080" y="5212080"/>
            <a:ext cx="10911535"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C9D6E0"/>
                </a:solidFill>
                <a:latin typeface="Helvetica Neue"/>
                <a:ea typeface="Helvetica Neue"/>
                <a:cs typeface="Helvetica Neue"/>
              </a:rPr>
              <a:t>Luis Cosio, SL5. Sep 11, 2026</a:t>
            </a:r>
          </a:p>
          <a:p xmlns:a="http://schemas.openxmlformats.org/drawingml/2006/main">
            <a:pPr>
              <a:spcBef>
                <a:spcPts val="400"/>
              </a:spcBef>
              <a:buNone/>
            </a:pPr>
            <a:r>
              <a:rPr sz="1400" b="0">
                <a:solidFill>
                  <a:srgbClr val="C9D6E0"/>
                </a:solidFill>
                <a:latin typeface="Helvetica Neue"/>
                <a:ea typeface="Helvetica Neue"/>
                <a:cs typeface="Helvetica Neue"/>
              </a:rPr>
              <a:t>github.com/luiscosio/llama.cpp, pull requests 1, 2 and 3</a:t>
            </a:r>
          </a:p>
        </p:txBody>
      </p:sp>
    </p:spTree>
    <p:extLst>
      <p:ext uri="{BB962C8B-B14F-4D97-AF65-F5344CB8AC3E}">
        <p14:creationId xmlns:p14="http://schemas.microsoft.com/office/powerpoint/2010/main" val="79692405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B43142D-48E0-4B3A-BEB6-4B944A37BCBD}"/>
              </a:ext>
            </a:extLst>
          </p:cNvPr>
          <p:cNvSpPr>
            <a:spLocks xmlns:a="http://schemas.openxmlformats.org/drawingml/2006/main" noGrp="1"/>
          </p:cNvSpPr>
          <p:nvPr/>
        </p:nvSpPr>
        <p:spPr>
          <a:xfrm xmlns:a="http://schemas.openxmlformats.org/drawingml/2006/main">
            <a:off x="640080" y="347472"/>
            <a:ext cx="10911535"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0B6E99"/>
                </a:solidFill>
                <a:latin typeface="Helvetica Neue"/>
                <a:ea typeface="Helvetica Neue"/>
                <a:cs typeface="Helvetica Neue"/>
              </a:rPr>
              <a:t>THE PROBLEM</a:t>
            </a:r>
          </a:p>
        </p:txBody>
      </p:sp>
      <p:sp>
        <p:nvSpPr>
          <p:cNvPr id="3" name="TextBox 2">
            <a:extLst xmlns:a="http://schemas.openxmlformats.org/drawingml/2006/main">
              <a:ext uri="{FF2B5EF4-FFF2-40B4-BE49-F238E27FC236}">
                <a16:creationId xmlns:a16="http://schemas.microsoft.com/office/drawing/2014/main" id="{B8808663-AF8E-4D82-B467-1BF31F07E076}"/>
              </a:ext>
            </a:extLst>
          </p:cNvPr>
          <p:cNvSpPr>
            <a:spLocks xmlns:a="http://schemas.openxmlformats.org/drawingml/2006/main" noGrp="1"/>
          </p:cNvSpPr>
          <p:nvPr/>
        </p:nvSpPr>
        <p:spPr>
          <a:xfrm xmlns:a="http://schemas.openxmlformats.org/drawingml/2006/main">
            <a:off x="640080" y="640080"/>
            <a:ext cx="10911535"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1F2328"/>
                </a:solidFill>
                <a:latin typeface="Helvetica Neue"/>
                <a:ea typeface="Helvetica Neue"/>
                <a:cs typeface="Helvetica Neue"/>
              </a:rPr>
              <a:t>You get tokens back and nothing else</a:t>
            </a:r>
          </a:p>
        </p:txBody>
      </p:sp>
      <p:sp>
        <p:nvSpPr>
          <p:cNvPr id="4" name="Rectangle 3">
            <a:extLst xmlns:a="http://schemas.openxmlformats.org/drawingml/2006/main">
              <a:ext uri="{FF2B5EF4-FFF2-40B4-BE49-F238E27FC236}">
                <a16:creationId xmlns:a16="http://schemas.microsoft.com/office/drawing/2014/main" id="{4BEC02D2-0202-476B-BE74-2ADF34A09F04}"/>
              </a:ext>
            </a:extLst>
          </p:cNvPr>
          <p:cNvSpPr>
            <a:spLocks xmlns:a="http://schemas.openxmlformats.org/drawingml/2006/main" noGrp="1"/>
          </p:cNvSpPr>
          <p:nvPr/>
        </p:nvSpPr>
        <p:spPr>
          <a:xfrm xmlns:a="http://schemas.openxmlformats.org/drawingml/2006/main">
            <a:off x="640080" y="1572768"/>
            <a:ext cx="10911535" cy="12700"/>
          </a:xfrm>
          <a:prstGeom xmlns:a="http://schemas.openxmlformats.org/drawingml/2006/main" prst="rect">
            <a:avLst/>
          </a:prstGeom>
          <a:solidFill xmlns:a="http://schemas.openxmlformats.org/drawingml/2006/main">
            <a:srgbClr val="D9DE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8188C717-5E82-4166-83F5-C85224B45AA2}"/>
              </a:ext>
            </a:extLst>
          </p:cNvPr>
          <p:cNvSpPr>
            <a:spLocks xmlns:a="http://schemas.openxmlformats.org/drawingml/2006/main" noGrp="1"/>
          </p:cNvSpPr>
          <p:nvPr/>
        </p:nvSpPr>
        <p:spPr>
          <a:xfrm xmlns:a="http://schemas.openxmlformats.org/drawingml/2006/main">
            <a:off x="640080" y="6400800"/>
            <a:ext cx="10911535"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5F6770"/>
                </a:solidFill>
                <a:latin typeface="Helvetica Neue"/>
                <a:ea typeface="Helvetica Neue"/>
                <a:cs typeface="Helvetica Neue"/>
              </a:rPr>
              <a:t>llama-receipts, Sep 11, 2026</a:t>
            </a:r>
            <a:r>
              <a:rPr sz="1000">
                <a:solidFill>
                  <a:srgbClr val="5F6770"/>
                </a:solidFill>
                <a:latin typeface="Helvetica Neue"/>
                <a:ea typeface="Helvetica Neue"/>
                <a:cs typeface="Helvetica Neue"/>
              </a:rPr>
              <a:t>     2</a:t>
            </a:r>
          </a:p>
        </p:txBody>
      </p:sp>
      <p:sp>
        <p:nvSpPr>
          <p:cNvPr id="6" name="TextBox 5">
            <a:extLst xmlns:a="http://schemas.openxmlformats.org/drawingml/2006/main">
              <a:ext uri="{FF2B5EF4-FFF2-40B4-BE49-F238E27FC236}">
                <a16:creationId xmlns:a16="http://schemas.microsoft.com/office/drawing/2014/main" id="{C3FF790E-D850-409D-91C2-F6F80E28EF1E}"/>
              </a:ext>
            </a:extLst>
          </p:cNvPr>
          <p:cNvSpPr>
            <a:spLocks xmlns:a="http://schemas.openxmlformats.org/drawingml/2006/main" noGrp="1"/>
          </p:cNvSpPr>
          <p:nvPr/>
        </p:nvSpPr>
        <p:spPr>
          <a:xfrm xmlns:a="http://schemas.openxmlformats.org/drawingml/2006/main">
            <a:off x="640080" y="1828800"/>
            <a:ext cx="10911535" cy="42976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900">
                <a:solidFill>
                  <a:srgbClr val="1F2328"/>
                </a:solidFill>
                <a:latin typeface="Helvetica Neue"/>
                <a:ea typeface="Helvetica Neue"/>
                <a:cs typeface="Helvetica Neue"/>
              </a:rPr>
              <a:t>When someone else runs a model for you, you cannot tell which model ran, at which quantization, on which prompt.</a:t>
            </a:r>
          </a:p>
          <a:p xmlns:a="http://schemas.openxmlformats.org/drawingml/2006/main">
            <a:pPr>
              <a:spcBef>
                <a:spcPts val="1000"/>
              </a:spcBef>
              <a:buNone/>
            </a:pPr>
            <a:r>
              <a:rPr sz="1900" b="0">
                <a:solidFill>
                  <a:srgbClr val="1F2328"/>
                </a:solidFill>
                <a:latin typeface="Helvetica Neue"/>
                <a:ea typeface="Helvetica Neue"/>
                <a:cs typeface="Helvetica Neue"/>
              </a:rPr>
              <a:t>Re-running everything yourself works, but costs as much as the original run.</a:t>
            </a:r>
          </a:p>
          <a:p xmlns:a="http://schemas.openxmlformats.org/drawingml/2006/main">
            <a:pPr>
              <a:spcBef>
                <a:spcPts val="1000"/>
              </a:spcBef>
              <a:buNone/>
            </a:pPr>
            <a:r>
              <a:rPr sz="1900" b="0">
                <a:solidFill>
                  <a:srgbClr val="1F2328"/>
                </a:solidFill>
                <a:latin typeface="Helvetica Neue"/>
                <a:ea typeface="Helvetica Neue"/>
                <a:cs typeface="Helvetica Neue"/>
              </a:rPr>
              <a:t>A zero-knowledge proof would settle it. None exists today for llama.cpp's native arithmetic.</a:t>
            </a:r>
          </a:p>
          <a:p xmlns:a="http://schemas.openxmlformats.org/drawingml/2006/main">
            <a:pPr>
              <a:spcBef>
                <a:spcPts val="1000"/>
              </a:spcBef>
              <a:buNone/>
            </a:pPr>
            <a:r>
              <a:rPr sz="1900" b="0">
                <a:solidFill>
                  <a:srgbClr val="1F2328"/>
                </a:solidFill>
                <a:latin typeface="Helvetica Neue"/>
                <a:ea typeface="Helvetica Neue"/>
                <a:cs typeface="Helvetica Neue"/>
              </a:rPr>
              <a:t>So we built the ladder that leads there: a record of exactly what ran, cheap to check, and the pieces a proof system plugs into.</a:t>
            </a:r>
          </a:p>
        </p:txBody>
      </p:sp>
    </p:spTree>
    <p:extLst>
      <p:ext uri="{BB962C8B-B14F-4D97-AF65-F5344CB8AC3E}">
        <p14:creationId xmlns:p14="http://schemas.microsoft.com/office/powerpoint/2010/main" val="76990198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F986F3F-F8B2-47CA-B512-E7D6EDF014D8}"/>
              </a:ext>
            </a:extLst>
          </p:cNvPr>
          <p:cNvSpPr>
            <a:spLocks xmlns:a="http://schemas.openxmlformats.org/drawingml/2006/main" noGrp="1"/>
          </p:cNvSpPr>
          <p:nvPr/>
        </p:nvSpPr>
        <p:spPr>
          <a:xfrm xmlns:a="http://schemas.openxmlformats.org/drawingml/2006/main">
            <a:off x="640080" y="347472"/>
            <a:ext cx="10911535"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0B6E99"/>
                </a:solidFill>
                <a:latin typeface="Helvetica Neue"/>
                <a:ea typeface="Helvetica Neue"/>
                <a:cs typeface="Helvetica Neue"/>
              </a:rPr>
              <a:t>OVERVIEW</a:t>
            </a:r>
          </a:p>
        </p:txBody>
      </p:sp>
      <p:sp>
        <p:nvSpPr>
          <p:cNvPr id="3" name="TextBox 2">
            <a:extLst xmlns:a="http://schemas.openxmlformats.org/drawingml/2006/main">
              <a:ext uri="{FF2B5EF4-FFF2-40B4-BE49-F238E27FC236}">
                <a16:creationId xmlns:a16="http://schemas.microsoft.com/office/drawing/2014/main" id="{4A838A47-41FE-473D-B01F-348CDC39D343}"/>
              </a:ext>
            </a:extLst>
          </p:cNvPr>
          <p:cNvSpPr>
            <a:spLocks xmlns:a="http://schemas.openxmlformats.org/drawingml/2006/main" noGrp="1"/>
          </p:cNvSpPr>
          <p:nvPr/>
        </p:nvSpPr>
        <p:spPr>
          <a:xfrm xmlns:a="http://schemas.openxmlformats.org/drawingml/2006/main">
            <a:off x="640080" y="640080"/>
            <a:ext cx="10911535"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1F2328"/>
                </a:solidFill>
                <a:latin typeface="Helvetica Neue"/>
                <a:ea typeface="Helvetica Neue"/>
                <a:cs typeface="Helvetica Neue"/>
              </a:rPr>
              <a:t>What we built, in one picture</a:t>
            </a:r>
          </a:p>
        </p:txBody>
      </p:sp>
      <p:sp>
        <p:nvSpPr>
          <p:cNvPr id="4" name="Rectangle 3">
            <a:extLst xmlns:a="http://schemas.openxmlformats.org/drawingml/2006/main">
              <a:ext uri="{FF2B5EF4-FFF2-40B4-BE49-F238E27FC236}">
                <a16:creationId xmlns:a16="http://schemas.microsoft.com/office/drawing/2014/main" id="{BFEE3C58-25E8-45F1-A37B-8F30C4BEE8DA}"/>
              </a:ext>
            </a:extLst>
          </p:cNvPr>
          <p:cNvSpPr>
            <a:spLocks xmlns:a="http://schemas.openxmlformats.org/drawingml/2006/main" noGrp="1"/>
          </p:cNvSpPr>
          <p:nvPr/>
        </p:nvSpPr>
        <p:spPr>
          <a:xfrm xmlns:a="http://schemas.openxmlformats.org/drawingml/2006/main">
            <a:off x="640080" y="1572768"/>
            <a:ext cx="10911535" cy="12700"/>
          </a:xfrm>
          <a:prstGeom xmlns:a="http://schemas.openxmlformats.org/drawingml/2006/main" prst="rect">
            <a:avLst/>
          </a:prstGeom>
          <a:solidFill xmlns:a="http://schemas.openxmlformats.org/drawingml/2006/main">
            <a:srgbClr val="D9DE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ECC97230-023D-4B47-8ECE-C50A81D8419C}"/>
              </a:ext>
            </a:extLst>
          </p:cNvPr>
          <p:cNvSpPr>
            <a:spLocks xmlns:a="http://schemas.openxmlformats.org/drawingml/2006/main" noGrp="1"/>
          </p:cNvSpPr>
          <p:nvPr/>
        </p:nvSpPr>
        <p:spPr>
          <a:xfrm xmlns:a="http://schemas.openxmlformats.org/drawingml/2006/main">
            <a:off x="640080" y="6400800"/>
            <a:ext cx="10911535"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5F6770"/>
                </a:solidFill>
                <a:latin typeface="Helvetica Neue"/>
                <a:ea typeface="Helvetica Neue"/>
                <a:cs typeface="Helvetica Neue"/>
              </a:rPr>
              <a:t>llama-receipts, Sep 11, 2026</a:t>
            </a:r>
            <a:r>
              <a:rPr sz="1000">
                <a:solidFill>
                  <a:srgbClr val="5F6770"/>
                </a:solidFill>
                <a:latin typeface="Helvetica Neue"/>
                <a:ea typeface="Helvetica Neue"/>
                <a:cs typeface="Helvetica Neue"/>
              </a:rPr>
              <a:t>     3</a:t>
            </a:r>
          </a:p>
        </p:txBody>
      </p:sp>
      <p:sp>
        <p:nvSpPr>
          <p:cNvPr id="6" name="Rounded Rectangle 5">
            <a:extLst xmlns:a="http://schemas.openxmlformats.org/drawingml/2006/main">
              <a:ext uri="{FF2B5EF4-FFF2-40B4-BE49-F238E27FC236}">
                <a16:creationId xmlns:a16="http://schemas.microsoft.com/office/drawing/2014/main" id="{0135C474-8CE8-441D-AAE4-67BF6FDB54FE}"/>
              </a:ext>
            </a:extLst>
          </p:cNvPr>
          <p:cNvSpPr>
            <a:spLocks xmlns:a="http://schemas.openxmlformats.org/drawingml/2006/main" noGrp="1"/>
          </p:cNvSpPr>
          <p:nvPr/>
        </p:nvSpPr>
        <p:spPr>
          <a:xfrm xmlns:a="http://schemas.openxmlformats.org/drawingml/2006/main">
            <a:off x="640080" y="1965960"/>
            <a:ext cx="2331720" cy="1051560"/>
          </a:xfrm>
          <a:prstGeom xmlns:a="http://schemas.openxmlformats.org/drawingml/2006/main" prst="roundRect">
            <a:avLst/>
          </a:prstGeom>
          <a:solidFill xmlns:a="http://schemas.openxmlformats.org/drawingml/2006/main">
            <a:srgbClr val="DCECF4"/>
          </a:solidFill>
          <a:ln xmlns:a="http://schemas.openxmlformats.org/drawingml/2006/main" w="15875">
            <a:solidFill>
              <a:srgbClr val="0B6E9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ctr"/>
          <a:lstStyle xmlns:a="http://schemas.openxmlformats.org/drawingml/2006/main"/>
          <a:p xmlns:a="http://schemas.openxmlformats.org/drawingml/2006/main">
            <a:pPr algn="ctr">
              <a:buNone/>
            </a:pPr>
            <a:r>
              <a:rPr sz="1500" b="1">
                <a:solidFill>
                  <a:srgbClr val="1F2328"/>
                </a:solidFill>
                <a:latin typeface="Helvetica Neue"/>
                <a:ea typeface="Helvetica Neue"/>
                <a:cs typeface="Helvetica Neue"/>
              </a:rPr>
              <a:t>llama.cpp prover</a:t>
            </a:r>
          </a:p>
          <a:p xmlns:a="http://schemas.openxmlformats.org/drawingml/2006/main">
            <a:pPr algn="ctr">
              <a:spcBef>
                <a:spcPts val="300"/>
              </a:spcBef>
              <a:buNone/>
            </a:pPr>
            <a:r>
              <a:rPr sz="1100" b="0">
                <a:solidFill>
                  <a:srgbClr val="5F6770"/>
                </a:solidFill>
                <a:latin typeface="Helvetica Neue"/>
                <a:ea typeface="Helvetica Neue"/>
                <a:cs typeface="Helvetica Neue"/>
              </a:rPr>
              <a:t>generates, hashes every tensor, writes receipt and trace</a:t>
            </a:r>
          </a:p>
        </p:txBody>
      </p:sp>
      <p:sp>
        <p:nvSpPr>
          <p:cNvPr id="7" name="Rounded Rectangle 6">
            <a:extLst xmlns:a="http://schemas.openxmlformats.org/drawingml/2006/main">
              <a:ext uri="{FF2B5EF4-FFF2-40B4-BE49-F238E27FC236}">
                <a16:creationId xmlns:a16="http://schemas.microsoft.com/office/drawing/2014/main" id="{6A2DB797-4D7A-4E38-A2FB-27300F152F24}"/>
              </a:ext>
            </a:extLst>
          </p:cNvPr>
          <p:cNvSpPr>
            <a:spLocks xmlns:a="http://schemas.openxmlformats.org/drawingml/2006/main" noGrp="1"/>
          </p:cNvSpPr>
          <p:nvPr/>
        </p:nvSpPr>
        <p:spPr>
          <a:xfrm xmlns:a="http://schemas.openxmlformats.org/drawingml/2006/main">
            <a:off x="3383280" y="1965960"/>
            <a:ext cx="2331720" cy="1051560"/>
          </a:xfrm>
          <a:prstGeom xmlns:a="http://schemas.openxmlformats.org/drawingml/2006/main" prst="roundRect">
            <a:avLst/>
          </a:prstGeom>
          <a:solidFill xmlns:a="http://schemas.openxmlformats.org/drawingml/2006/main">
            <a:srgbClr val="FFFFFF"/>
          </a:solidFill>
          <a:ln xmlns:a="http://schemas.openxmlformats.org/drawingml/2006/main" w="15875">
            <a:solidFill>
              <a:srgbClr val="0B6E9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ctr"/>
          <a:lstStyle xmlns:a="http://schemas.openxmlformats.org/drawingml/2006/main"/>
          <a:p xmlns:a="http://schemas.openxmlformats.org/drawingml/2006/main">
            <a:pPr algn="ctr">
              <a:buNone/>
            </a:pPr>
            <a:r>
              <a:rPr sz="1500" b="1">
                <a:solidFill>
                  <a:srgbClr val="1F2328"/>
                </a:solidFill>
                <a:latin typeface="Helvetica Neue"/>
                <a:ea typeface="Helvetica Neue"/>
                <a:cs typeface="Helvetica Neue"/>
              </a:rPr>
              <a:t>Receipt + trace</a:t>
            </a:r>
          </a:p>
          <a:p xmlns:a="http://schemas.openxmlformats.org/drawingml/2006/main">
            <a:pPr algn="ctr">
              <a:spcBef>
                <a:spcPts val="300"/>
              </a:spcBef>
              <a:buNone/>
            </a:pPr>
            <a:r>
              <a:rPr sz="1100" b="0">
                <a:solidFill>
                  <a:srgbClr val="5F6770"/>
                </a:solidFill>
                <a:latin typeface="Helvetica Neue"/>
                <a:ea typeface="Helvetica Neue"/>
                <a:cs typeface="Helvetica Neue"/>
              </a:rPr>
              <a:t>tokens, sampler, model hashes, Merkle root, openings</a:t>
            </a:r>
          </a:p>
        </p:txBody>
      </p:sp>
      <p:sp>
        <p:nvSpPr>
          <p:cNvPr id="8" name="Rounded Rectangle 7">
            <a:extLst xmlns:a="http://schemas.openxmlformats.org/drawingml/2006/main">
              <a:ext uri="{FF2B5EF4-FFF2-40B4-BE49-F238E27FC236}">
                <a16:creationId xmlns:a16="http://schemas.microsoft.com/office/drawing/2014/main" id="{6CFC96A6-1EF9-4151-B525-4245C6038AD5}"/>
              </a:ext>
            </a:extLst>
          </p:cNvPr>
          <p:cNvSpPr>
            <a:spLocks xmlns:a="http://schemas.openxmlformats.org/drawingml/2006/main" noGrp="1"/>
          </p:cNvSpPr>
          <p:nvPr/>
        </p:nvSpPr>
        <p:spPr>
          <a:xfrm xmlns:a="http://schemas.openxmlformats.org/drawingml/2006/main">
            <a:off x="6126480" y="1965960"/>
            <a:ext cx="2331720" cy="1051560"/>
          </a:xfrm>
          <a:prstGeom xmlns:a="http://schemas.openxmlformats.org/drawingml/2006/main" prst="roundRect">
            <a:avLst/>
          </a:prstGeom>
          <a:solidFill xmlns:a="http://schemas.openxmlformats.org/drawingml/2006/main">
            <a:srgbClr val="DCECF4"/>
          </a:solidFill>
          <a:ln xmlns:a="http://schemas.openxmlformats.org/drawingml/2006/main" w="15875">
            <a:solidFill>
              <a:srgbClr val="0B6E9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ctr"/>
          <a:lstStyle xmlns:a="http://schemas.openxmlformats.org/drawingml/2006/main"/>
          <a:p xmlns:a="http://schemas.openxmlformats.org/drawingml/2006/main">
            <a:pPr algn="ctr">
              <a:buNone/>
            </a:pPr>
            <a:r>
              <a:rPr sz="1500" b="1">
                <a:solidFill>
                  <a:srgbClr val="1F2328"/>
                </a:solidFill>
                <a:latin typeface="Helvetica Neue"/>
                <a:ea typeface="Helvetica Neue"/>
                <a:cs typeface="Helvetica Neue"/>
              </a:rPr>
              <a:t>Trace verifier</a:t>
            </a:r>
          </a:p>
          <a:p xmlns:a="http://schemas.openxmlformats.org/drawingml/2006/main">
            <a:pPr algn="ctr">
              <a:spcBef>
                <a:spcPts val="300"/>
              </a:spcBef>
              <a:buNone/>
            </a:pPr>
            <a:r>
              <a:rPr sz="1100" b="0">
                <a:solidFill>
                  <a:srgbClr val="5F6770"/>
                </a:solidFill>
                <a:latin typeface="Helvetica Neue"/>
                <a:ea typeface="Helvetica Neue"/>
                <a:cs typeface="Helvetica Neue"/>
              </a:rPr>
              <a:t>Python, numpy, no model run; pinned topology</a:t>
            </a:r>
          </a:p>
        </p:txBody>
      </p:sp>
      <p:sp>
        <p:nvSpPr>
          <p:cNvPr id="9" name="Rounded Rectangle 8">
            <a:extLst xmlns:a="http://schemas.openxmlformats.org/drawingml/2006/main">
              <a:ext uri="{FF2B5EF4-FFF2-40B4-BE49-F238E27FC236}">
                <a16:creationId xmlns:a16="http://schemas.microsoft.com/office/drawing/2014/main" id="{302C43E8-58D2-4F9C-A5F7-78F61B70B7AD}"/>
              </a:ext>
            </a:extLst>
          </p:cNvPr>
          <p:cNvSpPr>
            <a:spLocks xmlns:a="http://schemas.openxmlformats.org/drawingml/2006/main" noGrp="1"/>
          </p:cNvSpPr>
          <p:nvPr/>
        </p:nvSpPr>
        <p:spPr>
          <a:xfrm xmlns:a="http://schemas.openxmlformats.org/drawingml/2006/main">
            <a:off x="8869680" y="1965960"/>
            <a:ext cx="2331720" cy="1051560"/>
          </a:xfrm>
          <a:prstGeom xmlns:a="http://schemas.openxmlformats.org/drawingml/2006/main" prst="roundRect">
            <a:avLst/>
          </a:prstGeom>
          <a:solidFill xmlns:a="http://schemas.openxmlformats.org/drawingml/2006/main">
            <a:srgbClr val="DCECF4"/>
          </a:solidFill>
          <a:ln xmlns:a="http://schemas.openxmlformats.org/drawingml/2006/main" w="15875">
            <a:solidFill>
              <a:srgbClr val="0B6E9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ctr"/>
          <a:lstStyle xmlns:a="http://schemas.openxmlformats.org/drawingml/2006/main"/>
          <a:p xmlns:a="http://schemas.openxmlformats.org/drawingml/2006/main">
            <a:pPr algn="ctr">
              <a:buNone/>
            </a:pPr>
            <a:r>
              <a:rPr sz="1500" b="1">
                <a:solidFill>
                  <a:srgbClr val="1F2328"/>
                </a:solidFill>
                <a:latin typeface="Helvetica Neue"/>
                <a:ea typeface="Helvetica Neue"/>
                <a:cs typeface="Helvetica Neue"/>
              </a:rPr>
              <a:t>Replay verifier</a:t>
            </a:r>
          </a:p>
          <a:p xmlns:a="http://schemas.openxmlformats.org/drawingml/2006/main">
            <a:pPr algn="ctr">
              <a:spcBef>
                <a:spcPts val="300"/>
              </a:spcBef>
              <a:buNone/>
            </a:pPr>
            <a:r>
              <a:rPr sz="1100" b="0">
                <a:solidFill>
                  <a:srgbClr val="5F6770"/>
                </a:solidFill>
                <a:latin typeface="Helvetica Neue"/>
                <a:ea typeface="Helvetica Neue"/>
                <a:cs typeface="Helvetica Neue"/>
              </a:rPr>
              <a:t>re-runs the model, seeded sampler, two-regime rule</a:t>
            </a:r>
          </a:p>
        </p:txBody>
      </p:sp>
      <p:sp>
        <p:nvSpPr>
          <p:cNvPr id="10" name="Connector 9">
            <a:extLst xmlns:a="http://schemas.openxmlformats.org/drawingml/2006/main">
              <a:ext uri="{FF2B5EF4-FFF2-40B4-BE49-F238E27FC236}">
                <a16:creationId xmlns:a16="http://schemas.microsoft.com/office/drawing/2014/main" id="{58264483-3FCB-4007-90AC-1B9330C776EE}"/>
              </a:ext>
            </a:extLst>
          </p:cNvPr>
          <p:cNvSpPr>
            <a:spLocks xmlns:a="http://schemas.openxmlformats.org/drawingml/2006/main" noGrp="1"/>
          </p:cNvSpPr>
          <p:nvPr/>
        </p:nvSpPr>
        <p:spPr>
          <a:xfrm xmlns:a="http://schemas.openxmlformats.org/drawingml/2006/main">
            <a:off x="2971800" y="2491740"/>
            <a:ext cx="411480" cy="0"/>
          </a:xfrm>
          <a:prstGeom xmlns:a="http://schemas.openxmlformats.org/drawingml/2006/main" prst="line">
            <a:avLst/>
          </a:prstGeom>
          <a:ln xmlns:a="http://schemas.openxmlformats.org/drawingml/2006/main" w="19050">
            <a:solidFill>
              <a:srgbClr val="5F6770"/>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B0406F4D-F193-4731-AE72-3D4303085FCF}"/>
              </a:ext>
            </a:extLst>
          </p:cNvPr>
          <p:cNvSpPr>
            <a:spLocks xmlns:a="http://schemas.openxmlformats.org/drawingml/2006/main" noGrp="1"/>
          </p:cNvSpPr>
          <p:nvPr/>
        </p:nvSpPr>
        <p:spPr>
          <a:xfrm xmlns:a="http://schemas.openxmlformats.org/drawingml/2006/main">
            <a:off x="5715000" y="2491740"/>
            <a:ext cx="411480" cy="0"/>
          </a:xfrm>
          <a:prstGeom xmlns:a="http://schemas.openxmlformats.org/drawingml/2006/main" prst="line">
            <a:avLst/>
          </a:prstGeom>
          <a:ln xmlns:a="http://schemas.openxmlformats.org/drawingml/2006/main" w="19050">
            <a:solidFill>
              <a:srgbClr val="5F6770"/>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A0F0231C-7BA6-4C1A-B47D-A95211150A86}"/>
              </a:ext>
            </a:extLst>
          </p:cNvPr>
          <p:cNvSpPr>
            <a:spLocks xmlns:a="http://schemas.openxmlformats.org/drawingml/2006/main" noGrp="1"/>
          </p:cNvSpPr>
          <p:nvPr/>
        </p:nvSpPr>
        <p:spPr>
          <a:xfrm xmlns:a="http://schemas.openxmlformats.org/drawingml/2006/main">
            <a:off x="8458200" y="2491740"/>
            <a:ext cx="411480" cy="0"/>
          </a:xfrm>
          <a:prstGeom xmlns:a="http://schemas.openxmlformats.org/drawingml/2006/main" prst="line">
            <a:avLst/>
          </a:prstGeom>
          <a:ln xmlns:a="http://schemas.openxmlformats.org/drawingml/2006/main" w="19050">
            <a:solidFill>
              <a:srgbClr val="5F6770"/>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Rounded Rectangle 12">
            <a:extLst xmlns:a="http://schemas.openxmlformats.org/drawingml/2006/main">
              <a:ext uri="{FF2B5EF4-FFF2-40B4-BE49-F238E27FC236}">
                <a16:creationId xmlns:a16="http://schemas.microsoft.com/office/drawing/2014/main" id="{13D37111-038E-4E75-A456-5808754B9FFC}"/>
              </a:ext>
            </a:extLst>
          </p:cNvPr>
          <p:cNvSpPr>
            <a:spLocks xmlns:a="http://schemas.openxmlformats.org/drawingml/2006/main" noGrp="1"/>
          </p:cNvSpPr>
          <p:nvPr/>
        </p:nvSpPr>
        <p:spPr>
          <a:xfrm xmlns:a="http://schemas.openxmlformats.org/drawingml/2006/main">
            <a:off x="3383280" y="4251960"/>
            <a:ext cx="2331720" cy="1051560"/>
          </a:xfrm>
          <a:prstGeom xmlns:a="http://schemas.openxmlformats.org/drawingml/2006/main" prst="roundRect">
            <a:avLst/>
          </a:prstGeom>
          <a:solidFill xmlns:a="http://schemas.openxmlformats.org/drawingml/2006/main">
            <a:srgbClr val="E2F3E4"/>
          </a:solidFill>
          <a:ln xmlns:a="http://schemas.openxmlformats.org/drawingml/2006/main" w="15875">
            <a:solidFill>
              <a:srgbClr val="2E7D3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ctr"/>
          <a:lstStyle xmlns:a="http://schemas.openxmlformats.org/drawingml/2006/main"/>
          <a:p xmlns:a="http://schemas.openxmlformats.org/drawingml/2006/main">
            <a:pPr algn="ctr">
              <a:buNone/>
            </a:pPr>
            <a:r>
              <a:rPr sz="1500" b="1">
                <a:solidFill>
                  <a:srgbClr val="1F2328"/>
                </a:solidFill>
                <a:latin typeface="Helvetica Neue"/>
                <a:ea typeface="Helvetica Neue"/>
                <a:cs typeface="Helvetica Neue"/>
              </a:rPr>
              <a:t>Lean specification</a:t>
            </a:r>
          </a:p>
          <a:p xmlns:a="http://schemas.openxmlformats.org/drawingml/2006/main">
            <a:pPr algn="ctr">
              <a:spcBef>
                <a:spcPts val="300"/>
              </a:spcBef>
              <a:buNone/>
            </a:pPr>
            <a:r>
              <a:rPr sz="1100" b="0">
                <a:solidFill>
                  <a:srgbClr val="5F6770"/>
                </a:solidFill>
                <a:latin typeface="Helvetica Neue"/>
                <a:ea typeface="Helvetica Neue"/>
                <a:cs typeface="Helvetica Neue"/>
              </a:rPr>
              <a:t>formats, arithmetic, protocol; theorems; checker</a:t>
            </a:r>
          </a:p>
        </p:txBody>
      </p:sp>
      <p:sp>
        <p:nvSpPr>
          <p:cNvPr id="14" name="Rounded Rectangle 13">
            <a:extLst xmlns:a="http://schemas.openxmlformats.org/drawingml/2006/main">
              <a:ext uri="{FF2B5EF4-FFF2-40B4-BE49-F238E27FC236}">
                <a16:creationId xmlns:a16="http://schemas.microsoft.com/office/drawing/2014/main" id="{12F6DFAE-5ED5-46BA-BC4F-73CC10EB0702}"/>
              </a:ext>
            </a:extLst>
          </p:cNvPr>
          <p:cNvSpPr>
            <a:spLocks xmlns:a="http://schemas.openxmlformats.org/drawingml/2006/main" noGrp="1"/>
          </p:cNvSpPr>
          <p:nvPr/>
        </p:nvSpPr>
        <p:spPr>
          <a:xfrm xmlns:a="http://schemas.openxmlformats.org/drawingml/2006/main">
            <a:off x="6126480" y="4251960"/>
            <a:ext cx="2331720" cy="1051560"/>
          </a:xfrm>
          <a:prstGeom xmlns:a="http://schemas.openxmlformats.org/drawingml/2006/main" prst="roundRect">
            <a:avLst/>
          </a:prstGeom>
          <a:solidFill xmlns:a="http://schemas.openxmlformats.org/drawingml/2006/main">
            <a:srgbClr val="FBEFD9"/>
          </a:solidFill>
          <a:ln xmlns:a="http://schemas.openxmlformats.org/drawingml/2006/main" w="15875">
            <a:solidFill>
              <a:srgbClr val="9A6A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ctr"/>
          <a:lstStyle xmlns:a="http://schemas.openxmlformats.org/drawingml/2006/main"/>
          <a:p xmlns:a="http://schemas.openxmlformats.org/drawingml/2006/main">
            <a:pPr algn="ctr">
              <a:buNone/>
            </a:pPr>
            <a:r>
              <a:rPr sz="1500" b="1">
                <a:solidFill>
                  <a:srgbClr val="1F2328"/>
                </a:solidFill>
                <a:latin typeface="Helvetica Neue"/>
                <a:ea typeface="Helvetica Neue"/>
                <a:cs typeface="Helvetica Neue"/>
              </a:rPr>
              <a:t>GKR proof of a node</a:t>
            </a:r>
          </a:p>
          <a:p xmlns:a="http://schemas.openxmlformats.org/drawingml/2006/main">
            <a:pPr algn="ctr">
              <a:spcBef>
                <a:spcPts val="300"/>
              </a:spcBef>
              <a:buNone/>
            </a:pPr>
            <a:r>
              <a:rPr sz="1100" b="0">
                <a:solidFill>
                  <a:srgbClr val="5F6770"/>
                </a:solidFill>
                <a:latin typeface="Helvetica Neue"/>
                <a:ea typeface="Helvetica Neue"/>
                <a:cs typeface="Helvetica Neue"/>
              </a:rPr>
              <a:t>Expander, M31 field, weights checked against GGUF</a:t>
            </a:r>
          </a:p>
        </p:txBody>
      </p:sp>
      <p:sp>
        <p:nvSpPr>
          <p:cNvPr id="15" name="Connector 14">
            <a:extLst xmlns:a="http://schemas.openxmlformats.org/drawingml/2006/main">
              <a:ext uri="{FF2B5EF4-FFF2-40B4-BE49-F238E27FC236}">
                <a16:creationId xmlns:a16="http://schemas.microsoft.com/office/drawing/2014/main" id="{77CBAE57-2CD8-495C-A5DE-52CFDE85C441}"/>
              </a:ext>
            </a:extLst>
          </p:cNvPr>
          <p:cNvSpPr>
            <a:spLocks xmlns:a="http://schemas.openxmlformats.org/drawingml/2006/main" noGrp="1"/>
          </p:cNvSpPr>
          <p:nvPr/>
        </p:nvSpPr>
        <p:spPr>
          <a:xfrm xmlns:a="http://schemas.openxmlformats.org/drawingml/2006/main">
            <a:off x="4549140" y="3017520"/>
            <a:ext cx="0" cy="1234440"/>
          </a:xfrm>
          <a:prstGeom xmlns:a="http://schemas.openxmlformats.org/drawingml/2006/main" prst="line">
            <a:avLst/>
          </a:prstGeom>
          <a:ln xmlns:a="http://schemas.openxmlformats.org/drawingml/2006/main" w="19050">
            <a:solidFill>
              <a:srgbClr val="5F6770"/>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927BF3CC-5392-43AA-881D-D797BFC91F13}"/>
              </a:ext>
            </a:extLst>
          </p:cNvPr>
          <p:cNvSpPr>
            <a:spLocks xmlns:a="http://schemas.openxmlformats.org/drawingml/2006/main" noGrp="1"/>
          </p:cNvSpPr>
          <p:nvPr/>
        </p:nvSpPr>
        <p:spPr>
          <a:xfrm xmlns:a="http://schemas.openxmlformats.org/drawingml/2006/main">
            <a:off x="7292340" y="3017520"/>
            <a:ext cx="0" cy="1234440"/>
          </a:xfrm>
          <a:prstGeom xmlns:a="http://schemas.openxmlformats.org/drawingml/2006/main" prst="line">
            <a:avLst/>
          </a:prstGeom>
          <a:ln xmlns:a="http://schemas.openxmlformats.org/drawingml/2006/main" w="19050">
            <a:solidFill>
              <a:srgbClr val="5F6770"/>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TextBox 16">
            <a:extLst xmlns:a="http://schemas.openxmlformats.org/drawingml/2006/main">
              <a:ext uri="{FF2B5EF4-FFF2-40B4-BE49-F238E27FC236}">
                <a16:creationId xmlns:a16="http://schemas.microsoft.com/office/drawing/2014/main" id="{80496DFC-1C36-43AF-B56E-525030C5729E}"/>
              </a:ext>
            </a:extLst>
          </p:cNvPr>
          <p:cNvSpPr>
            <a:spLocks xmlns:a="http://schemas.openxmlformats.org/drawingml/2006/main" noGrp="1"/>
          </p:cNvSpPr>
          <p:nvPr/>
        </p:nvSpPr>
        <p:spPr>
          <a:xfrm xmlns:a="http://schemas.openxmlformats.org/drawingml/2006/main">
            <a:off x="640080" y="5532120"/>
            <a:ext cx="10911535"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0">
                <a:solidFill>
                  <a:srgbClr val="5F6770"/>
                </a:solidFill>
                <a:latin typeface="Helvetica Neue"/>
                <a:ea typeface="Helvetica Neue"/>
                <a:cs typeface="Helvetica Neue"/>
              </a:rPr>
              <a:t>The receipt is the contract. The trace verifier checks it without the model. The Lean spec says what the receipt means and checks the same artifact independently. The proof replaces re-execution of a node with a cryptographic check of its arithmetic.</a:t>
            </a:r>
          </a:p>
        </p:txBody>
      </p:sp>
    </p:spTree>
    <p:extLst>
      <p:ext uri="{BB962C8B-B14F-4D97-AF65-F5344CB8AC3E}">
        <p14:creationId xmlns:p14="http://schemas.microsoft.com/office/powerpoint/2010/main" val="166268640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6744769-F908-444D-84A7-FF0247249811}"/>
              </a:ext>
            </a:extLst>
          </p:cNvPr>
          <p:cNvSpPr>
            <a:spLocks xmlns:a="http://schemas.openxmlformats.org/drawingml/2006/main" noGrp="1"/>
          </p:cNvSpPr>
          <p:nvPr/>
        </p:nvSpPr>
        <p:spPr>
          <a:xfrm xmlns:a="http://schemas.openxmlformats.org/drawingml/2006/main">
            <a:off x="640080" y="347472"/>
            <a:ext cx="10911535"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0B6E99"/>
                </a:solidFill>
                <a:latin typeface="Helvetica Neue"/>
                <a:ea typeface="Helvetica Neue"/>
                <a:cs typeface="Helvetica Neue"/>
              </a:rPr>
              <a:t>RECEIPT</a:t>
            </a:r>
          </a:p>
        </p:txBody>
      </p:sp>
      <p:sp>
        <p:nvSpPr>
          <p:cNvPr id="3" name="TextBox 2">
            <a:extLst xmlns:a="http://schemas.openxmlformats.org/drawingml/2006/main">
              <a:ext uri="{FF2B5EF4-FFF2-40B4-BE49-F238E27FC236}">
                <a16:creationId xmlns:a16="http://schemas.microsoft.com/office/drawing/2014/main" id="{45814C92-9C52-40FD-8F45-02099976A4E1}"/>
              </a:ext>
            </a:extLst>
          </p:cNvPr>
          <p:cNvSpPr>
            <a:spLocks xmlns:a="http://schemas.openxmlformats.org/drawingml/2006/main" noGrp="1"/>
          </p:cNvSpPr>
          <p:nvPr/>
        </p:nvSpPr>
        <p:spPr>
          <a:xfrm xmlns:a="http://schemas.openxmlformats.org/drawingml/2006/main">
            <a:off x="640080" y="640080"/>
            <a:ext cx="10911535"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1F2328"/>
                </a:solidFill>
                <a:latin typeface="Helvetica Neue"/>
                <a:ea typeface="Helvetica Neue"/>
                <a:cs typeface="Helvetica Neue"/>
              </a:rPr>
              <a:t>A receipt records exactly what ran</a:t>
            </a:r>
          </a:p>
        </p:txBody>
      </p:sp>
      <p:sp>
        <p:nvSpPr>
          <p:cNvPr id="4" name="Rectangle 3">
            <a:extLst xmlns:a="http://schemas.openxmlformats.org/drawingml/2006/main">
              <a:ext uri="{FF2B5EF4-FFF2-40B4-BE49-F238E27FC236}">
                <a16:creationId xmlns:a16="http://schemas.microsoft.com/office/drawing/2014/main" id="{9D2840ED-3BA4-41C9-9869-7F31E5F0F6F7}"/>
              </a:ext>
            </a:extLst>
          </p:cNvPr>
          <p:cNvSpPr>
            <a:spLocks xmlns:a="http://schemas.openxmlformats.org/drawingml/2006/main" noGrp="1"/>
          </p:cNvSpPr>
          <p:nvPr/>
        </p:nvSpPr>
        <p:spPr>
          <a:xfrm xmlns:a="http://schemas.openxmlformats.org/drawingml/2006/main">
            <a:off x="640080" y="1572768"/>
            <a:ext cx="10911535" cy="12700"/>
          </a:xfrm>
          <a:prstGeom xmlns:a="http://schemas.openxmlformats.org/drawingml/2006/main" prst="rect">
            <a:avLst/>
          </a:prstGeom>
          <a:solidFill xmlns:a="http://schemas.openxmlformats.org/drawingml/2006/main">
            <a:srgbClr val="D9DE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0FD8E130-8D7C-44F1-ADB3-209E2794278A}"/>
              </a:ext>
            </a:extLst>
          </p:cNvPr>
          <p:cNvSpPr>
            <a:spLocks xmlns:a="http://schemas.openxmlformats.org/drawingml/2006/main" noGrp="1"/>
          </p:cNvSpPr>
          <p:nvPr/>
        </p:nvSpPr>
        <p:spPr>
          <a:xfrm xmlns:a="http://schemas.openxmlformats.org/drawingml/2006/main">
            <a:off x="640080" y="6400800"/>
            <a:ext cx="10911535"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5F6770"/>
                </a:solidFill>
                <a:latin typeface="Helvetica Neue"/>
                <a:ea typeface="Helvetica Neue"/>
                <a:cs typeface="Helvetica Neue"/>
              </a:rPr>
              <a:t>llama-receipts, Sep 11, 2026</a:t>
            </a:r>
            <a:r>
              <a:rPr sz="1000">
                <a:solidFill>
                  <a:srgbClr val="5F6770"/>
                </a:solidFill>
                <a:latin typeface="Helvetica Neue"/>
                <a:ea typeface="Helvetica Neue"/>
                <a:cs typeface="Helvetica Neue"/>
              </a:rPr>
              <a:t>     4</a:t>
            </a:r>
          </a:p>
        </p:txBody>
      </p:sp>
      <p:sp>
        <p:nvSpPr>
          <p:cNvPr id="6" name="TextBox 5">
            <a:extLst xmlns:a="http://schemas.openxmlformats.org/drawingml/2006/main">
              <a:ext uri="{FF2B5EF4-FFF2-40B4-BE49-F238E27FC236}">
                <a16:creationId xmlns:a16="http://schemas.microsoft.com/office/drawing/2014/main" id="{AC16C746-85AC-42C0-85CE-91F453225168}"/>
              </a:ext>
            </a:extLst>
          </p:cNvPr>
          <p:cNvSpPr>
            <a:spLocks xmlns:a="http://schemas.openxmlformats.org/drawingml/2006/main" noGrp="1"/>
          </p:cNvSpPr>
          <p:nvPr/>
        </p:nvSpPr>
        <p:spPr>
          <a:xfrm xmlns:a="http://schemas.openxmlformats.org/drawingml/2006/main">
            <a:off x="640080" y="1828800"/>
            <a:ext cx="6583680" cy="42976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700">
                <a:solidFill>
                  <a:srgbClr val="1F2328"/>
                </a:solidFill>
                <a:latin typeface="Helvetica Neue"/>
                <a:ea typeface="Helvetica Neue"/>
                <a:cs typeface="Helvetica Neue"/>
              </a:rPr>
              <a:t>Model: SHA-256 of the GGUF file and of every tensor, plus a Merkle root over the tensors.</a:t>
            </a:r>
          </a:p>
          <a:p xmlns:a="http://schemas.openxmlformats.org/drawingml/2006/main">
            <a:pPr>
              <a:spcBef>
                <a:spcPts val="1000"/>
              </a:spcBef>
              <a:buNone/>
            </a:pPr>
            <a:r>
              <a:rPr sz="1700" b="0">
                <a:solidFill>
                  <a:srgbClr val="1F2328"/>
                </a:solidFill>
                <a:latin typeface="Helvetica Neue"/>
                <a:ea typeface="Helvetica Neue"/>
                <a:cs typeface="Helvetica Neue"/>
              </a:rPr>
              <a:t>Request: prompt text and tokens, temperature, top-k, top-p, seed.</a:t>
            </a:r>
          </a:p>
          <a:p xmlns:a="http://schemas.openxmlformats.org/drawingml/2006/main">
            <a:pPr>
              <a:spcBef>
                <a:spcPts val="1000"/>
              </a:spcBef>
              <a:buNone/>
            </a:pPr>
            <a:r>
              <a:rPr sz="1700" b="0">
                <a:solidFill>
                  <a:srgbClr val="1F2328"/>
                </a:solidFill>
                <a:latin typeface="Helvetica Neue"/>
                <a:ea typeface="Helvetica Neue"/>
                <a:cs typeface="Helvetica Neue"/>
              </a:rPr>
              <a:t>Response: tokens, and per position the log-prob, the uniform draw, its distance to the decision boundary, and a hash of the logits.</a:t>
            </a:r>
          </a:p>
          <a:p xmlns:a="http://schemas.openxmlformats.org/drawingml/2006/main">
            <a:pPr>
              <a:spcBef>
                <a:spcPts val="1000"/>
              </a:spcBef>
              <a:buNone/>
            </a:pPr>
            <a:r>
              <a:rPr sz="1700" b="0">
                <a:solidFill>
                  <a:srgbClr val="1F2328"/>
                </a:solidFill>
                <a:latin typeface="Helvetica Neue"/>
                <a:ea typeface="Helvetica Neue"/>
                <a:cs typeface="Helvetica Neue"/>
              </a:rPr>
              <a:t>Commitment: SHA-256 over prompt and response tokens.</a:t>
            </a:r>
          </a:p>
          <a:p xmlns:a="http://schemas.openxmlformats.org/drawingml/2006/main">
            <a:pPr>
              <a:spcBef>
                <a:spcPts val="1000"/>
              </a:spcBef>
              <a:buNone/>
            </a:pPr>
            <a:r>
              <a:rPr sz="1700" b="0">
                <a:solidFill>
                  <a:srgbClr val="1F2328"/>
                </a:solidFill>
                <a:latin typeface="Helvetica Neue"/>
                <a:ea typeface="Helvetica Neue"/>
                <a:cs typeface="Helvetica Neue"/>
              </a:rPr>
              <a:t>The sampler is replayable by construction:</a:t>
            </a:r>
          </a:p>
        </p:txBody>
      </p:sp>
      <p:sp>
        <p:nvSpPr>
          <p:cNvPr id="7" name="Rounded Rectangle 6">
            <a:extLst xmlns:a="http://schemas.openxmlformats.org/drawingml/2006/main">
              <a:ext uri="{FF2B5EF4-FFF2-40B4-BE49-F238E27FC236}">
                <a16:creationId xmlns:a16="http://schemas.microsoft.com/office/drawing/2014/main" id="{BA11C3C6-DC93-45F7-A6F7-9E8F44173633}"/>
              </a:ext>
            </a:extLst>
          </p:cNvPr>
          <p:cNvSpPr>
            <a:spLocks xmlns:a="http://schemas.openxmlformats.org/drawingml/2006/main" noGrp="1"/>
          </p:cNvSpPr>
          <p:nvPr/>
        </p:nvSpPr>
        <p:spPr>
          <a:xfrm xmlns:a="http://schemas.openxmlformats.org/drawingml/2006/main">
            <a:off x="7589520" y="2103120"/>
            <a:ext cx="3931920" cy="1005840"/>
          </a:xfrm>
          <a:prstGeom xmlns:a="http://schemas.openxmlformats.org/drawingml/2006/main" prst="roundRect">
            <a:avLst/>
          </a:prstGeom>
          <a:solidFill xmlns:a="http://schemas.openxmlformats.org/drawingml/2006/main">
            <a:srgbClr val="DCECF4"/>
          </a:solidFill>
          <a:ln xmlns:a="http://schemas.openxmlformats.org/drawingml/2006/main" w="15875">
            <a:solidFill>
              <a:srgbClr val="0B6E9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ctr"/>
          <a:lstStyle xmlns:a="http://schemas.openxmlformats.org/drawingml/2006/main"/>
          <a:p xmlns:a="http://schemas.openxmlformats.org/drawingml/2006/main">
            <a:pPr algn="ctr">
              <a:buNone/>
            </a:pPr>
            <a:r>
              <a:rPr sz="1500" b="1">
                <a:solidFill>
                  <a:srgbClr val="0B6E99"/>
                </a:solidFill>
                <a:latin typeface="Helvetica Neue"/>
                <a:ea typeface="Helvetica Neue"/>
                <a:cs typeface="Helvetica Neue"/>
              </a:rPr>
              <a:t>u(t) = SHA-256("llama-receipts/u/v1/" || seed || t)</a:t>
            </a:r>
          </a:p>
        </p:txBody>
      </p:sp>
      <p:sp>
        <p:nvSpPr>
          <p:cNvPr id="8" name="TextBox 7">
            <a:extLst xmlns:a="http://schemas.openxmlformats.org/drawingml/2006/main">
              <a:ext uri="{FF2B5EF4-FFF2-40B4-BE49-F238E27FC236}">
                <a16:creationId xmlns:a16="http://schemas.microsoft.com/office/drawing/2014/main" id="{5A70DA63-7E49-4102-AF91-E1BB7F1C8065}"/>
              </a:ext>
            </a:extLst>
          </p:cNvPr>
          <p:cNvSpPr>
            <a:spLocks xmlns:a="http://schemas.openxmlformats.org/drawingml/2006/main" noGrp="1"/>
          </p:cNvSpPr>
          <p:nvPr/>
        </p:nvSpPr>
        <p:spPr>
          <a:xfrm xmlns:a="http://schemas.openxmlformats.org/drawingml/2006/main">
            <a:off x="7589520" y="3246120"/>
            <a:ext cx="3931920" cy="23774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F6770"/>
                </a:solidFill>
                <a:latin typeface="Helvetica Neue"/>
                <a:ea typeface="Helvetica Neue"/>
                <a:cs typeface="Helvetica Neue"/>
              </a:rPr>
              <a:t>Ties break by token id. Top-k and top-p run in double precision. Anyone can reproduce the draw without RNG state, so a receipt shows how far each choice sat from the boundary, not only which token won.</a:t>
            </a:r>
          </a:p>
        </p:txBody>
      </p:sp>
    </p:spTree>
    <p:extLst>
      <p:ext uri="{BB962C8B-B14F-4D97-AF65-F5344CB8AC3E}">
        <p14:creationId xmlns:p14="http://schemas.microsoft.com/office/powerpoint/2010/main" val="42072951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C0695E9-00BB-4E79-9571-B310B1A462F9}"/>
              </a:ext>
            </a:extLst>
          </p:cNvPr>
          <p:cNvSpPr>
            <a:spLocks xmlns:a="http://schemas.openxmlformats.org/drawingml/2006/main" noGrp="1"/>
          </p:cNvSpPr>
          <p:nvPr/>
        </p:nvSpPr>
        <p:spPr>
          <a:xfrm xmlns:a="http://schemas.openxmlformats.org/drawingml/2006/main">
            <a:off x="640080" y="347472"/>
            <a:ext cx="10911535"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0B6E99"/>
                </a:solidFill>
                <a:latin typeface="Helvetica Neue"/>
                <a:ea typeface="Helvetica Neue"/>
                <a:cs typeface="Helvetica Neue"/>
              </a:rPr>
              <a:t>TRACE</a:t>
            </a:r>
          </a:p>
        </p:txBody>
      </p:sp>
      <p:sp>
        <p:nvSpPr>
          <p:cNvPr id="3" name="TextBox 2">
            <a:extLst xmlns:a="http://schemas.openxmlformats.org/drawingml/2006/main">
              <a:ext uri="{FF2B5EF4-FFF2-40B4-BE49-F238E27FC236}">
                <a16:creationId xmlns:a16="http://schemas.microsoft.com/office/drawing/2014/main" id="{48C2FB24-CD04-4A0B-985D-4B1AD076AF55}"/>
              </a:ext>
            </a:extLst>
          </p:cNvPr>
          <p:cNvSpPr>
            <a:spLocks xmlns:a="http://schemas.openxmlformats.org/drawingml/2006/main" noGrp="1"/>
          </p:cNvSpPr>
          <p:nvPr/>
        </p:nvSpPr>
        <p:spPr>
          <a:xfrm xmlns:a="http://schemas.openxmlformats.org/drawingml/2006/main">
            <a:off x="640080" y="640080"/>
            <a:ext cx="10911535"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1F2328"/>
                </a:solidFill>
                <a:latin typeface="Helvetica Neue"/>
                <a:ea typeface="Helvetica Neue"/>
                <a:cs typeface="Helvetica Neue"/>
              </a:rPr>
              <a:t>Every computing node becomes a leaf that names its producers</a:t>
            </a:r>
          </a:p>
        </p:txBody>
      </p:sp>
      <p:sp>
        <p:nvSpPr>
          <p:cNvPr id="4" name="Rectangle 3">
            <a:extLst xmlns:a="http://schemas.openxmlformats.org/drawingml/2006/main">
              <a:ext uri="{FF2B5EF4-FFF2-40B4-BE49-F238E27FC236}">
                <a16:creationId xmlns:a16="http://schemas.microsoft.com/office/drawing/2014/main" id="{8236E46F-E75C-41C6-9994-F6EF99393915}"/>
              </a:ext>
            </a:extLst>
          </p:cNvPr>
          <p:cNvSpPr>
            <a:spLocks xmlns:a="http://schemas.openxmlformats.org/drawingml/2006/main" noGrp="1"/>
          </p:cNvSpPr>
          <p:nvPr/>
        </p:nvSpPr>
        <p:spPr>
          <a:xfrm xmlns:a="http://schemas.openxmlformats.org/drawingml/2006/main">
            <a:off x="640080" y="1572768"/>
            <a:ext cx="10911535" cy="12700"/>
          </a:xfrm>
          <a:prstGeom xmlns:a="http://schemas.openxmlformats.org/drawingml/2006/main" prst="rect">
            <a:avLst/>
          </a:prstGeom>
          <a:solidFill xmlns:a="http://schemas.openxmlformats.org/drawingml/2006/main">
            <a:srgbClr val="D9DE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3A945FA6-22BE-4390-98DD-01F738A0DFC3}"/>
              </a:ext>
            </a:extLst>
          </p:cNvPr>
          <p:cNvSpPr>
            <a:spLocks xmlns:a="http://schemas.openxmlformats.org/drawingml/2006/main" noGrp="1"/>
          </p:cNvSpPr>
          <p:nvPr/>
        </p:nvSpPr>
        <p:spPr>
          <a:xfrm xmlns:a="http://schemas.openxmlformats.org/drawingml/2006/main">
            <a:off x="640080" y="6400800"/>
            <a:ext cx="10911535"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5F6770"/>
                </a:solidFill>
                <a:latin typeface="Helvetica Neue"/>
                <a:ea typeface="Helvetica Neue"/>
                <a:cs typeface="Helvetica Neue"/>
              </a:rPr>
              <a:t>llama-receipts, Sep 11, 2026</a:t>
            </a:r>
            <a:r>
              <a:rPr sz="1000">
                <a:solidFill>
                  <a:srgbClr val="5F6770"/>
                </a:solidFill>
                <a:latin typeface="Helvetica Neue"/>
                <a:ea typeface="Helvetica Neue"/>
                <a:cs typeface="Helvetica Neue"/>
              </a:rPr>
              <a:t>     5</a:t>
            </a:r>
          </a:p>
        </p:txBody>
      </p:sp>
      <p:sp>
        <p:nvSpPr>
          <p:cNvPr id="6" name="Rounded Rectangle 5">
            <a:extLst xmlns:a="http://schemas.openxmlformats.org/drawingml/2006/main">
              <a:ext uri="{FF2B5EF4-FFF2-40B4-BE49-F238E27FC236}">
                <a16:creationId xmlns:a16="http://schemas.microsoft.com/office/drawing/2014/main" id="{85B65F32-5082-4460-80AC-5CCEC683318B}"/>
              </a:ext>
            </a:extLst>
          </p:cNvPr>
          <p:cNvSpPr>
            <a:spLocks xmlns:a="http://schemas.openxmlformats.org/drawingml/2006/main" noGrp="1"/>
          </p:cNvSpPr>
          <p:nvPr/>
        </p:nvSpPr>
        <p:spPr>
          <a:xfrm xmlns:a="http://schemas.openxmlformats.org/drawingml/2006/main">
            <a:off x="640080" y="2011680"/>
            <a:ext cx="2103120" cy="566928"/>
          </a:xfrm>
          <a:prstGeom xmlns:a="http://schemas.openxmlformats.org/drawingml/2006/main" prst="roundRect">
            <a:avLst/>
          </a:prstGeom>
          <a:solidFill xmlns:a="http://schemas.openxmlformats.org/drawingml/2006/main">
            <a:srgbClr val="FFFFFF"/>
          </a:solidFill>
          <a:ln xmlns:a="http://schemas.openxmlformats.org/drawingml/2006/main" w="15875">
            <a:solidFill>
              <a:srgbClr val="0B6E9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ctr"/>
          <a:lstStyle xmlns:a="http://schemas.openxmlformats.org/drawingml/2006/main"/>
          <a:p xmlns:a="http://schemas.openxmlformats.org/drawingml/2006/main">
            <a:pPr algn="ctr">
              <a:buNone/>
            </a:pPr>
            <a:r>
              <a:rPr sz="1300" b="0">
                <a:solidFill>
                  <a:srgbClr val="1F2328"/>
                </a:solidFill>
                <a:latin typeface="Helvetica Neue"/>
                <a:ea typeface="Helvetica Neue"/>
                <a:cs typeface="Helvetica Neue"/>
              </a:rPr>
              <a:t>token embedding</a:t>
            </a:r>
          </a:p>
        </p:txBody>
      </p:sp>
      <p:sp>
        <p:nvSpPr>
          <p:cNvPr id="7" name="Connector 6">
            <a:extLst xmlns:a="http://schemas.openxmlformats.org/drawingml/2006/main">
              <a:ext uri="{FF2B5EF4-FFF2-40B4-BE49-F238E27FC236}">
                <a16:creationId xmlns:a16="http://schemas.microsoft.com/office/drawing/2014/main" id="{D151D98A-4CB1-4D5A-83F1-E2E550C563F8}"/>
              </a:ext>
            </a:extLst>
          </p:cNvPr>
          <p:cNvSpPr>
            <a:spLocks xmlns:a="http://schemas.openxmlformats.org/drawingml/2006/main" noGrp="1"/>
          </p:cNvSpPr>
          <p:nvPr/>
        </p:nvSpPr>
        <p:spPr>
          <a:xfrm xmlns:a="http://schemas.openxmlformats.org/drawingml/2006/main">
            <a:off x="1691640" y="2578608"/>
            <a:ext cx="0" cy="301752"/>
          </a:xfrm>
          <a:prstGeom xmlns:a="http://schemas.openxmlformats.org/drawingml/2006/main" prst="line">
            <a:avLst/>
          </a:prstGeom>
          <a:ln xmlns:a="http://schemas.openxmlformats.org/drawingml/2006/main" w="19050">
            <a:solidFill>
              <a:srgbClr val="5F6770"/>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8" name="Rounded Rectangle 7">
            <a:extLst xmlns:a="http://schemas.openxmlformats.org/drawingml/2006/main">
              <a:ext uri="{FF2B5EF4-FFF2-40B4-BE49-F238E27FC236}">
                <a16:creationId xmlns:a16="http://schemas.microsoft.com/office/drawing/2014/main" id="{885AE05C-3787-4659-843D-0CEF25933AD5}"/>
              </a:ext>
            </a:extLst>
          </p:cNvPr>
          <p:cNvSpPr>
            <a:spLocks xmlns:a="http://schemas.openxmlformats.org/drawingml/2006/main" noGrp="1"/>
          </p:cNvSpPr>
          <p:nvPr/>
        </p:nvSpPr>
        <p:spPr>
          <a:xfrm xmlns:a="http://schemas.openxmlformats.org/drawingml/2006/main">
            <a:off x="640080" y="2880360"/>
            <a:ext cx="2103120" cy="566928"/>
          </a:xfrm>
          <a:prstGeom xmlns:a="http://schemas.openxmlformats.org/drawingml/2006/main" prst="roundRect">
            <a:avLst/>
          </a:prstGeom>
          <a:solidFill xmlns:a="http://schemas.openxmlformats.org/drawingml/2006/main">
            <a:srgbClr val="FFFFFF"/>
          </a:solidFill>
          <a:ln xmlns:a="http://schemas.openxmlformats.org/drawingml/2006/main" w="15875">
            <a:solidFill>
              <a:srgbClr val="0B6E9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ctr"/>
          <a:lstStyle xmlns:a="http://schemas.openxmlformats.org/drawingml/2006/main"/>
          <a:p xmlns:a="http://schemas.openxmlformats.org/drawingml/2006/main">
            <a:pPr algn="ctr">
              <a:buNone/>
            </a:pPr>
            <a:r>
              <a:rPr sz="1300" b="0">
                <a:solidFill>
                  <a:srgbClr val="1F2328"/>
                </a:solidFill>
                <a:latin typeface="Helvetica Neue"/>
                <a:ea typeface="Helvetica Neue"/>
                <a:cs typeface="Helvetica Neue"/>
              </a:rPr>
              <a:t>attention block</a:t>
            </a:r>
          </a:p>
        </p:txBody>
      </p:sp>
      <p:sp>
        <p:nvSpPr>
          <p:cNvPr id="9" name="Connector 8">
            <a:extLst xmlns:a="http://schemas.openxmlformats.org/drawingml/2006/main">
              <a:ext uri="{FF2B5EF4-FFF2-40B4-BE49-F238E27FC236}">
                <a16:creationId xmlns:a16="http://schemas.microsoft.com/office/drawing/2014/main" id="{A9CB0689-FB79-4B3F-AED3-8425A0035E8C}"/>
              </a:ext>
            </a:extLst>
          </p:cNvPr>
          <p:cNvSpPr>
            <a:spLocks xmlns:a="http://schemas.openxmlformats.org/drawingml/2006/main" noGrp="1"/>
          </p:cNvSpPr>
          <p:nvPr/>
        </p:nvSpPr>
        <p:spPr>
          <a:xfrm xmlns:a="http://schemas.openxmlformats.org/drawingml/2006/main">
            <a:off x="1691640" y="3447288"/>
            <a:ext cx="0" cy="301752"/>
          </a:xfrm>
          <a:prstGeom xmlns:a="http://schemas.openxmlformats.org/drawingml/2006/main" prst="line">
            <a:avLst/>
          </a:prstGeom>
          <a:ln xmlns:a="http://schemas.openxmlformats.org/drawingml/2006/main" w="19050">
            <a:solidFill>
              <a:srgbClr val="5F6770"/>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 name="Rounded Rectangle 9">
            <a:extLst xmlns:a="http://schemas.openxmlformats.org/drawingml/2006/main">
              <a:ext uri="{FF2B5EF4-FFF2-40B4-BE49-F238E27FC236}">
                <a16:creationId xmlns:a16="http://schemas.microsoft.com/office/drawing/2014/main" id="{C608043A-8A71-4178-8EEB-C3719753CC13}"/>
              </a:ext>
            </a:extLst>
          </p:cNvPr>
          <p:cNvSpPr>
            <a:spLocks xmlns:a="http://schemas.openxmlformats.org/drawingml/2006/main" noGrp="1"/>
          </p:cNvSpPr>
          <p:nvPr/>
        </p:nvSpPr>
        <p:spPr>
          <a:xfrm xmlns:a="http://schemas.openxmlformats.org/drawingml/2006/main">
            <a:off x="640080" y="3749040"/>
            <a:ext cx="2103120" cy="566928"/>
          </a:xfrm>
          <a:prstGeom xmlns:a="http://schemas.openxmlformats.org/drawingml/2006/main" prst="roundRect">
            <a:avLst/>
          </a:prstGeom>
          <a:solidFill xmlns:a="http://schemas.openxmlformats.org/drawingml/2006/main">
            <a:srgbClr val="FFFFFF"/>
          </a:solidFill>
          <a:ln xmlns:a="http://schemas.openxmlformats.org/drawingml/2006/main" w="15875">
            <a:solidFill>
              <a:srgbClr val="0B6E9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ctr"/>
          <a:lstStyle xmlns:a="http://schemas.openxmlformats.org/drawingml/2006/main"/>
          <a:p xmlns:a="http://schemas.openxmlformats.org/drawingml/2006/main">
            <a:pPr algn="ctr">
              <a:buNone/>
            </a:pPr>
            <a:r>
              <a:rPr sz="1300" b="0">
                <a:solidFill>
                  <a:srgbClr val="1F2328"/>
                </a:solidFill>
                <a:latin typeface="Helvetica Neue"/>
                <a:ea typeface="Helvetica Neue"/>
                <a:cs typeface="Helvetica Neue"/>
              </a:rPr>
              <a:t>feed-forward block</a:t>
            </a:r>
          </a:p>
        </p:txBody>
      </p:sp>
      <p:sp>
        <p:nvSpPr>
          <p:cNvPr id="11" name="Connector 10">
            <a:extLst xmlns:a="http://schemas.openxmlformats.org/drawingml/2006/main">
              <a:ext uri="{FF2B5EF4-FFF2-40B4-BE49-F238E27FC236}">
                <a16:creationId xmlns:a16="http://schemas.microsoft.com/office/drawing/2014/main" id="{246B60D4-029E-4D1C-A3AD-2C944354A8A1}"/>
              </a:ext>
            </a:extLst>
          </p:cNvPr>
          <p:cNvSpPr>
            <a:spLocks xmlns:a="http://schemas.openxmlformats.org/drawingml/2006/main" noGrp="1"/>
          </p:cNvSpPr>
          <p:nvPr/>
        </p:nvSpPr>
        <p:spPr>
          <a:xfrm xmlns:a="http://schemas.openxmlformats.org/drawingml/2006/main">
            <a:off x="1691640" y="4315968"/>
            <a:ext cx="0" cy="301752"/>
          </a:xfrm>
          <a:prstGeom xmlns:a="http://schemas.openxmlformats.org/drawingml/2006/main" prst="line">
            <a:avLst/>
          </a:prstGeom>
          <a:ln xmlns:a="http://schemas.openxmlformats.org/drawingml/2006/main" w="19050">
            <a:solidFill>
              <a:srgbClr val="5F6770"/>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2" name="Rounded Rectangle 11">
            <a:extLst xmlns:a="http://schemas.openxmlformats.org/drawingml/2006/main">
              <a:ext uri="{FF2B5EF4-FFF2-40B4-BE49-F238E27FC236}">
                <a16:creationId xmlns:a16="http://schemas.microsoft.com/office/drawing/2014/main" id="{278388DE-4ACB-4E2C-AA99-00363D51E7E4}"/>
              </a:ext>
            </a:extLst>
          </p:cNvPr>
          <p:cNvSpPr>
            <a:spLocks xmlns:a="http://schemas.openxmlformats.org/drawingml/2006/main" noGrp="1"/>
          </p:cNvSpPr>
          <p:nvPr/>
        </p:nvSpPr>
        <p:spPr>
          <a:xfrm xmlns:a="http://schemas.openxmlformats.org/drawingml/2006/main">
            <a:off x="640080" y="4617720"/>
            <a:ext cx="2103120" cy="566928"/>
          </a:xfrm>
          <a:prstGeom xmlns:a="http://schemas.openxmlformats.org/drawingml/2006/main" prst="roundRect">
            <a:avLst/>
          </a:prstGeom>
          <a:solidFill xmlns:a="http://schemas.openxmlformats.org/drawingml/2006/main">
            <a:srgbClr val="FFFFFF"/>
          </a:solidFill>
          <a:ln xmlns:a="http://schemas.openxmlformats.org/drawingml/2006/main" w="15875">
            <a:solidFill>
              <a:srgbClr val="0B6E9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ctr"/>
          <a:lstStyle xmlns:a="http://schemas.openxmlformats.org/drawingml/2006/main"/>
          <a:p xmlns:a="http://schemas.openxmlformats.org/drawingml/2006/main">
            <a:pPr algn="ctr">
              <a:buNone/>
            </a:pPr>
            <a:r>
              <a:rPr sz="1300" b="0">
                <a:solidFill>
                  <a:srgbClr val="1F2328"/>
                </a:solidFill>
                <a:latin typeface="Helvetica Neue"/>
                <a:ea typeface="Helvetica Neue"/>
                <a:cs typeface="Helvetica Neue"/>
              </a:rPr>
              <a:t>logits</a:t>
            </a:r>
          </a:p>
        </p:txBody>
      </p:sp>
      <p:sp>
        <p:nvSpPr>
          <p:cNvPr id="13" name="TextBox 12">
            <a:extLst xmlns:a="http://schemas.openxmlformats.org/drawingml/2006/main">
              <a:ext uri="{FF2B5EF4-FFF2-40B4-BE49-F238E27FC236}">
                <a16:creationId xmlns:a16="http://schemas.microsoft.com/office/drawing/2014/main" id="{772AABB6-DFB5-48C0-8AEA-405350F3A9D3}"/>
              </a:ext>
            </a:extLst>
          </p:cNvPr>
          <p:cNvSpPr>
            <a:spLocks xmlns:a="http://schemas.openxmlformats.org/drawingml/2006/main" noGrp="1"/>
          </p:cNvSpPr>
          <p:nvPr/>
        </p:nvSpPr>
        <p:spPr>
          <a:xfrm xmlns:a="http://schemas.openxmlformats.org/drawingml/2006/main">
            <a:off x="640080" y="5303520"/>
            <a:ext cx="210312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0">
                <a:solidFill>
                  <a:srgbClr val="5F6770"/>
                </a:solidFill>
                <a:latin typeface="Helvetica Neue"/>
                <a:ea typeface="Helvetica Neue"/>
                <a:cs typeface="Helvetica Neue"/>
              </a:rPr>
              <a:t>GGML graph, observed through cb_eval</a:t>
            </a:r>
          </a:p>
        </p:txBody>
      </p:sp>
      <p:sp>
        <p:nvSpPr>
          <p:cNvPr id="14" name="Connector 13">
            <a:extLst xmlns:a="http://schemas.openxmlformats.org/drawingml/2006/main">
              <a:ext uri="{FF2B5EF4-FFF2-40B4-BE49-F238E27FC236}">
                <a16:creationId xmlns:a16="http://schemas.microsoft.com/office/drawing/2014/main" id="{FDD4EB05-6E59-4CD5-95D0-93B5CA110807}"/>
              </a:ext>
            </a:extLst>
          </p:cNvPr>
          <p:cNvSpPr>
            <a:spLocks xmlns:a="http://schemas.openxmlformats.org/drawingml/2006/main" noGrp="1"/>
          </p:cNvSpPr>
          <p:nvPr/>
        </p:nvSpPr>
        <p:spPr>
          <a:xfrm xmlns:a="http://schemas.openxmlformats.org/drawingml/2006/main">
            <a:off x="2743200" y="3474720"/>
            <a:ext cx="502920" cy="0"/>
          </a:xfrm>
          <a:prstGeom xmlns:a="http://schemas.openxmlformats.org/drawingml/2006/main" prst="line">
            <a:avLst/>
          </a:prstGeom>
          <a:ln xmlns:a="http://schemas.openxmlformats.org/drawingml/2006/main" w="19050">
            <a:solidFill>
              <a:srgbClr val="5F6770"/>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5" name="Rectangle 14">
            <a:extLst xmlns:a="http://schemas.openxmlformats.org/drawingml/2006/main">
              <a:ext uri="{FF2B5EF4-FFF2-40B4-BE49-F238E27FC236}">
                <a16:creationId xmlns:a16="http://schemas.microsoft.com/office/drawing/2014/main" id="{BE64F53B-6353-4016-A16E-EF25181817BE}"/>
              </a:ext>
            </a:extLst>
          </p:cNvPr>
          <p:cNvSpPr>
            <a:spLocks xmlns:a="http://schemas.openxmlformats.org/drawingml/2006/main" noGrp="1"/>
          </p:cNvSpPr>
          <p:nvPr/>
        </p:nvSpPr>
        <p:spPr>
          <a:xfrm xmlns:a="http://schemas.openxmlformats.org/drawingml/2006/main">
            <a:off x="3337560" y="2011680"/>
            <a:ext cx="4069080" cy="3383280"/>
          </a:xfrm>
          <a:prstGeom xmlns:a="http://schemas.openxmlformats.org/drawingml/2006/main" prst="rect">
            <a:avLst/>
          </a:prstGeom>
          <a:solidFill xmlns:a="http://schemas.openxmlformats.org/drawingml/2006/main">
            <a:srgbClr val="FFFFFF"/>
          </a:solidFill>
          <a:ln xmlns:a="http://schemas.openxmlformats.org/drawingml/2006/main" w="15875">
            <a:solidFill>
              <a:srgbClr val="D9DEE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t"/>
          <a:lstStyle xmlns:a="http://schemas.openxmlformats.org/drawingml/2006/main"/>
          <a:p xmlns:a="http://schemas.openxmlformats.org/drawingml/2006/main">
            <a:pPr algn="l">
              <a:buNone/>
            </a:pPr>
            <a:r>
              <a:rPr sz="1200" b="1">
                <a:solidFill>
                  <a:srgbClr val="0B6E99"/>
                </a:solidFill>
                <a:latin typeface="Helvetica Neue"/>
                <a:ea typeface="Helvetica Neue"/>
                <a:cs typeface="Helvetica Neue"/>
              </a:rPr>
              <a:t>leaf</a:t>
            </a:r>
          </a:p>
          <a:p xmlns:a="http://schemas.openxmlformats.org/drawingml/2006/main">
            <a:pPr algn="l">
              <a:spcBef>
                <a:spcPts val="300"/>
              </a:spcBef>
              <a:buNone/>
            </a:pPr>
            <a:r>
              <a:rPr sz="1050" b="0">
                <a:solidFill>
                  <a:srgbClr val="1F2328"/>
                </a:solidFill>
                <a:latin typeface="Menlo"/>
                <a:ea typeface="Menlo"/>
                <a:cs typeface="Menlo"/>
              </a:rPr>
              <a:t>graph g, node i, name, op, op params</a:t>
            </a:r>
          </a:p>
          <a:p xmlns:a="http://schemas.openxmlformats.org/drawingml/2006/main">
            <a:pPr algn="l">
              <a:spcBef>
                <a:spcPts val="300"/>
              </a:spcBef>
              <a:buNone/>
            </a:pPr>
            <a:r>
              <a:rPr sz="1050" b="0">
                <a:solidFill>
                  <a:srgbClr val="1F2328"/>
                </a:solidFill>
                <a:latin typeface="Menlo"/>
                <a:ea typeface="Menlo"/>
                <a:cs typeface="Menlo"/>
              </a:rPr>
              <a:t>out: type, shape, strides, offset,</a:t>
            </a:r>
          </a:p>
          <a:p xmlns:a="http://schemas.openxmlformats.org/drawingml/2006/main">
            <a:pPr algn="l">
              <a:spcBef>
                <a:spcPts val="300"/>
              </a:spcBef>
              <a:buNone/>
            </a:pPr>
            <a:r>
              <a:rPr sz="1050" b="0">
                <a:solidFill>
                  <a:srgbClr val="1F2328"/>
                </a:solidFill>
                <a:latin typeface="Menlo"/>
                <a:ea typeface="Menlo"/>
                <a:cs typeface="Menlo"/>
              </a:rPr>
              <a:t>     hash of the base tensor</a:t>
            </a:r>
          </a:p>
          <a:p xmlns:a="http://schemas.openxmlformats.org/drawingml/2006/main">
            <a:pPr algn="l">
              <a:spcBef>
                <a:spcPts val="300"/>
              </a:spcBef>
              <a:buNone/>
            </a:pPr>
            <a:r>
              <a:rPr sz="1050" b="0">
                <a:solidFill>
                  <a:srgbClr val="1F2328"/>
                </a:solidFill>
                <a:latin typeface="Menlo"/>
                <a:ea typeface="Menlo"/>
                <a:cs typeface="Menlo"/>
              </a:rPr>
              <a:t>srcs: weight: name, type, shape, GGUF hash</a:t>
            </a:r>
          </a:p>
          <a:p xmlns:a="http://schemas.openxmlformats.org/drawingml/2006/main">
            <a:pPr algn="l">
              <a:spcBef>
                <a:spcPts val="300"/>
              </a:spcBef>
              <a:buNone/>
            </a:pPr>
            <a:r>
              <a:rPr sz="1050" b="0">
                <a:solidFill>
                  <a:srgbClr val="1F2328"/>
                </a:solidFill>
                <a:latin typeface="Menlo"/>
                <a:ea typeface="Menlo"/>
                <a:cs typeface="Menlo"/>
              </a:rPr>
              <a:t>      data: shape, offset, base hash,</a:t>
            </a:r>
          </a:p>
          <a:p xmlns:a="http://schemas.openxmlformats.org/drawingml/2006/main">
            <a:pPr algn="l">
              <a:spcBef>
                <a:spcPts val="300"/>
              </a:spcBef>
              <a:buNone/>
            </a:pPr>
            <a:r>
              <a:rPr sz="1050" b="0">
                <a:solidFill>
                  <a:srgbClr val="1F2328"/>
                </a:solidFill>
                <a:latin typeface="Menlo"/>
                <a:ea typeface="Menlo"/>
                <a:cs typeface="Menlo"/>
              </a:rPr>
              <a:t>            producer = leaf that wrote it</a:t>
            </a:r>
          </a:p>
          <a:p xmlns:a="http://schemas.openxmlformats.org/drawingml/2006/main">
            <a:pPr algn="l">
              <a:spcBef>
                <a:spcPts val="300"/>
              </a:spcBef>
              <a:buNone/>
            </a:pPr>
            <a:r>
              <a:rPr sz="1050" b="0">
                <a:solidFill>
                  <a:srgbClr val="1F2328"/>
                </a:solidFill>
                <a:latin typeface="Menlo"/>
                <a:ea typeface="Menlo"/>
                <a:cs typeface="Menlo"/>
              </a:rPr>
              <a:t>            (-1 graph input, -2 zeroed KV cache)</a:t>
            </a:r>
          </a:p>
        </p:txBody>
      </p:sp>
      <p:sp>
        <p:nvSpPr>
          <p:cNvPr id="16" name="TextBox 15">
            <a:extLst xmlns:a="http://schemas.openxmlformats.org/drawingml/2006/main">
              <a:ext uri="{FF2B5EF4-FFF2-40B4-BE49-F238E27FC236}">
                <a16:creationId xmlns:a16="http://schemas.microsoft.com/office/drawing/2014/main" id="{98375C0D-30A9-435B-A420-DC58DA9BDDE8}"/>
              </a:ext>
            </a:extLst>
          </p:cNvPr>
          <p:cNvSpPr>
            <a:spLocks xmlns:a="http://schemas.openxmlformats.org/drawingml/2006/main" noGrp="1"/>
          </p:cNvSpPr>
          <p:nvPr/>
        </p:nvSpPr>
        <p:spPr>
          <a:xfrm xmlns:a="http://schemas.openxmlformats.org/drawingml/2006/main">
            <a:off x="3337560" y="5486400"/>
            <a:ext cx="406908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F6770"/>
                </a:solidFill>
                <a:latin typeface="Helvetica Neue"/>
                <a:ea typeface="Helvetica Neue"/>
                <a:cs typeface="Helvetica Neue"/>
              </a:rPr>
              <a:t>Layout ops (reshape, view, permute) are resolved to what they view. Inputs are hashed over their whole base tensor, so the edge check is a string comparison.</a:t>
            </a:r>
          </a:p>
        </p:txBody>
      </p:sp>
      <p:sp>
        <p:nvSpPr>
          <p:cNvPr id="17" name="Connector 16">
            <a:extLst xmlns:a="http://schemas.openxmlformats.org/drawingml/2006/main">
              <a:ext uri="{FF2B5EF4-FFF2-40B4-BE49-F238E27FC236}">
                <a16:creationId xmlns:a16="http://schemas.microsoft.com/office/drawing/2014/main" id="{28DE73B9-3A27-4CB4-8E6A-26A3524D64A8}"/>
              </a:ext>
            </a:extLst>
          </p:cNvPr>
          <p:cNvSpPr>
            <a:spLocks xmlns:a="http://schemas.openxmlformats.org/drawingml/2006/main" noGrp="1"/>
          </p:cNvSpPr>
          <p:nvPr/>
        </p:nvSpPr>
        <p:spPr>
          <a:xfrm xmlns:a="http://schemas.openxmlformats.org/drawingml/2006/main">
            <a:off x="7406640" y="3474720"/>
            <a:ext cx="320039" cy="0"/>
          </a:xfrm>
          <a:prstGeom xmlns:a="http://schemas.openxmlformats.org/drawingml/2006/main" prst="line">
            <a:avLst/>
          </a:prstGeom>
          <a:ln xmlns:a="http://schemas.openxmlformats.org/drawingml/2006/main" w="19050">
            <a:solidFill>
              <a:srgbClr val="5F6770"/>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8" name="Rounded Rectangle 17">
            <a:extLst xmlns:a="http://schemas.openxmlformats.org/drawingml/2006/main">
              <a:ext uri="{FF2B5EF4-FFF2-40B4-BE49-F238E27FC236}">
                <a16:creationId xmlns:a16="http://schemas.microsoft.com/office/drawing/2014/main" id="{5324C1E3-31FD-4095-975A-0881BA85D7EC}"/>
              </a:ext>
            </a:extLst>
          </p:cNvPr>
          <p:cNvSpPr>
            <a:spLocks xmlns:a="http://schemas.openxmlformats.org/drawingml/2006/main" noGrp="1"/>
          </p:cNvSpPr>
          <p:nvPr/>
        </p:nvSpPr>
        <p:spPr>
          <a:xfrm xmlns:a="http://schemas.openxmlformats.org/drawingml/2006/main">
            <a:off x="7772400" y="4389120"/>
            <a:ext cx="822960" cy="384048"/>
          </a:xfrm>
          <a:prstGeom xmlns:a="http://schemas.openxmlformats.org/drawingml/2006/main" prst="roundRect">
            <a:avLst/>
          </a:prstGeom>
          <a:solidFill xmlns:a="http://schemas.openxmlformats.org/drawingml/2006/main">
            <a:srgbClr val="DCECF4"/>
          </a:solidFill>
          <a:ln xmlns:a="http://schemas.openxmlformats.org/drawingml/2006/main" w="15875">
            <a:solidFill>
              <a:srgbClr val="0B6E9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ctr"/>
          <a:lstStyle xmlns:a="http://schemas.openxmlformats.org/drawingml/2006/main"/>
          <a:p xmlns:a="http://schemas.openxmlformats.org/drawingml/2006/main">
            <a:pPr algn="ctr">
              <a:buNone/>
            </a:pPr>
            <a:r>
              <a:rPr sz="1000" b="0">
                <a:solidFill>
                  <a:srgbClr val="1F2328"/>
                </a:solidFill>
                <a:latin typeface="Helvetica Neue"/>
                <a:ea typeface="Helvetica Neue"/>
                <a:cs typeface="Helvetica Neue"/>
              </a:rPr>
              <a:t>leaf 0</a:t>
            </a:r>
          </a:p>
        </p:txBody>
      </p:sp>
      <p:sp>
        <p:nvSpPr>
          <p:cNvPr id="19" name="Rounded Rectangle 18">
            <a:extLst xmlns:a="http://schemas.openxmlformats.org/drawingml/2006/main">
              <a:ext uri="{FF2B5EF4-FFF2-40B4-BE49-F238E27FC236}">
                <a16:creationId xmlns:a16="http://schemas.microsoft.com/office/drawing/2014/main" id="{654A9B33-5C7F-48DE-ACFA-073235769A0F}"/>
              </a:ext>
            </a:extLst>
          </p:cNvPr>
          <p:cNvSpPr>
            <a:spLocks xmlns:a="http://schemas.openxmlformats.org/drawingml/2006/main" noGrp="1"/>
          </p:cNvSpPr>
          <p:nvPr/>
        </p:nvSpPr>
        <p:spPr>
          <a:xfrm xmlns:a="http://schemas.openxmlformats.org/drawingml/2006/main">
            <a:off x="8759952" y="4389120"/>
            <a:ext cx="822960" cy="384048"/>
          </a:xfrm>
          <a:prstGeom xmlns:a="http://schemas.openxmlformats.org/drawingml/2006/main" prst="roundRect">
            <a:avLst/>
          </a:prstGeom>
          <a:solidFill xmlns:a="http://schemas.openxmlformats.org/drawingml/2006/main">
            <a:srgbClr val="DCECF4"/>
          </a:solidFill>
          <a:ln xmlns:a="http://schemas.openxmlformats.org/drawingml/2006/main" w="15875">
            <a:solidFill>
              <a:srgbClr val="0B6E9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ctr"/>
          <a:lstStyle xmlns:a="http://schemas.openxmlformats.org/drawingml/2006/main"/>
          <a:p xmlns:a="http://schemas.openxmlformats.org/drawingml/2006/main">
            <a:pPr algn="ctr">
              <a:buNone/>
            </a:pPr>
            <a:r>
              <a:rPr sz="1000" b="0">
                <a:solidFill>
                  <a:srgbClr val="1F2328"/>
                </a:solidFill>
                <a:latin typeface="Helvetica Neue"/>
                <a:ea typeface="Helvetica Neue"/>
                <a:cs typeface="Helvetica Neue"/>
              </a:rPr>
              <a:t>leaf 1</a:t>
            </a:r>
          </a:p>
        </p:txBody>
      </p:sp>
      <p:sp>
        <p:nvSpPr>
          <p:cNvPr id="20" name="Rounded Rectangle 19">
            <a:extLst xmlns:a="http://schemas.openxmlformats.org/drawingml/2006/main">
              <a:ext uri="{FF2B5EF4-FFF2-40B4-BE49-F238E27FC236}">
                <a16:creationId xmlns:a16="http://schemas.microsoft.com/office/drawing/2014/main" id="{380F5A6E-EEA0-4BA8-9FAB-75347ED2FE82}"/>
              </a:ext>
            </a:extLst>
          </p:cNvPr>
          <p:cNvSpPr>
            <a:spLocks xmlns:a="http://schemas.openxmlformats.org/drawingml/2006/main" noGrp="1"/>
          </p:cNvSpPr>
          <p:nvPr/>
        </p:nvSpPr>
        <p:spPr>
          <a:xfrm xmlns:a="http://schemas.openxmlformats.org/drawingml/2006/main">
            <a:off x="9747504" y="4389120"/>
            <a:ext cx="822960" cy="384048"/>
          </a:xfrm>
          <a:prstGeom xmlns:a="http://schemas.openxmlformats.org/drawingml/2006/main" prst="roundRect">
            <a:avLst/>
          </a:prstGeom>
          <a:solidFill xmlns:a="http://schemas.openxmlformats.org/drawingml/2006/main">
            <a:srgbClr val="DCECF4"/>
          </a:solidFill>
          <a:ln xmlns:a="http://schemas.openxmlformats.org/drawingml/2006/main" w="15875">
            <a:solidFill>
              <a:srgbClr val="0B6E9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ctr"/>
          <a:lstStyle xmlns:a="http://schemas.openxmlformats.org/drawingml/2006/main"/>
          <a:p xmlns:a="http://schemas.openxmlformats.org/drawingml/2006/main">
            <a:pPr algn="ctr">
              <a:buNone/>
            </a:pPr>
            <a:r>
              <a:rPr sz="1000" b="0">
                <a:solidFill>
                  <a:srgbClr val="1F2328"/>
                </a:solidFill>
                <a:latin typeface="Helvetica Neue"/>
                <a:ea typeface="Helvetica Neue"/>
                <a:cs typeface="Helvetica Neue"/>
              </a:rPr>
              <a:t>leaf 2</a:t>
            </a:r>
          </a:p>
        </p:txBody>
      </p:sp>
      <p:sp>
        <p:nvSpPr>
          <p:cNvPr id="21" name="Rounded Rectangle 20">
            <a:extLst xmlns:a="http://schemas.openxmlformats.org/drawingml/2006/main">
              <a:ext uri="{FF2B5EF4-FFF2-40B4-BE49-F238E27FC236}">
                <a16:creationId xmlns:a16="http://schemas.microsoft.com/office/drawing/2014/main" id="{5F559DA2-1094-4354-8374-D5BEDC945AEE}"/>
              </a:ext>
            </a:extLst>
          </p:cNvPr>
          <p:cNvSpPr>
            <a:spLocks xmlns:a="http://schemas.openxmlformats.org/drawingml/2006/main" noGrp="1"/>
          </p:cNvSpPr>
          <p:nvPr/>
        </p:nvSpPr>
        <p:spPr>
          <a:xfrm xmlns:a="http://schemas.openxmlformats.org/drawingml/2006/main">
            <a:off x="10735056" y="4389120"/>
            <a:ext cx="822960" cy="384048"/>
          </a:xfrm>
          <a:prstGeom xmlns:a="http://schemas.openxmlformats.org/drawingml/2006/main" prst="roundRect">
            <a:avLst/>
          </a:prstGeom>
          <a:solidFill xmlns:a="http://schemas.openxmlformats.org/drawingml/2006/main">
            <a:srgbClr val="DCECF4"/>
          </a:solidFill>
          <a:ln xmlns:a="http://schemas.openxmlformats.org/drawingml/2006/main" w="15875">
            <a:solidFill>
              <a:srgbClr val="0B6E9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ctr"/>
          <a:lstStyle xmlns:a="http://schemas.openxmlformats.org/drawingml/2006/main"/>
          <a:p xmlns:a="http://schemas.openxmlformats.org/drawingml/2006/main">
            <a:pPr algn="ctr">
              <a:buNone/>
            </a:pPr>
            <a:r>
              <a:rPr sz="1000" b="0">
                <a:solidFill>
                  <a:srgbClr val="1F2328"/>
                </a:solidFill>
                <a:latin typeface="Helvetica Neue"/>
                <a:ea typeface="Helvetica Neue"/>
                <a:cs typeface="Helvetica Neue"/>
              </a:rPr>
              <a:t>leaf 3</a:t>
            </a:r>
          </a:p>
        </p:txBody>
      </p:sp>
      <p:sp>
        <p:nvSpPr>
          <p:cNvPr id="22" name="Rounded Rectangle 21">
            <a:extLst xmlns:a="http://schemas.openxmlformats.org/drawingml/2006/main">
              <a:ext uri="{FF2B5EF4-FFF2-40B4-BE49-F238E27FC236}">
                <a16:creationId xmlns:a16="http://schemas.microsoft.com/office/drawing/2014/main" id="{6C8E9E67-0BB0-435A-9D17-48C25AE56A5C}"/>
              </a:ext>
            </a:extLst>
          </p:cNvPr>
          <p:cNvSpPr>
            <a:spLocks xmlns:a="http://schemas.openxmlformats.org/drawingml/2006/main" noGrp="1"/>
          </p:cNvSpPr>
          <p:nvPr/>
        </p:nvSpPr>
        <p:spPr>
          <a:xfrm xmlns:a="http://schemas.openxmlformats.org/drawingml/2006/main">
            <a:off x="8266176" y="3520440"/>
            <a:ext cx="822960" cy="384048"/>
          </a:xfrm>
          <a:prstGeom xmlns:a="http://schemas.openxmlformats.org/drawingml/2006/main" prst="roundRect">
            <a:avLst/>
          </a:prstGeom>
          <a:solidFill xmlns:a="http://schemas.openxmlformats.org/drawingml/2006/main">
            <a:srgbClr val="FFFFFF"/>
          </a:solidFill>
          <a:ln xmlns:a="http://schemas.openxmlformats.org/drawingml/2006/main" w="15875">
            <a:solidFill>
              <a:srgbClr val="0B6E9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ctr"/>
          <a:lstStyle xmlns:a="http://schemas.openxmlformats.org/drawingml/2006/main"/>
          <a:p xmlns:a="http://schemas.openxmlformats.org/drawingml/2006/main">
            <a:pPr algn="ctr">
              <a:buNone/>
            </a:pPr>
            <a:r>
              <a:rPr sz="900" b="0">
                <a:solidFill>
                  <a:srgbClr val="1F2328"/>
                </a:solidFill>
                <a:latin typeface="Helvetica Neue"/>
                <a:ea typeface="Helvetica Neue"/>
                <a:cs typeface="Helvetica Neue"/>
              </a:rPr>
              <a:t>h(0x01||l||r)</a:t>
            </a:r>
          </a:p>
        </p:txBody>
      </p:sp>
      <p:sp>
        <p:nvSpPr>
          <p:cNvPr id="23" name="Rounded Rectangle 22">
            <a:extLst xmlns:a="http://schemas.openxmlformats.org/drawingml/2006/main">
              <a:ext uri="{FF2B5EF4-FFF2-40B4-BE49-F238E27FC236}">
                <a16:creationId xmlns:a16="http://schemas.microsoft.com/office/drawing/2014/main" id="{EDC7C7C8-9838-4B27-AF25-DC69719EB4C2}"/>
              </a:ext>
            </a:extLst>
          </p:cNvPr>
          <p:cNvSpPr>
            <a:spLocks xmlns:a="http://schemas.openxmlformats.org/drawingml/2006/main" noGrp="1"/>
          </p:cNvSpPr>
          <p:nvPr/>
        </p:nvSpPr>
        <p:spPr>
          <a:xfrm xmlns:a="http://schemas.openxmlformats.org/drawingml/2006/main">
            <a:off x="10241280" y="3520440"/>
            <a:ext cx="822960" cy="384048"/>
          </a:xfrm>
          <a:prstGeom xmlns:a="http://schemas.openxmlformats.org/drawingml/2006/main" prst="roundRect">
            <a:avLst/>
          </a:prstGeom>
          <a:solidFill xmlns:a="http://schemas.openxmlformats.org/drawingml/2006/main">
            <a:srgbClr val="FFFFFF"/>
          </a:solidFill>
          <a:ln xmlns:a="http://schemas.openxmlformats.org/drawingml/2006/main" w="15875">
            <a:solidFill>
              <a:srgbClr val="0B6E9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ctr"/>
          <a:lstStyle xmlns:a="http://schemas.openxmlformats.org/drawingml/2006/main"/>
          <a:p xmlns:a="http://schemas.openxmlformats.org/drawingml/2006/main">
            <a:pPr algn="ctr">
              <a:buNone/>
            </a:pPr>
            <a:r>
              <a:rPr sz="900" b="0">
                <a:solidFill>
                  <a:srgbClr val="1F2328"/>
                </a:solidFill>
                <a:latin typeface="Helvetica Neue"/>
                <a:ea typeface="Helvetica Neue"/>
                <a:cs typeface="Helvetica Neue"/>
              </a:rPr>
              <a:t>h(0x01||l||r)</a:t>
            </a:r>
          </a:p>
        </p:txBody>
      </p:sp>
      <p:sp>
        <p:nvSpPr>
          <p:cNvPr id="24" name="Connector 23">
            <a:extLst xmlns:a="http://schemas.openxmlformats.org/drawingml/2006/main">
              <a:ext uri="{FF2B5EF4-FFF2-40B4-BE49-F238E27FC236}">
                <a16:creationId xmlns:a16="http://schemas.microsoft.com/office/drawing/2014/main" id="{BDAFCD89-19A6-4BB3-AEB1-1CC2E7EA967C}"/>
              </a:ext>
            </a:extLst>
          </p:cNvPr>
          <p:cNvSpPr>
            <a:spLocks xmlns:a="http://schemas.openxmlformats.org/drawingml/2006/main" noGrp="1"/>
          </p:cNvSpPr>
          <p:nvPr/>
        </p:nvSpPr>
        <p:spPr>
          <a:xfrm xmlns:a="http://schemas.openxmlformats.org/drawingml/2006/main" flipV="1">
            <a:off x="8183880" y="3904488"/>
            <a:ext cx="493776" cy="484632"/>
          </a:xfrm>
          <a:prstGeom xmlns:a="http://schemas.openxmlformats.org/drawingml/2006/main" prst="line">
            <a:avLst/>
          </a:prstGeom>
          <a:ln xmlns:a="http://schemas.openxmlformats.org/drawingml/2006/main" w="19050">
            <a:solidFill>
              <a:srgbClr val="5F6770"/>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F54AEFF7-3403-4A7D-9DC5-4BF7D504B2EF}"/>
              </a:ext>
            </a:extLst>
          </p:cNvPr>
          <p:cNvSpPr>
            <a:spLocks xmlns:a="http://schemas.openxmlformats.org/drawingml/2006/main" noGrp="1"/>
          </p:cNvSpPr>
          <p:nvPr/>
        </p:nvSpPr>
        <p:spPr>
          <a:xfrm xmlns:a="http://schemas.openxmlformats.org/drawingml/2006/main" flipH="1" flipV="1">
            <a:off x="8677656" y="3904488"/>
            <a:ext cx="493776" cy="484632"/>
          </a:xfrm>
          <a:prstGeom xmlns:a="http://schemas.openxmlformats.org/drawingml/2006/main" prst="line">
            <a:avLst/>
          </a:prstGeom>
          <a:ln xmlns:a="http://schemas.openxmlformats.org/drawingml/2006/main" w="19050">
            <a:solidFill>
              <a:srgbClr val="5F6770"/>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87386B9F-0F19-466A-87B4-5E3039DE6F87}"/>
              </a:ext>
            </a:extLst>
          </p:cNvPr>
          <p:cNvSpPr>
            <a:spLocks xmlns:a="http://schemas.openxmlformats.org/drawingml/2006/main" noGrp="1"/>
          </p:cNvSpPr>
          <p:nvPr/>
        </p:nvSpPr>
        <p:spPr>
          <a:xfrm xmlns:a="http://schemas.openxmlformats.org/drawingml/2006/main" flipV="1">
            <a:off x="10158984" y="3904488"/>
            <a:ext cx="493776" cy="484632"/>
          </a:xfrm>
          <a:prstGeom xmlns:a="http://schemas.openxmlformats.org/drawingml/2006/main" prst="line">
            <a:avLst/>
          </a:prstGeom>
          <a:ln xmlns:a="http://schemas.openxmlformats.org/drawingml/2006/main" w="19050">
            <a:solidFill>
              <a:srgbClr val="5F6770"/>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8CE24EA0-932C-47DF-BCAA-E44374168328}"/>
              </a:ext>
            </a:extLst>
          </p:cNvPr>
          <p:cNvSpPr>
            <a:spLocks xmlns:a="http://schemas.openxmlformats.org/drawingml/2006/main" noGrp="1"/>
          </p:cNvSpPr>
          <p:nvPr/>
        </p:nvSpPr>
        <p:spPr>
          <a:xfrm xmlns:a="http://schemas.openxmlformats.org/drawingml/2006/main" flipH="1" flipV="1">
            <a:off x="10652760" y="3904488"/>
            <a:ext cx="493776" cy="484632"/>
          </a:xfrm>
          <a:prstGeom xmlns:a="http://schemas.openxmlformats.org/drawingml/2006/main" prst="line">
            <a:avLst/>
          </a:prstGeom>
          <a:ln xmlns:a="http://schemas.openxmlformats.org/drawingml/2006/main" w="19050">
            <a:solidFill>
              <a:srgbClr val="5F6770"/>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8" name="Rounded Rectangle 27">
            <a:extLst xmlns:a="http://schemas.openxmlformats.org/drawingml/2006/main">
              <a:ext uri="{FF2B5EF4-FFF2-40B4-BE49-F238E27FC236}">
                <a16:creationId xmlns:a16="http://schemas.microsoft.com/office/drawing/2014/main" id="{9E9E29FC-4EE9-4737-9DCA-E139359391C2}"/>
              </a:ext>
            </a:extLst>
          </p:cNvPr>
          <p:cNvSpPr>
            <a:spLocks xmlns:a="http://schemas.openxmlformats.org/drawingml/2006/main" noGrp="1"/>
          </p:cNvSpPr>
          <p:nvPr/>
        </p:nvSpPr>
        <p:spPr>
          <a:xfrm xmlns:a="http://schemas.openxmlformats.org/drawingml/2006/main">
            <a:off x="9253728" y="2651760"/>
            <a:ext cx="822960" cy="384048"/>
          </a:xfrm>
          <a:prstGeom xmlns:a="http://schemas.openxmlformats.org/drawingml/2006/main" prst="roundRect">
            <a:avLst/>
          </a:prstGeom>
          <a:solidFill xmlns:a="http://schemas.openxmlformats.org/drawingml/2006/main">
            <a:srgbClr val="0B6E99"/>
          </a:solidFill>
          <a:ln xmlns:a="http://schemas.openxmlformats.org/drawingml/2006/main" w="15875">
            <a:solidFill>
              <a:srgbClr val="0B6E9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ctr"/>
          <a:lstStyle xmlns:a="http://schemas.openxmlformats.org/drawingml/2006/main"/>
          <a:p xmlns:a="http://schemas.openxmlformats.org/drawingml/2006/main">
            <a:pPr algn="ctr">
              <a:buNone/>
            </a:pPr>
            <a:r>
              <a:rPr sz="1100" b="1">
                <a:solidFill>
                  <a:srgbClr val="FFFFFF"/>
                </a:solidFill>
                <a:latin typeface="Helvetica Neue"/>
                <a:ea typeface="Helvetica Neue"/>
                <a:cs typeface="Helvetica Neue"/>
              </a:rPr>
              <a:t>root</a:t>
            </a:r>
          </a:p>
        </p:txBody>
      </p:sp>
      <p:sp>
        <p:nvSpPr>
          <p:cNvPr id="29" name="Connector 28">
            <a:extLst xmlns:a="http://schemas.openxmlformats.org/drawingml/2006/main">
              <a:ext uri="{FF2B5EF4-FFF2-40B4-BE49-F238E27FC236}">
                <a16:creationId xmlns:a16="http://schemas.microsoft.com/office/drawing/2014/main" id="{0B4DD9BF-8F13-4ECE-BBA2-CEC0A0607FE4}"/>
              </a:ext>
            </a:extLst>
          </p:cNvPr>
          <p:cNvSpPr>
            <a:spLocks xmlns:a="http://schemas.openxmlformats.org/drawingml/2006/main" noGrp="1"/>
          </p:cNvSpPr>
          <p:nvPr/>
        </p:nvSpPr>
        <p:spPr>
          <a:xfrm xmlns:a="http://schemas.openxmlformats.org/drawingml/2006/main" flipV="1">
            <a:off x="8677656" y="3035808"/>
            <a:ext cx="987552" cy="484632"/>
          </a:xfrm>
          <a:prstGeom xmlns:a="http://schemas.openxmlformats.org/drawingml/2006/main" prst="line">
            <a:avLst/>
          </a:prstGeom>
          <a:ln xmlns:a="http://schemas.openxmlformats.org/drawingml/2006/main" w="19050">
            <a:solidFill>
              <a:srgbClr val="5F6770"/>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54D33F89-6C2D-466C-9F59-AF0BF8D456CD}"/>
              </a:ext>
            </a:extLst>
          </p:cNvPr>
          <p:cNvSpPr>
            <a:spLocks xmlns:a="http://schemas.openxmlformats.org/drawingml/2006/main" noGrp="1"/>
          </p:cNvSpPr>
          <p:nvPr/>
        </p:nvSpPr>
        <p:spPr>
          <a:xfrm xmlns:a="http://schemas.openxmlformats.org/drawingml/2006/main" flipH="1" flipV="1">
            <a:off x="9665208" y="3035808"/>
            <a:ext cx="987552" cy="484632"/>
          </a:xfrm>
          <a:prstGeom xmlns:a="http://schemas.openxmlformats.org/drawingml/2006/main" prst="line">
            <a:avLst/>
          </a:prstGeom>
          <a:ln xmlns:a="http://schemas.openxmlformats.org/drawingml/2006/main" w="19050">
            <a:solidFill>
              <a:srgbClr val="5F6770"/>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1" name="TextBox 30">
            <a:extLst xmlns:a="http://schemas.openxmlformats.org/drawingml/2006/main">
              <a:ext uri="{FF2B5EF4-FFF2-40B4-BE49-F238E27FC236}">
                <a16:creationId xmlns:a16="http://schemas.microsoft.com/office/drawing/2014/main" id="{4CA32F3A-2E45-4D55-B968-3111A91F26B2}"/>
              </a:ext>
            </a:extLst>
          </p:cNvPr>
          <p:cNvSpPr>
            <a:spLocks xmlns:a="http://schemas.openxmlformats.org/drawingml/2006/main" noGrp="1"/>
          </p:cNvSpPr>
          <p:nvPr/>
        </p:nvSpPr>
        <p:spPr>
          <a:xfrm xmlns:a="http://schemas.openxmlformats.org/drawingml/2006/main">
            <a:off x="7680960" y="4892040"/>
            <a:ext cx="4023360" cy="1371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F6770"/>
                </a:solidFill>
                <a:latin typeface="Helvetica Neue"/>
                <a:ea typeface="Helvetica Neue"/>
                <a:cs typeface="Helvetica Neue"/>
              </a:rPr>
              <a:t>The root goes into the receipt. A second pass replays the same tokens, reproduces the root bit for bit, and captures the bytes of a Fiat-Shamir sample of nodes: the openings.</a:t>
            </a:r>
          </a:p>
        </p:txBody>
      </p:sp>
    </p:spTree>
    <p:extLst>
      <p:ext uri="{BB962C8B-B14F-4D97-AF65-F5344CB8AC3E}">
        <p14:creationId xmlns:p14="http://schemas.microsoft.com/office/powerpoint/2010/main" val="67161872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429F113-CA21-454B-8023-965C2516262A}"/>
              </a:ext>
            </a:extLst>
          </p:cNvPr>
          <p:cNvSpPr>
            <a:spLocks xmlns:a="http://schemas.openxmlformats.org/drawingml/2006/main" noGrp="1"/>
          </p:cNvSpPr>
          <p:nvPr/>
        </p:nvSpPr>
        <p:spPr>
          <a:xfrm xmlns:a="http://schemas.openxmlformats.org/drawingml/2006/main">
            <a:off x="640080" y="347472"/>
            <a:ext cx="10911535"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0B6E99"/>
                </a:solidFill>
                <a:latin typeface="Helvetica Neue"/>
                <a:ea typeface="Helvetica Neue"/>
                <a:cs typeface="Helvetica Neue"/>
              </a:rPr>
              <a:t>VERIFIER</a:t>
            </a:r>
          </a:p>
        </p:txBody>
      </p:sp>
      <p:sp>
        <p:nvSpPr>
          <p:cNvPr id="3" name="TextBox 2">
            <a:extLst xmlns:a="http://schemas.openxmlformats.org/drawingml/2006/main">
              <a:ext uri="{FF2B5EF4-FFF2-40B4-BE49-F238E27FC236}">
                <a16:creationId xmlns:a16="http://schemas.microsoft.com/office/drawing/2014/main" id="{2C726A28-73B7-4829-A741-2FFD3D9A0484}"/>
              </a:ext>
            </a:extLst>
          </p:cNvPr>
          <p:cNvSpPr>
            <a:spLocks xmlns:a="http://schemas.openxmlformats.org/drawingml/2006/main" noGrp="1"/>
          </p:cNvSpPr>
          <p:nvPr/>
        </p:nvSpPr>
        <p:spPr>
          <a:xfrm xmlns:a="http://schemas.openxmlformats.org/drawingml/2006/main">
            <a:off x="640080" y="640080"/>
            <a:ext cx="10911535"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1F2328"/>
                </a:solidFill>
                <a:latin typeface="Helvetica Neue"/>
                <a:ea typeface="Helvetica Neue"/>
                <a:cs typeface="Helvetica Neue"/>
              </a:rPr>
              <a:t>Trace verifier checks without model execution</a:t>
            </a:r>
          </a:p>
        </p:txBody>
      </p:sp>
      <p:sp>
        <p:nvSpPr>
          <p:cNvPr id="4" name="Rectangle 3">
            <a:extLst xmlns:a="http://schemas.openxmlformats.org/drawingml/2006/main">
              <a:ext uri="{FF2B5EF4-FFF2-40B4-BE49-F238E27FC236}">
                <a16:creationId xmlns:a16="http://schemas.microsoft.com/office/drawing/2014/main" id="{DCF13D04-50A1-4697-AA7A-1983701C6B48}"/>
              </a:ext>
            </a:extLst>
          </p:cNvPr>
          <p:cNvSpPr>
            <a:spLocks xmlns:a="http://schemas.openxmlformats.org/drawingml/2006/main" noGrp="1"/>
          </p:cNvSpPr>
          <p:nvPr/>
        </p:nvSpPr>
        <p:spPr>
          <a:xfrm xmlns:a="http://schemas.openxmlformats.org/drawingml/2006/main">
            <a:off x="640080" y="1572768"/>
            <a:ext cx="10911535" cy="12700"/>
          </a:xfrm>
          <a:prstGeom xmlns:a="http://schemas.openxmlformats.org/drawingml/2006/main" prst="rect">
            <a:avLst/>
          </a:prstGeom>
          <a:solidFill xmlns:a="http://schemas.openxmlformats.org/drawingml/2006/main">
            <a:srgbClr val="D9DE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5C28DC73-EABF-443A-B9AC-FEE91DA16B39}"/>
              </a:ext>
            </a:extLst>
          </p:cNvPr>
          <p:cNvSpPr>
            <a:spLocks xmlns:a="http://schemas.openxmlformats.org/drawingml/2006/main" noGrp="1"/>
          </p:cNvSpPr>
          <p:nvPr/>
        </p:nvSpPr>
        <p:spPr>
          <a:xfrm xmlns:a="http://schemas.openxmlformats.org/drawingml/2006/main">
            <a:off x="640080" y="6400800"/>
            <a:ext cx="10911535"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5F6770"/>
                </a:solidFill>
                <a:latin typeface="Helvetica Neue"/>
                <a:ea typeface="Helvetica Neue"/>
                <a:cs typeface="Helvetica Neue"/>
              </a:rPr>
              <a:t>llama-receipts, Sep 11, 2026</a:t>
            </a:r>
            <a:r>
              <a:rPr sz="1000">
                <a:solidFill>
                  <a:srgbClr val="5F6770"/>
                </a:solidFill>
                <a:latin typeface="Helvetica Neue"/>
                <a:ea typeface="Helvetica Neue"/>
                <a:cs typeface="Helvetica Neue"/>
              </a:rPr>
              <a:t>     6</a:t>
            </a:r>
          </a:p>
        </p:txBody>
      </p:sp>
      <p:graphicFrame>
        <p:nvGraphicFramePr>
          <p:cNvPr id="11" name="Table 5"/>
          <p:cNvGraphicFramePr/>
          <p:nvPr/>
        </p:nvGraphicFramePr>
        <p:xfrm>
          <a:off xmlns:a="http://schemas.openxmlformats.org/drawingml/2006/main" x="640080" y="1874519"/>
          <a:ext xmlns:a="http://schemas.openxmlformats.org/drawingml/2006/main" cx="10911534" cy="4023360"/>
        </p:xfrm>
        <a:graphic xmlns:a="http://schemas.openxmlformats.org/drawingml/2006/main">
          <a:graphicData uri="http://schemas.openxmlformats.org/drawingml/2006/table">
            <a:tbl>
              <a:tblPr firstRow="1" bandRow="1">
                <a:tableStyleId>{5C22544A-7EE6-4342-B048-85BDC9FD1C3A}</a:tableStyleId>
              </a:tblPr>
              <a:tblGrid>
                <a:gridCol w="1952590"/>
                <a:gridCol w="7121212"/>
                <a:gridCol w="1837732"/>
              </a:tblGrid>
              <a:tr h="502920">
                <a:tc>
                  <a:txBody>
                    <a:bodyPr wrap="square"/>
                    <a:lstStyle/>
                    <a:p>
                      <a:r>
                        <a:rPr sz="1300" b="1">
                          <a:solidFill>
                            <a:srgbClr val="1F2328"/>
                          </a:solidFill>
                          <a:latin typeface="Helvetica Neue"/>
                          <a:ea typeface="Helvetica Neue"/>
                          <a:cs typeface="Helvetica Neue"/>
                        </a:rPr>
                        <a:t>Check</a:t>
                      </a:r>
                    </a:p>
                  </a:txBody>
                  <a:tcPr marL="73152" marR="73152" marT="36576" marB="36576" anchor="ctr">
                    <a:solidFill>
                      <a:srgbClr val="DCECF4"/>
                    </a:solidFill>
                  </a:tcPr>
                </a:tc>
                <a:tc>
                  <a:txBody>
                    <a:bodyPr wrap="square"/>
                    <a:lstStyle/>
                    <a:p>
                      <a:r>
                        <a:rPr sz="1300" b="1">
                          <a:solidFill>
                            <a:srgbClr val="1F2328"/>
                          </a:solidFill>
                          <a:latin typeface="Helvetica Neue"/>
                          <a:ea typeface="Helvetica Neue"/>
                          <a:cs typeface="Helvetica Neue"/>
                        </a:rPr>
                        <a:t>What it establishes</a:t>
                      </a:r>
                    </a:p>
                  </a:txBody>
                  <a:tcPr marL="73152" marR="73152" marT="36576" marB="36576" anchor="ctr">
                    <a:solidFill>
                      <a:srgbClr val="DCECF4"/>
                    </a:solidFill>
                  </a:tcPr>
                </a:tc>
                <a:tc>
                  <a:txBody>
                    <a:bodyPr wrap="square"/>
                    <a:lstStyle/>
                    <a:p>
                      <a:r>
                        <a:rPr sz="1300" b="1">
                          <a:solidFill>
                            <a:srgbClr val="1F2328"/>
                          </a:solidFill>
                          <a:latin typeface="Helvetica Neue"/>
                          <a:ea typeface="Helvetica Neue"/>
                          <a:cs typeface="Helvetica Neue"/>
                        </a:rPr>
                        <a:t>Needs tensor bytes</a:t>
                      </a:r>
                    </a:p>
                  </a:txBody>
                  <a:tcPr marL="73152" marR="73152" marT="36576" marB="36576" anchor="ctr">
                    <a:solidFill>
                      <a:srgbClr val="DCECF4"/>
                    </a:solidFill>
                  </a:tcPr>
                </a:tc>
              </a:tr>
              <a:tr h="502920">
                <a:tc>
                  <a:txBody>
                    <a:bodyPr wrap="square"/>
                    <a:lstStyle/>
                    <a:p>
                      <a:r>
                        <a:rPr sz="1300" b="0">
                          <a:solidFill>
                            <a:srgbClr val="1F2328"/>
                          </a:solidFill>
                          <a:latin typeface="Helvetica Neue"/>
                          <a:ea typeface="Helvetica Neue"/>
                          <a:cs typeface="Helvetica Neue"/>
                        </a:rPr>
                        <a:t>1. Root + content</a:t>
                      </a:r>
                    </a:p>
                  </a:txBody>
                  <a:tcPr marL="73152" marR="73152" marT="36576" marB="36576" anchor="ctr">
                    <a:solidFill>
                      <a:srgbClr val="FFFFFF"/>
                    </a:solidFill>
                  </a:tcPr>
                </a:tc>
                <a:tc>
                  <a:txBody>
                    <a:bodyPr wrap="square"/>
                    <a:lstStyle/>
                    <a:p>
                      <a:r>
                        <a:rPr sz="1300" b="0">
                          <a:solidFill>
                            <a:srgbClr val="1F2328"/>
                          </a:solidFill>
                          <a:latin typeface="Helvetica Neue"/>
                          <a:ea typeface="Helvetica Neue"/>
                          <a:cs typeface="Helvetica Neue"/>
                        </a:rPr>
                        <a:t>Leaves, token arrays and displayed text match their commitments</a:t>
                      </a:r>
                    </a:p>
                  </a:txBody>
                  <a:tcPr marL="73152" marR="73152" marT="36576" marB="36576" anchor="ctr">
                    <a:solidFill>
                      <a:srgbClr val="FFFFFF"/>
                    </a:solidFill>
                  </a:tcPr>
                </a:tc>
                <a:tc>
                  <a:txBody>
                    <a:bodyPr wrap="square"/>
                    <a:lstStyle/>
                    <a:p>
                      <a:r>
                        <a:rPr sz="1300" b="0">
                          <a:solidFill>
                            <a:srgbClr val="1F2328"/>
                          </a:solidFill>
                          <a:latin typeface="Helvetica Neue"/>
                          <a:ea typeface="Helvetica Neue"/>
                          <a:cs typeface="Helvetica Neue"/>
                        </a:rPr>
                        <a:t>no</a:t>
                      </a:r>
                    </a:p>
                  </a:txBody>
                  <a:tcPr marL="73152" marR="73152" marT="36576" marB="36576" anchor="ctr">
                    <a:solidFill>
                      <a:srgbClr val="FFFFFF"/>
                    </a:solidFill>
                  </a:tcPr>
                </a:tc>
              </a:tr>
              <a:tr h="502920">
                <a:tc>
                  <a:txBody>
                    <a:bodyPr wrap="square"/>
                    <a:lstStyle/>
                    <a:p>
                      <a:r>
                        <a:rPr sz="1300" b="0">
                          <a:solidFill>
                            <a:srgbClr val="1F2328"/>
                          </a:solidFill>
                          <a:latin typeface="Helvetica Neue"/>
                          <a:ea typeface="Helvetica Neue"/>
                          <a:cs typeface="Helvetica Neue"/>
                        </a:rPr>
                        <a:t>2. Topology + challenge</a:t>
                      </a:r>
                    </a:p>
                  </a:txBody>
                  <a:tcPr marL="73152" marR="73152" marT="36576" marB="36576" anchor="ctr">
                    <a:solidFill>
                      <a:srgbClr val="FFFFFF"/>
                    </a:solidFill>
                  </a:tcPr>
                </a:tc>
                <a:tc>
                  <a:txBody>
                    <a:bodyPr wrap="square"/>
                    <a:lstStyle/>
                    <a:p>
                      <a:r>
                        <a:rPr sz="1300" b="0">
                          <a:solidFill>
                            <a:srgbClr val="1F2328"/>
                          </a:solidFill>
                          <a:latin typeface="Helvetica Neue"/>
                          <a:ea typeface="Helvetica Neue"/>
                          <a:cs typeface="Helvetica Neue"/>
                        </a:rPr>
                        <a:t>Graph structure matches verifier policy; openings are unpredictable and meet its minimum</a:t>
                      </a:r>
                    </a:p>
                  </a:txBody>
                  <a:tcPr marL="73152" marR="73152" marT="36576" marB="36576" anchor="ctr">
                    <a:solidFill>
                      <a:srgbClr val="FFFFFF"/>
                    </a:solidFill>
                  </a:tcPr>
                </a:tc>
                <a:tc>
                  <a:txBody>
                    <a:bodyPr wrap="square"/>
                    <a:lstStyle/>
                    <a:p>
                      <a:r>
                        <a:rPr sz="1300" b="0">
                          <a:solidFill>
                            <a:srgbClr val="1F2328"/>
                          </a:solidFill>
                          <a:latin typeface="Helvetica Neue"/>
                          <a:ea typeface="Helvetica Neue"/>
                          <a:cs typeface="Helvetica Neue"/>
                        </a:rPr>
                        <a:t>no</a:t>
                      </a:r>
                    </a:p>
                  </a:txBody>
                  <a:tcPr marL="73152" marR="73152" marT="36576" marB="36576" anchor="ctr">
                    <a:solidFill>
                      <a:srgbClr val="FFFFFF"/>
                    </a:solidFill>
                  </a:tcPr>
                </a:tc>
              </a:tr>
              <a:tr h="502920">
                <a:tc>
                  <a:txBody>
                    <a:bodyPr wrap="square"/>
                    <a:lstStyle/>
                    <a:p>
                      <a:r>
                        <a:rPr sz="1300" b="0">
                          <a:solidFill>
                            <a:srgbClr val="1F2328"/>
                          </a:solidFill>
                          <a:latin typeface="Helvetica Neue"/>
                          <a:ea typeface="Helvetica Neue"/>
                          <a:cs typeface="Helvetica Neue"/>
                        </a:rPr>
                        <a:t>3. Structure</a:t>
                      </a:r>
                    </a:p>
                  </a:txBody>
                  <a:tcPr marL="73152" marR="73152" marT="36576" marB="36576" anchor="ctr">
                    <a:solidFill>
                      <a:srgbClr val="FFFFFF"/>
                    </a:solidFill>
                  </a:tcPr>
                </a:tc>
                <a:tc>
                  <a:txBody>
                    <a:bodyPr wrap="square"/>
                    <a:lstStyle/>
                    <a:p>
                      <a:r>
                        <a:rPr sz="1300" b="0">
                          <a:solidFill>
                            <a:srgbClr val="1F2328"/>
                          </a:solidFill>
                          <a:latin typeface="Helvetica Neue"/>
                          <a:ea typeface="Helvetica Neue"/>
                          <a:cs typeface="Helvetica Neue"/>
                        </a:rPr>
                        <a:t>One graph per token, prefill included</a:t>
                      </a:r>
                    </a:p>
                  </a:txBody>
                  <a:tcPr marL="73152" marR="73152" marT="36576" marB="36576" anchor="ctr">
                    <a:solidFill>
                      <a:srgbClr val="FFFFFF"/>
                    </a:solidFill>
                  </a:tcPr>
                </a:tc>
                <a:tc>
                  <a:txBody>
                    <a:bodyPr wrap="square"/>
                    <a:lstStyle/>
                    <a:p>
                      <a:r>
                        <a:rPr sz="1300" b="0">
                          <a:solidFill>
                            <a:srgbClr val="1F2328"/>
                          </a:solidFill>
                          <a:latin typeface="Helvetica Neue"/>
                          <a:ea typeface="Helvetica Neue"/>
                          <a:cs typeface="Helvetica Neue"/>
                        </a:rPr>
                        <a:t>no</a:t>
                      </a:r>
                    </a:p>
                  </a:txBody>
                  <a:tcPr marL="73152" marR="73152" marT="36576" marB="36576" anchor="ctr">
                    <a:solidFill>
                      <a:srgbClr val="FFFFFF"/>
                    </a:solidFill>
                  </a:tcPr>
                </a:tc>
              </a:tr>
              <a:tr h="502920">
                <a:tc>
                  <a:txBody>
                    <a:bodyPr wrap="square"/>
                    <a:lstStyle/>
                    <a:p>
                      <a:r>
                        <a:rPr sz="1300" b="0">
                          <a:solidFill>
                            <a:srgbClr val="1F2328"/>
                          </a:solidFill>
                          <a:latin typeface="Helvetica Neue"/>
                          <a:ea typeface="Helvetica Neue"/>
                          <a:cs typeface="Helvetica Neue"/>
                        </a:rPr>
                        <a:t>4. Inputs</a:t>
                      </a:r>
                    </a:p>
                  </a:txBody>
                  <a:tcPr marL="73152" marR="73152" marT="36576" marB="36576" anchor="ctr">
                    <a:solidFill>
                      <a:srgbClr val="FFFFFF"/>
                    </a:solidFill>
                  </a:tcPr>
                </a:tc>
                <a:tc>
                  <a:txBody>
                    <a:bodyPr wrap="square"/>
                    <a:lstStyle/>
                    <a:p>
                      <a:r>
                        <a:rPr sz="1300" b="0">
                          <a:solidFill>
                            <a:srgbClr val="1F2328"/>
                          </a:solidFill>
                          <a:latin typeface="Helvetica Neue"/>
                          <a:ea typeface="Helvetica Neue"/>
                          <a:cs typeface="Helvetica Neue"/>
                        </a:rPr>
                        <a:t>Token, position, row-selection, KV-cell and mask inputs hash to what the receipt claims</a:t>
                      </a:r>
                    </a:p>
                  </a:txBody>
                  <a:tcPr marL="73152" marR="73152" marT="36576" marB="36576" anchor="ctr">
                    <a:solidFill>
                      <a:srgbClr val="FFFFFF"/>
                    </a:solidFill>
                  </a:tcPr>
                </a:tc>
                <a:tc>
                  <a:txBody>
                    <a:bodyPr wrap="square"/>
                    <a:lstStyle/>
                    <a:p>
                      <a:r>
                        <a:rPr sz="1300" b="0">
                          <a:solidFill>
                            <a:srgbClr val="1F2328"/>
                          </a:solidFill>
                          <a:latin typeface="Helvetica Neue"/>
                          <a:ea typeface="Helvetica Neue"/>
                          <a:cs typeface="Helvetica Neue"/>
                        </a:rPr>
                        <a:t>no</a:t>
                      </a:r>
                    </a:p>
                  </a:txBody>
                  <a:tcPr marL="73152" marR="73152" marT="36576" marB="36576" anchor="ctr">
                    <a:solidFill>
                      <a:srgbClr val="FFFFFF"/>
                    </a:solidFill>
                  </a:tcPr>
                </a:tc>
              </a:tr>
              <a:tr h="502920">
                <a:tc>
                  <a:txBody>
                    <a:bodyPr wrap="square"/>
                    <a:lstStyle/>
                    <a:p>
                      <a:r>
                        <a:rPr sz="1300" b="0">
                          <a:solidFill>
                            <a:srgbClr val="1F2328"/>
                          </a:solidFill>
                          <a:latin typeface="Helvetica Neue"/>
                          <a:ea typeface="Helvetica Neue"/>
                          <a:cs typeface="Helvetica Neue"/>
                        </a:rPr>
                        <a:t>5. Edges</a:t>
                      </a:r>
                    </a:p>
                  </a:txBody>
                  <a:tcPr marL="73152" marR="73152" marT="36576" marB="36576" anchor="ctr">
                    <a:solidFill>
                      <a:srgbClr val="FFFFFF"/>
                    </a:solidFill>
                  </a:tcPr>
                </a:tc>
                <a:tc>
                  <a:txBody>
                    <a:bodyPr wrap="square"/>
                    <a:lstStyle/>
                    <a:p>
                      <a:r>
                        <a:rPr sz="1300" b="0">
                          <a:solidFill>
                            <a:srgbClr val="1F2328"/>
                          </a:solidFill>
                          <a:latin typeface="Helvetica Neue"/>
                          <a:ea typeface="Helvetica Neue"/>
                          <a:cs typeface="Helvetica Neue"/>
                        </a:rPr>
                        <a:t>Every input equals its producer's output; the KV cache started as zeros</a:t>
                      </a:r>
                    </a:p>
                  </a:txBody>
                  <a:tcPr marL="73152" marR="73152" marT="36576" marB="36576" anchor="ctr">
                    <a:solidFill>
                      <a:srgbClr val="FFFFFF"/>
                    </a:solidFill>
                  </a:tcPr>
                </a:tc>
                <a:tc>
                  <a:txBody>
                    <a:bodyPr wrap="square"/>
                    <a:lstStyle/>
                    <a:p>
                      <a:r>
                        <a:rPr sz="1300" b="0">
                          <a:solidFill>
                            <a:srgbClr val="1F2328"/>
                          </a:solidFill>
                          <a:latin typeface="Helvetica Neue"/>
                          <a:ea typeface="Helvetica Neue"/>
                          <a:cs typeface="Helvetica Neue"/>
                        </a:rPr>
                        <a:t>no</a:t>
                      </a:r>
                    </a:p>
                  </a:txBody>
                  <a:tcPr marL="73152" marR="73152" marT="36576" marB="36576" anchor="ctr">
                    <a:solidFill>
                      <a:srgbClr val="FFFFFF"/>
                    </a:solidFill>
                  </a:tcPr>
                </a:tc>
              </a:tr>
              <a:tr h="502920">
                <a:tc>
                  <a:txBody>
                    <a:bodyPr wrap="square"/>
                    <a:lstStyle/>
                    <a:p>
                      <a:r>
                        <a:rPr sz="1300" b="0">
                          <a:solidFill>
                            <a:srgbClr val="1F2328"/>
                          </a:solidFill>
                          <a:latin typeface="Helvetica Neue"/>
                          <a:ea typeface="Helvetica Neue"/>
                          <a:cs typeface="Helvetica Neue"/>
                        </a:rPr>
                        <a:t>6. Logits binding</a:t>
                      </a:r>
                    </a:p>
                  </a:txBody>
                  <a:tcPr marL="73152" marR="73152" marT="36576" marB="36576" anchor="ctr">
                    <a:solidFill>
                      <a:srgbClr val="FFFFFF"/>
                    </a:solidFill>
                  </a:tcPr>
                </a:tc>
                <a:tc>
                  <a:txBody>
                    <a:bodyPr wrap="square"/>
                    <a:lstStyle/>
                    <a:p>
                      <a:r>
                        <a:rPr sz="1300" b="0">
                          <a:solidFill>
                            <a:srgbClr val="1F2328"/>
                          </a:solidFill>
                          <a:latin typeface="Helvetica Neue"/>
                          <a:ea typeface="Helvetica Neue"/>
                          <a:cs typeface="Helvetica Neue"/>
                        </a:rPr>
                        <a:t>Each graph's logits hash equals the receipt's per-token logits hash</a:t>
                      </a:r>
                    </a:p>
                  </a:txBody>
                  <a:tcPr marL="73152" marR="73152" marT="36576" marB="36576" anchor="ctr">
                    <a:solidFill>
                      <a:srgbClr val="FFFFFF"/>
                    </a:solidFill>
                  </a:tcPr>
                </a:tc>
                <a:tc>
                  <a:txBody>
                    <a:bodyPr wrap="square"/>
                    <a:lstStyle/>
                    <a:p>
                      <a:r>
                        <a:rPr sz="1300" b="0">
                          <a:solidFill>
                            <a:srgbClr val="1F2328"/>
                          </a:solidFill>
                          <a:latin typeface="Helvetica Neue"/>
                          <a:ea typeface="Helvetica Neue"/>
                          <a:cs typeface="Helvetica Neue"/>
                        </a:rPr>
                        <a:t>no</a:t>
                      </a:r>
                    </a:p>
                  </a:txBody>
                  <a:tcPr marL="73152" marR="73152" marT="36576" marB="36576" anchor="ctr">
                    <a:solidFill>
                      <a:srgbClr val="FFFFFF"/>
                    </a:solidFill>
                  </a:tcPr>
                </a:tc>
              </a:tr>
              <a:tr h="502920">
                <a:tc>
                  <a:txBody>
                    <a:bodyPr wrap="square"/>
                    <a:lstStyle/>
                    <a:p>
                      <a:r>
                        <a:rPr sz="1300" b="0">
                          <a:solidFill>
                            <a:srgbClr val="1F2328"/>
                          </a:solidFill>
                          <a:latin typeface="Helvetica Neue"/>
                          <a:ea typeface="Helvetica Neue"/>
                          <a:cs typeface="Helvetica Neue"/>
                        </a:rPr>
                        <a:t>7. Openings</a:t>
                      </a:r>
                    </a:p>
                  </a:txBody>
                  <a:tcPr marL="73152" marR="73152" marT="36576" marB="36576" anchor="ctr">
                    <a:solidFill>
                      <a:srgbClr val="FFFFFF"/>
                    </a:solidFill>
                  </a:tcPr>
                </a:tc>
                <a:tc>
                  <a:txBody>
                    <a:bodyPr wrap="square"/>
                    <a:lstStyle/>
                    <a:p>
                      <a:r>
                        <a:rPr sz="1300" b="0">
                          <a:solidFill>
                            <a:srgbClr val="1F2328"/>
                          </a:solidFill>
                          <a:latin typeface="Helvetica Neue"/>
                          <a:ea typeface="Helvetica Neue"/>
                          <a:cs typeface="Helvetica Neue"/>
                        </a:rPr>
                        <a:t>Path to root, bytes hash to the leaf, weights match the verifier's GGUF, numpy re-execution within tolerance</a:t>
                      </a:r>
                    </a:p>
                  </a:txBody>
                  <a:tcPr marL="73152" marR="73152" marT="36576" marB="36576" anchor="ctr">
                    <a:solidFill>
                      <a:srgbClr val="FFFFFF"/>
                    </a:solidFill>
                  </a:tcPr>
                </a:tc>
                <a:tc>
                  <a:txBody>
                    <a:bodyPr wrap="square"/>
                    <a:lstStyle/>
                    <a:p>
                      <a:r>
                        <a:rPr sz="1300" b="0">
                          <a:solidFill>
                            <a:srgbClr val="1F2328"/>
                          </a:solidFill>
                          <a:latin typeface="Helvetica Neue"/>
                          <a:ea typeface="Helvetica Neue"/>
                          <a:cs typeface="Helvetica Neue"/>
                        </a:rPr>
                        <a:t>yes, for k nodes</a:t>
                      </a:r>
                    </a:p>
                  </a:txBody>
                  <a:tcPr marL="73152" marR="73152" marT="36576" marB="36576" anchor="ctr">
                    <a:solidFill>
                      <a:srgbClr val="FFFFFF"/>
                    </a:solidFill>
                  </a:tcPr>
                </a:tc>
              </a:tr>
            </a:tbl>
          </a:graphicData>
        </a:graphic>
      </p:graphicFrame>
    </p:spTree>
    <p:extLst>
      <p:ext uri="{BB962C8B-B14F-4D97-AF65-F5344CB8AC3E}">
        <p14:creationId xmlns:p14="http://schemas.microsoft.com/office/powerpoint/2010/main" val="72647173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C849918-177E-4D12-A0B3-5210670E3392}"/>
              </a:ext>
            </a:extLst>
          </p:cNvPr>
          <p:cNvSpPr>
            <a:spLocks xmlns:a="http://schemas.openxmlformats.org/drawingml/2006/main" noGrp="1"/>
          </p:cNvSpPr>
          <p:nvPr/>
        </p:nvSpPr>
        <p:spPr>
          <a:xfrm xmlns:a="http://schemas.openxmlformats.org/drawingml/2006/main">
            <a:off x="640080" y="347472"/>
            <a:ext cx="10911535"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0B6E99"/>
                </a:solidFill>
                <a:latin typeface="Helvetica Neue"/>
                <a:ea typeface="Helvetica Neue"/>
                <a:cs typeface="Helvetica Neue"/>
              </a:rPr>
              <a:t>VERIFIER</a:t>
            </a:r>
          </a:p>
        </p:txBody>
      </p:sp>
      <p:sp>
        <p:nvSpPr>
          <p:cNvPr id="3" name="TextBox 2">
            <a:extLst xmlns:a="http://schemas.openxmlformats.org/drawingml/2006/main">
              <a:ext uri="{FF2B5EF4-FFF2-40B4-BE49-F238E27FC236}">
                <a16:creationId xmlns:a16="http://schemas.microsoft.com/office/drawing/2014/main" id="{EC310138-735E-47F2-AD67-A6F66C58180B}"/>
              </a:ext>
            </a:extLst>
          </p:cNvPr>
          <p:cNvSpPr>
            <a:spLocks xmlns:a="http://schemas.openxmlformats.org/drawingml/2006/main" noGrp="1"/>
          </p:cNvSpPr>
          <p:nvPr/>
        </p:nvSpPr>
        <p:spPr>
          <a:xfrm xmlns:a="http://schemas.openxmlformats.org/drawingml/2006/main">
            <a:off x="640080" y="640080"/>
            <a:ext cx="10911535"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1F2328"/>
                </a:solidFill>
                <a:latin typeface="Helvetica Neue"/>
                <a:ea typeface="Helvetica Neue"/>
                <a:cs typeface="Helvetica Neue"/>
              </a:rPr>
              <a:t>Re-execution matches the kernel that ran</a:t>
            </a:r>
          </a:p>
        </p:txBody>
      </p:sp>
      <p:sp>
        <p:nvSpPr>
          <p:cNvPr id="4" name="Rectangle 3">
            <a:extLst xmlns:a="http://schemas.openxmlformats.org/drawingml/2006/main">
              <a:ext uri="{FF2B5EF4-FFF2-40B4-BE49-F238E27FC236}">
                <a16:creationId xmlns:a16="http://schemas.microsoft.com/office/drawing/2014/main" id="{537DA78B-F23C-4560-A98B-1B1DBF573B46}"/>
              </a:ext>
            </a:extLst>
          </p:cNvPr>
          <p:cNvSpPr>
            <a:spLocks xmlns:a="http://schemas.openxmlformats.org/drawingml/2006/main" noGrp="1"/>
          </p:cNvSpPr>
          <p:nvPr/>
        </p:nvSpPr>
        <p:spPr>
          <a:xfrm xmlns:a="http://schemas.openxmlformats.org/drawingml/2006/main">
            <a:off x="640080" y="1572768"/>
            <a:ext cx="10911535" cy="12700"/>
          </a:xfrm>
          <a:prstGeom xmlns:a="http://schemas.openxmlformats.org/drawingml/2006/main" prst="rect">
            <a:avLst/>
          </a:prstGeom>
          <a:solidFill xmlns:a="http://schemas.openxmlformats.org/drawingml/2006/main">
            <a:srgbClr val="D9DE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709A1452-0F46-4154-8184-7320D43232A1}"/>
              </a:ext>
            </a:extLst>
          </p:cNvPr>
          <p:cNvSpPr>
            <a:spLocks xmlns:a="http://schemas.openxmlformats.org/drawingml/2006/main" noGrp="1"/>
          </p:cNvSpPr>
          <p:nvPr/>
        </p:nvSpPr>
        <p:spPr>
          <a:xfrm xmlns:a="http://schemas.openxmlformats.org/drawingml/2006/main">
            <a:off x="640080" y="6400800"/>
            <a:ext cx="10911535"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5F6770"/>
                </a:solidFill>
                <a:latin typeface="Helvetica Neue"/>
                <a:ea typeface="Helvetica Neue"/>
                <a:cs typeface="Helvetica Neue"/>
              </a:rPr>
              <a:t>llama-receipts, Sep 11, 2026</a:t>
            </a:r>
            <a:r>
              <a:rPr sz="1000">
                <a:solidFill>
                  <a:srgbClr val="5F6770"/>
                </a:solidFill>
                <a:latin typeface="Helvetica Neue"/>
                <a:ea typeface="Helvetica Neue"/>
                <a:cs typeface="Helvetica Neue"/>
              </a:rPr>
              <a:t>     7</a:t>
            </a:r>
          </a:p>
        </p:txBody>
      </p:sp>
      <p:sp>
        <p:nvSpPr>
          <p:cNvPr id="6" name="TextBox 5">
            <a:extLst xmlns:a="http://schemas.openxmlformats.org/drawingml/2006/main">
              <a:ext uri="{FF2B5EF4-FFF2-40B4-BE49-F238E27FC236}">
                <a16:creationId xmlns:a16="http://schemas.microsoft.com/office/drawing/2014/main" id="{34461C5C-D888-4FF2-8076-CDF713EE8C32}"/>
              </a:ext>
            </a:extLst>
          </p:cNvPr>
          <p:cNvSpPr>
            <a:spLocks xmlns:a="http://schemas.openxmlformats.org/drawingml/2006/main" noGrp="1"/>
          </p:cNvSpPr>
          <p:nvPr/>
        </p:nvSpPr>
        <p:spPr>
          <a:xfrm xmlns:a="http://schemas.openxmlformats.org/drawingml/2006/main">
            <a:off x="640080" y="1828800"/>
            <a:ext cx="6035040" cy="42976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rgbClr val="1F2328"/>
                </a:solidFill>
                <a:latin typeface="Helvetica Neue"/>
                <a:ea typeface="Helvetica Neue"/>
                <a:cs typeface="Helvetica Neue"/>
              </a:rPr>
              <a:t>Matmuls are judged against three references and the closest one counts:</a:t>
            </a:r>
          </a:p>
          <a:p xmlns:a="http://schemas.openxmlformats.org/drawingml/2006/main">
            <a:pPr lvl="1">
              <a:spcBef>
                <a:spcPts val="300"/>
              </a:spcBef>
              <a:buNone/>
            </a:pPr>
            <a:r>
              <a:rPr sz="1300" b="0">
                <a:solidFill>
                  <a:srgbClr val="5F6770"/>
                </a:solidFill>
                <a:latin typeface="Helvetica Neue"/>
                <a:ea typeface="Helvetica Neue"/>
                <a:cs typeface="Helvetica Neue"/>
              </a:rPr>
              <a:t>f32: dequantized weight times float32 activation. Metal decode kernels.</a:t>
            </a:r>
          </a:p>
          <a:p xmlns:a="http://schemas.openxmlformats.org/drawingml/2006/main">
            <a:pPr lvl="1">
              <a:spcBef>
                <a:spcPts val="300"/>
              </a:spcBef>
              <a:buNone/>
            </a:pPr>
            <a:r>
              <a:rPr sz="1300" b="0">
                <a:solidFill>
                  <a:srgbClr val="5F6770"/>
                </a:solidFill>
                <a:latin typeface="Helvetica Neue"/>
                <a:ea typeface="Helvetica Neue"/>
                <a:cs typeface="Helvetica Neue"/>
              </a:rPr>
              <a:t>f16: both operands rounded to half. Metal prefill kernels.</a:t>
            </a:r>
          </a:p>
          <a:p xmlns:a="http://schemas.openxmlformats.org/drawingml/2006/main">
            <a:pPr lvl="1">
              <a:spcBef>
                <a:spcPts val="300"/>
              </a:spcBef>
              <a:buNone/>
            </a:pPr>
            <a:r>
              <a:rPr sz="1300" b="0">
                <a:solidFill>
                  <a:srgbClr val="5F6770"/>
                </a:solidFill>
                <a:latin typeface="Helvetica Neue"/>
                <a:ea typeface="Helvetica Neue"/>
                <a:cs typeface="Helvetica Neue"/>
              </a:rPr>
              <a:t>q8k: ggml's CPU path. Activation quantized to Q8_K, then an integer dot product with the 4-bit or 6-bit weight blocks and per-sub-block scales. Reproduced exactly.</a:t>
            </a:r>
          </a:p>
          <a:p xmlns:a="http://schemas.openxmlformats.org/drawingml/2006/main">
            <a:pPr>
              <a:spcBef>
                <a:spcPts val="1000"/>
              </a:spcBef>
              <a:buNone/>
            </a:pPr>
            <a:r>
              <a:rPr sz="1600" b="0">
                <a:solidFill>
                  <a:srgbClr val="1F2328"/>
                </a:solidFill>
                <a:latin typeface="Helvetica Neue"/>
                <a:ea typeface="Helvetica Neue"/>
                <a:cs typeface="Helvetica Neue"/>
              </a:rPr>
              <a:t>The q8k path is the statement a proof system constrains, and it is what the Lean spec and the GKR circuit use.</a:t>
            </a:r>
          </a:p>
        </p:txBody>
      </p:sp>
      <p:graphicFrame>
        <p:nvGraphicFramePr>
          <p:cNvPr id="15" name="Table 6"/>
          <p:cNvGraphicFramePr/>
          <p:nvPr/>
        </p:nvGraphicFramePr>
        <p:xfrm>
          <a:off xmlns:a="http://schemas.openxmlformats.org/drawingml/2006/main" x="6949440" y="1874519"/>
          <a:ext xmlns:a="http://schemas.openxmlformats.org/drawingml/2006/main" cx="4617718" cy="2688336"/>
        </p:xfrm>
        <a:graphic xmlns:a="http://schemas.openxmlformats.org/drawingml/2006/main">
          <a:graphicData uri="http://schemas.openxmlformats.org/drawingml/2006/table">
            <a:tbl>
              <a:tblPr firstRow="1" bandRow="1">
                <a:tableStyleId>{5C22544A-7EE6-4342-B048-85BDC9FD1C3A}</a:tableStyleId>
              </a:tblPr>
              <a:tblGrid>
                <a:gridCol w="1936463"/>
                <a:gridCol w="968231"/>
                <a:gridCol w="968231"/>
                <a:gridCol w="744793"/>
              </a:tblGrid>
              <a:tr h="384048">
                <a:tc>
                  <a:txBody>
                    <a:bodyPr wrap="square"/>
                    <a:lstStyle/>
                    <a:p>
                      <a:r>
                        <a:rPr sz="1100" b="1">
                          <a:solidFill>
                            <a:srgbClr val="1F2328"/>
                          </a:solidFill>
                          <a:latin typeface="Helvetica Neue"/>
                          <a:ea typeface="Helvetica Neue"/>
                          <a:cs typeface="Helvetica Neue"/>
                        </a:rPr>
                        <a:t>Op</a:t>
                      </a:r>
                    </a:p>
                  </a:txBody>
                  <a:tcPr marL="73152" marR="73152" marT="36576" marB="36576" anchor="ctr">
                    <a:solidFill>
                      <a:srgbClr val="DCECF4"/>
                    </a:solidFill>
                  </a:tcPr>
                </a:tc>
                <a:tc>
                  <a:txBody>
                    <a:bodyPr wrap="square"/>
                    <a:lstStyle/>
                    <a:p>
                      <a:r>
                        <a:rPr sz="1100" b="1">
                          <a:solidFill>
                            <a:srgbClr val="1F2328"/>
                          </a:solidFill>
                          <a:latin typeface="Helvetica Neue"/>
                          <a:ea typeface="Helvetica Neue"/>
                          <a:cs typeface="Helvetica Neue"/>
                        </a:rPr>
                        <a:t>Metal</a:t>
                      </a:r>
                    </a:p>
                  </a:txBody>
                  <a:tcPr marL="73152" marR="73152" marT="36576" marB="36576" anchor="ctr">
                    <a:solidFill>
                      <a:srgbClr val="DCECF4"/>
                    </a:solidFill>
                  </a:tcPr>
                </a:tc>
                <a:tc>
                  <a:txBody>
                    <a:bodyPr wrap="square"/>
                    <a:lstStyle/>
                    <a:p>
                      <a:r>
                        <a:rPr sz="1100" b="1">
                          <a:solidFill>
                            <a:srgbClr val="1F2328"/>
                          </a:solidFill>
                          <a:latin typeface="Helvetica Neue"/>
                          <a:ea typeface="Helvetica Neue"/>
                          <a:cs typeface="Helvetica Neue"/>
                        </a:rPr>
                        <a:t>CPU</a:t>
                      </a:r>
                    </a:p>
                  </a:txBody>
                  <a:tcPr marL="73152" marR="73152" marT="36576" marB="36576" anchor="ctr">
                    <a:solidFill>
                      <a:srgbClr val="DCECF4"/>
                    </a:solidFill>
                  </a:tcPr>
                </a:tc>
                <a:tc>
                  <a:txBody>
                    <a:bodyPr wrap="square"/>
                    <a:lstStyle/>
                    <a:p>
                      <a:r>
                        <a:rPr sz="1100" b="1">
                          <a:solidFill>
                            <a:srgbClr val="1F2328"/>
                          </a:solidFill>
                          <a:latin typeface="Helvetica Neue"/>
                          <a:ea typeface="Helvetica Neue"/>
                          <a:cs typeface="Helvetica Neue"/>
                        </a:rPr>
                        <a:t>Limit</a:t>
                      </a:r>
                    </a:p>
                  </a:txBody>
                  <a:tcPr marL="73152" marR="73152" marT="36576" marB="36576" anchor="ctr">
                    <a:solidFill>
                      <a:srgbClr val="DCECF4"/>
                    </a:solidFill>
                  </a:tcPr>
                </a:tc>
              </a:tr>
              <a:tr h="384048">
                <a:tc>
                  <a:txBody>
                    <a:bodyPr wrap="square"/>
                    <a:lstStyle/>
                    <a:p>
                      <a:r>
                        <a:rPr sz="1100" b="0">
                          <a:solidFill>
                            <a:srgbClr val="1F2328"/>
                          </a:solidFill>
                          <a:latin typeface="Helvetica Neue"/>
                          <a:ea typeface="Helvetica Neue"/>
                          <a:cs typeface="Helvetica Neue"/>
                        </a:rPr>
                        <a:t>ADD, MUL, RMS_NORM, SWIGLU</a:t>
                      </a:r>
                    </a:p>
                  </a:txBody>
                  <a:tcPr marL="73152" marR="73152" marT="36576" marB="36576" anchor="ctr">
                    <a:solidFill>
                      <a:srgbClr val="FFFFFF"/>
                    </a:solidFill>
                  </a:tcPr>
                </a:tc>
                <a:tc>
                  <a:txBody>
                    <a:bodyPr wrap="square"/>
                    <a:lstStyle/>
                    <a:p>
                      <a:r>
                        <a:rPr sz="1100" b="0">
                          <a:solidFill>
                            <a:srgbClr val="1F2328"/>
                          </a:solidFill>
                          <a:latin typeface="Helvetica Neue"/>
                          <a:ea typeface="Helvetica Neue"/>
                          <a:cs typeface="Helvetica Neue"/>
                        </a:rPr>
                        <a:t>1e-7</a:t>
                      </a:r>
                    </a:p>
                  </a:txBody>
                  <a:tcPr marL="73152" marR="73152" marT="36576" marB="36576" anchor="ctr">
                    <a:solidFill>
                      <a:srgbClr val="FFFFFF"/>
                    </a:solidFill>
                  </a:tcPr>
                </a:tc>
                <a:tc>
                  <a:txBody>
                    <a:bodyPr wrap="square"/>
                    <a:lstStyle/>
                    <a:p>
                      <a:r>
                        <a:rPr sz="1100" b="0">
                          <a:solidFill>
                            <a:srgbClr val="1F2328"/>
                          </a:solidFill>
                          <a:latin typeface="Helvetica Neue"/>
                          <a:ea typeface="Helvetica Neue"/>
                          <a:cs typeface="Helvetica Neue"/>
                        </a:rPr>
                        <a:t>1e-7</a:t>
                      </a:r>
                    </a:p>
                  </a:txBody>
                  <a:tcPr marL="73152" marR="73152" marT="36576" marB="36576" anchor="ctr">
                    <a:solidFill>
                      <a:srgbClr val="FFFFFF"/>
                    </a:solidFill>
                  </a:tcPr>
                </a:tc>
                <a:tc>
                  <a:txBody>
                    <a:bodyPr wrap="square"/>
                    <a:lstStyle/>
                    <a:p>
                      <a:r>
                        <a:rPr sz="1100" b="0">
                          <a:solidFill>
                            <a:srgbClr val="1F2328"/>
                          </a:solidFill>
                          <a:latin typeface="Helvetica Neue"/>
                          <a:ea typeface="Helvetica Neue"/>
                          <a:cs typeface="Helvetica Neue"/>
                        </a:rPr>
                        <a:t>1e-5</a:t>
                      </a:r>
                    </a:p>
                  </a:txBody>
                  <a:tcPr marL="73152" marR="73152" marT="36576" marB="36576" anchor="ctr">
                    <a:solidFill>
                      <a:srgbClr val="FFFFFF"/>
                    </a:solidFill>
                  </a:tcPr>
                </a:tc>
              </a:tr>
              <a:tr h="384048">
                <a:tc>
                  <a:txBody>
                    <a:bodyPr wrap="square"/>
                    <a:lstStyle/>
                    <a:p>
                      <a:r>
                        <a:rPr sz="1100" b="0">
                          <a:solidFill>
                            <a:srgbClr val="1F2328"/>
                          </a:solidFill>
                          <a:latin typeface="Helvetica Neue"/>
                          <a:ea typeface="Helvetica Neue"/>
                          <a:cs typeface="Helvetica Neue"/>
                        </a:rPr>
                        <a:t>ROPE</a:t>
                      </a:r>
                    </a:p>
                  </a:txBody>
                  <a:tcPr marL="73152" marR="73152" marT="36576" marB="36576" anchor="ctr">
                    <a:solidFill>
                      <a:srgbClr val="FFFFFF"/>
                    </a:solidFill>
                  </a:tcPr>
                </a:tc>
                <a:tc>
                  <a:txBody>
                    <a:bodyPr wrap="square"/>
                    <a:lstStyle/>
                    <a:p>
                      <a:r>
                        <a:rPr sz="1100" b="0">
                          <a:solidFill>
                            <a:srgbClr val="1F2328"/>
                          </a:solidFill>
                          <a:latin typeface="Helvetica Neue"/>
                          <a:ea typeface="Helvetica Neue"/>
                          <a:cs typeface="Helvetica Neue"/>
                        </a:rPr>
                        <a:t>4e-7</a:t>
                      </a:r>
                    </a:p>
                  </a:txBody>
                  <a:tcPr marL="73152" marR="73152" marT="36576" marB="36576" anchor="ctr">
                    <a:solidFill>
                      <a:srgbClr val="FFFFFF"/>
                    </a:solidFill>
                  </a:tcPr>
                </a:tc>
                <a:tc>
                  <a:txBody>
                    <a:bodyPr wrap="square"/>
                    <a:lstStyle/>
                    <a:p>
                      <a:r>
                        <a:rPr sz="1100" b="0">
                          <a:solidFill>
                            <a:srgbClr val="1F2328"/>
                          </a:solidFill>
                          <a:latin typeface="Helvetica Neue"/>
                          <a:ea typeface="Helvetica Neue"/>
                          <a:cs typeface="Helvetica Neue"/>
                        </a:rPr>
                        <a:t>7e-7</a:t>
                      </a:r>
                    </a:p>
                  </a:txBody>
                  <a:tcPr marL="73152" marR="73152" marT="36576" marB="36576" anchor="ctr">
                    <a:solidFill>
                      <a:srgbClr val="FFFFFF"/>
                    </a:solidFill>
                  </a:tcPr>
                </a:tc>
                <a:tc>
                  <a:txBody>
                    <a:bodyPr wrap="square"/>
                    <a:lstStyle/>
                    <a:p>
                      <a:r>
                        <a:rPr sz="1100" b="0">
                          <a:solidFill>
                            <a:srgbClr val="1F2328"/>
                          </a:solidFill>
                          <a:latin typeface="Helvetica Neue"/>
                          <a:ea typeface="Helvetica Neue"/>
                          <a:cs typeface="Helvetica Neue"/>
                        </a:rPr>
                        <a:t>5e-5</a:t>
                      </a:r>
                    </a:p>
                  </a:txBody>
                  <a:tcPr marL="73152" marR="73152" marT="36576" marB="36576" anchor="ctr">
                    <a:solidFill>
                      <a:srgbClr val="FFFFFF"/>
                    </a:solidFill>
                  </a:tcPr>
                </a:tc>
              </a:tr>
              <a:tr h="384048">
                <a:tc>
                  <a:txBody>
                    <a:bodyPr wrap="square"/>
                    <a:lstStyle/>
                    <a:p>
                      <a:r>
                        <a:rPr sz="1100" b="0">
                          <a:solidFill>
                            <a:srgbClr val="1F2328"/>
                          </a:solidFill>
                          <a:latin typeface="Helvetica Neue"/>
                          <a:ea typeface="Helvetica Neue"/>
                          <a:cs typeface="Helvetica Neue"/>
                        </a:rPr>
                        <a:t>GET_ROWS, CONT, SET_ROWS</a:t>
                      </a:r>
                    </a:p>
                  </a:txBody>
                  <a:tcPr marL="73152" marR="73152" marT="36576" marB="36576" anchor="ctr">
                    <a:solidFill>
                      <a:srgbClr val="FFFFFF"/>
                    </a:solidFill>
                  </a:tcPr>
                </a:tc>
                <a:tc>
                  <a:txBody>
                    <a:bodyPr wrap="square"/>
                    <a:lstStyle/>
                    <a:p>
                      <a:r>
                        <a:rPr sz="1100" b="0">
                          <a:solidFill>
                            <a:srgbClr val="1F2328"/>
                          </a:solidFill>
                          <a:latin typeface="Helvetica Neue"/>
                          <a:ea typeface="Helvetica Neue"/>
                          <a:cs typeface="Helvetica Neue"/>
                        </a:rPr>
                        <a:t>exact</a:t>
                      </a:r>
                    </a:p>
                  </a:txBody>
                  <a:tcPr marL="73152" marR="73152" marT="36576" marB="36576" anchor="ctr">
                    <a:solidFill>
                      <a:srgbClr val="FFFFFF"/>
                    </a:solidFill>
                  </a:tcPr>
                </a:tc>
                <a:tc>
                  <a:txBody>
                    <a:bodyPr wrap="square"/>
                    <a:lstStyle/>
                    <a:p>
                      <a:r>
                        <a:rPr sz="1100" b="0">
                          <a:solidFill>
                            <a:srgbClr val="1F2328"/>
                          </a:solidFill>
                          <a:latin typeface="Helvetica Neue"/>
                          <a:ea typeface="Helvetica Neue"/>
                          <a:cs typeface="Helvetica Neue"/>
                        </a:rPr>
                        <a:t>exact</a:t>
                      </a:r>
                    </a:p>
                  </a:txBody>
                  <a:tcPr marL="73152" marR="73152" marT="36576" marB="36576" anchor="ctr">
                    <a:solidFill>
                      <a:srgbClr val="FFFFFF"/>
                    </a:solidFill>
                  </a:tcPr>
                </a:tc>
                <a:tc>
                  <a:txBody>
                    <a:bodyPr wrap="square"/>
                    <a:lstStyle/>
                    <a:p>
                      <a:r>
                        <a:rPr sz="1100" b="0">
                          <a:solidFill>
                            <a:srgbClr val="1F2328"/>
                          </a:solidFill>
                          <a:latin typeface="Helvetica Neue"/>
                          <a:ea typeface="Helvetica Neue"/>
                          <a:cs typeface="Helvetica Neue"/>
                        </a:rPr>
                        <a:t>exact</a:t>
                      </a:r>
                    </a:p>
                  </a:txBody>
                  <a:tcPr marL="73152" marR="73152" marT="36576" marB="36576" anchor="ctr">
                    <a:solidFill>
                      <a:srgbClr val="FFFFFF"/>
                    </a:solidFill>
                  </a:tcPr>
                </a:tc>
              </a:tr>
              <a:tr h="384048">
                <a:tc>
                  <a:txBody>
                    <a:bodyPr wrap="square"/>
                    <a:lstStyle/>
                    <a:p>
                      <a:r>
                        <a:rPr sz="1100" b="0">
                          <a:solidFill>
                            <a:srgbClr val="1F2328"/>
                          </a:solidFill>
                          <a:latin typeface="Helvetica Neue"/>
                          <a:ea typeface="Helvetica Neue"/>
                          <a:cs typeface="Helvetica Neue"/>
                        </a:rPr>
                        <a:t>MUL_MAT, decode</a:t>
                      </a:r>
                    </a:p>
                  </a:txBody>
                  <a:tcPr marL="73152" marR="73152" marT="36576" marB="36576" anchor="ctr">
                    <a:solidFill>
                      <a:srgbClr val="FFFFFF"/>
                    </a:solidFill>
                  </a:tcPr>
                </a:tc>
                <a:tc>
                  <a:txBody>
                    <a:bodyPr wrap="square"/>
                    <a:lstStyle/>
                    <a:p>
                      <a:r>
                        <a:rPr sz="1100" b="0">
                          <a:solidFill>
                            <a:srgbClr val="1F2328"/>
                          </a:solidFill>
                          <a:latin typeface="Helvetica Neue"/>
                          <a:ea typeface="Helvetica Neue"/>
                          <a:cs typeface="Helvetica Neue"/>
                        </a:rPr>
                        <a:t>4e-7 (f32)</a:t>
                      </a:r>
                    </a:p>
                  </a:txBody>
                  <a:tcPr marL="73152" marR="73152" marT="36576" marB="36576" anchor="ctr">
                    <a:solidFill>
                      <a:srgbClr val="FFFFFF"/>
                    </a:solidFill>
                  </a:tcPr>
                </a:tc>
                <a:tc>
                  <a:txBody>
                    <a:bodyPr wrap="square"/>
                    <a:lstStyle/>
                    <a:p>
                      <a:r>
                        <a:rPr sz="1100" b="0">
                          <a:solidFill>
                            <a:srgbClr val="1F2328"/>
                          </a:solidFill>
                          <a:latin typeface="Helvetica Neue"/>
                          <a:ea typeface="Helvetica Neue"/>
                          <a:cs typeface="Helvetica Neue"/>
                        </a:rPr>
                        <a:t>8e-7 (q8k)</a:t>
                      </a:r>
                    </a:p>
                  </a:txBody>
                  <a:tcPr marL="73152" marR="73152" marT="36576" marB="36576" anchor="ctr">
                    <a:solidFill>
                      <a:srgbClr val="FFFFFF"/>
                    </a:solidFill>
                  </a:tcPr>
                </a:tc>
                <a:tc>
                  <a:txBody>
                    <a:bodyPr wrap="square"/>
                    <a:lstStyle/>
                    <a:p>
                      <a:r>
                        <a:rPr sz="1100" b="0">
                          <a:solidFill>
                            <a:srgbClr val="1F2328"/>
                          </a:solidFill>
                          <a:latin typeface="Helvetica Neue"/>
                          <a:ea typeface="Helvetica Neue"/>
                          <a:cs typeface="Helvetica Neue"/>
                        </a:rPr>
                        <a:t>8e-3</a:t>
                      </a:r>
                    </a:p>
                  </a:txBody>
                  <a:tcPr marL="73152" marR="73152" marT="36576" marB="36576" anchor="ctr">
                    <a:solidFill>
                      <a:srgbClr val="FFFFFF"/>
                    </a:solidFill>
                  </a:tcPr>
                </a:tc>
              </a:tr>
              <a:tr h="384048">
                <a:tc>
                  <a:txBody>
                    <a:bodyPr wrap="square"/>
                    <a:lstStyle/>
                    <a:p>
                      <a:r>
                        <a:rPr sz="1100" b="0">
                          <a:solidFill>
                            <a:srgbClr val="1F2328"/>
                          </a:solidFill>
                          <a:latin typeface="Helvetica Neue"/>
                          <a:ea typeface="Helvetica Neue"/>
                          <a:cs typeface="Helvetica Neue"/>
                        </a:rPr>
                        <a:t>MUL_MAT, prefill</a:t>
                      </a:r>
                    </a:p>
                  </a:txBody>
                  <a:tcPr marL="73152" marR="73152" marT="36576" marB="36576" anchor="ctr">
                    <a:solidFill>
                      <a:srgbClr val="FFFFFF"/>
                    </a:solidFill>
                  </a:tcPr>
                </a:tc>
                <a:tc>
                  <a:txBody>
                    <a:bodyPr wrap="square"/>
                    <a:lstStyle/>
                    <a:p>
                      <a:r>
                        <a:rPr sz="1100" b="0">
                          <a:solidFill>
                            <a:srgbClr val="1F2328"/>
                          </a:solidFill>
                          <a:latin typeface="Helvetica Neue"/>
                          <a:ea typeface="Helvetica Neue"/>
                          <a:cs typeface="Helvetica Neue"/>
                        </a:rPr>
                        <a:t>2.2e-3 (f16)</a:t>
                      </a:r>
                    </a:p>
                  </a:txBody>
                  <a:tcPr marL="73152" marR="73152" marT="36576" marB="36576" anchor="ctr">
                    <a:solidFill>
                      <a:srgbClr val="FFFFFF"/>
                    </a:solidFill>
                  </a:tcPr>
                </a:tc>
                <a:tc>
                  <a:txBody>
                    <a:bodyPr wrap="square"/>
                    <a:lstStyle/>
                    <a:p>
                      <a:r>
                        <a:rPr sz="1100" b="0">
                          <a:solidFill>
                            <a:srgbClr val="1F2328"/>
                          </a:solidFill>
                          <a:latin typeface="Helvetica Neue"/>
                          <a:ea typeface="Helvetica Neue"/>
                          <a:cs typeface="Helvetica Neue"/>
                        </a:rPr>
                        <a:t>1e-7 (q8k)</a:t>
                      </a:r>
                    </a:p>
                  </a:txBody>
                  <a:tcPr marL="73152" marR="73152" marT="36576" marB="36576" anchor="ctr">
                    <a:solidFill>
                      <a:srgbClr val="FFFFFF"/>
                    </a:solidFill>
                  </a:tcPr>
                </a:tc>
                <a:tc>
                  <a:txBody>
                    <a:bodyPr wrap="square"/>
                    <a:lstStyle/>
                    <a:p>
                      <a:r>
                        <a:rPr sz="1100" b="0">
                          <a:solidFill>
                            <a:srgbClr val="1F2328"/>
                          </a:solidFill>
                          <a:latin typeface="Helvetica Neue"/>
                          <a:ea typeface="Helvetica Neue"/>
                          <a:cs typeface="Helvetica Neue"/>
                        </a:rPr>
                        <a:t>8e-3</a:t>
                      </a:r>
                    </a:p>
                  </a:txBody>
                  <a:tcPr marL="73152" marR="73152" marT="36576" marB="36576" anchor="ctr">
                    <a:solidFill>
                      <a:srgbClr val="FFFFFF"/>
                    </a:solidFill>
                  </a:tcPr>
                </a:tc>
              </a:tr>
              <a:tr h="384048">
                <a:tc>
                  <a:txBody>
                    <a:bodyPr wrap="square"/>
                    <a:lstStyle/>
                    <a:p>
                      <a:r>
                        <a:rPr sz="1100" b="0">
                          <a:solidFill>
                            <a:srgbClr val="1F2328"/>
                          </a:solidFill>
                          <a:latin typeface="Helvetica Neue"/>
                          <a:ea typeface="Helvetica Neue"/>
                          <a:cs typeface="Helvetica Neue"/>
                        </a:rPr>
                        <a:t>FLASH_ATTN_EXT</a:t>
                      </a:r>
                    </a:p>
                  </a:txBody>
                  <a:tcPr marL="73152" marR="73152" marT="36576" marB="36576" anchor="ctr">
                    <a:solidFill>
                      <a:srgbClr val="FFFFFF"/>
                    </a:solidFill>
                  </a:tcPr>
                </a:tc>
                <a:tc>
                  <a:txBody>
                    <a:bodyPr wrap="square"/>
                    <a:lstStyle/>
                    <a:p>
                      <a:r>
                        <a:rPr sz="1100" b="0">
                          <a:solidFill>
                            <a:srgbClr val="1F2328"/>
                          </a:solidFill>
                          <a:latin typeface="Helvetica Neue"/>
                          <a:ea typeface="Helvetica Neue"/>
                          <a:cs typeface="Helvetica Neue"/>
                        </a:rPr>
                        <a:t>1.9e-3</a:t>
                      </a:r>
                    </a:p>
                  </a:txBody>
                  <a:tcPr marL="73152" marR="73152" marT="36576" marB="36576" anchor="ctr">
                    <a:solidFill>
                      <a:srgbClr val="FFFFFF"/>
                    </a:solidFill>
                  </a:tcPr>
                </a:tc>
                <a:tc>
                  <a:txBody>
                    <a:bodyPr wrap="square"/>
                    <a:lstStyle/>
                    <a:p>
                      <a:r>
                        <a:rPr sz="1100" b="0">
                          <a:solidFill>
                            <a:srgbClr val="1F2328"/>
                          </a:solidFill>
                          <a:latin typeface="Helvetica Neue"/>
                          <a:ea typeface="Helvetica Neue"/>
                          <a:cs typeface="Helvetica Neue"/>
                        </a:rPr>
                        <a:t>7.5e-3</a:t>
                      </a:r>
                    </a:p>
                  </a:txBody>
                  <a:tcPr marL="73152" marR="73152" marT="36576" marB="36576" anchor="ctr">
                    <a:solidFill>
                      <a:srgbClr val="FFFFFF"/>
                    </a:solidFill>
                  </a:tcPr>
                </a:tc>
                <a:tc>
                  <a:txBody>
                    <a:bodyPr wrap="square"/>
                    <a:lstStyle/>
                    <a:p>
                      <a:r>
                        <a:rPr sz="1100" b="0">
                          <a:solidFill>
                            <a:srgbClr val="1F2328"/>
                          </a:solidFill>
                          <a:latin typeface="Helvetica Neue"/>
                          <a:ea typeface="Helvetica Neue"/>
                          <a:cs typeface="Helvetica Neue"/>
                        </a:rPr>
                        <a:t>2e-2</a:t>
                      </a:r>
                    </a:p>
                  </a:txBody>
                  <a:tcPr marL="73152" marR="73152" marT="36576" marB="36576" anchor="ctr">
                    <a:solidFill>
                      <a:srgbClr val="FFFFFF"/>
                    </a:solidFill>
                  </a:tcPr>
                </a:tc>
              </a:tr>
            </a:tbl>
          </a:graphicData>
        </a:graphic>
      </p:graphicFrame>
      <p:sp>
        <p:nvSpPr>
          <p:cNvPr id="8" name="TextBox 7">
            <a:extLst xmlns:a="http://schemas.openxmlformats.org/drawingml/2006/main">
              <a:ext uri="{FF2B5EF4-FFF2-40B4-BE49-F238E27FC236}">
                <a16:creationId xmlns:a16="http://schemas.microsoft.com/office/drawing/2014/main" id="{D6F79602-8FB4-4B52-8553-B7EC209DBB2F}"/>
              </a:ext>
            </a:extLst>
          </p:cNvPr>
          <p:cNvSpPr>
            <a:spLocks xmlns:a="http://schemas.openxmlformats.org/drawingml/2006/main" noGrp="1"/>
          </p:cNvSpPr>
          <p:nvPr/>
        </p:nvSpPr>
        <p:spPr>
          <a:xfrm xmlns:a="http://schemas.openxmlformats.org/drawingml/2006/main">
            <a:off x="6949440" y="4663440"/>
            <a:ext cx="4617720"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F6770"/>
                </a:solidFill>
                <a:latin typeface="Helvetica Neue"/>
                <a:ea typeface="Helvetica Neue"/>
                <a:cs typeface="Helvetica Neue"/>
              </a:rPr>
              <a:t>Normalized error, max|out - ref| / max|ref|, qwen2.5 1.5B Q4_K_M on an Apple M5, several hundred openings per backend.</a:t>
            </a:r>
          </a:p>
        </p:txBody>
      </p:sp>
    </p:spTree>
    <p:extLst>
      <p:ext uri="{BB962C8B-B14F-4D97-AF65-F5344CB8AC3E}">
        <p14:creationId xmlns:p14="http://schemas.microsoft.com/office/powerpoint/2010/main" val="205353240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040662E-50A3-495C-860D-76DFD66EBAA2}"/>
              </a:ext>
            </a:extLst>
          </p:cNvPr>
          <p:cNvSpPr>
            <a:spLocks xmlns:a="http://schemas.openxmlformats.org/drawingml/2006/main" noGrp="1"/>
          </p:cNvSpPr>
          <p:nvPr/>
        </p:nvSpPr>
        <p:spPr>
          <a:xfrm xmlns:a="http://schemas.openxmlformats.org/drawingml/2006/main">
            <a:off x="640080" y="347472"/>
            <a:ext cx="10911535"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0B6E99"/>
                </a:solidFill>
                <a:latin typeface="Helvetica Neue"/>
                <a:ea typeface="Helvetica Neue"/>
                <a:cs typeface="Helvetica Neue"/>
              </a:rPr>
              <a:t>RESULTS</a:t>
            </a:r>
          </a:p>
        </p:txBody>
      </p:sp>
      <p:sp>
        <p:nvSpPr>
          <p:cNvPr id="3" name="TextBox 2">
            <a:extLst xmlns:a="http://schemas.openxmlformats.org/drawingml/2006/main">
              <a:ext uri="{FF2B5EF4-FFF2-40B4-BE49-F238E27FC236}">
                <a16:creationId xmlns:a16="http://schemas.microsoft.com/office/drawing/2014/main" id="{97985125-C9CC-48F4-8675-DB784163A9B5}"/>
              </a:ext>
            </a:extLst>
          </p:cNvPr>
          <p:cNvSpPr>
            <a:spLocks xmlns:a="http://schemas.openxmlformats.org/drawingml/2006/main" noGrp="1"/>
          </p:cNvSpPr>
          <p:nvPr/>
        </p:nvSpPr>
        <p:spPr>
          <a:xfrm xmlns:a="http://schemas.openxmlformats.org/drawingml/2006/main">
            <a:off x="640080" y="640080"/>
            <a:ext cx="10911535"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1F2328"/>
                </a:solidFill>
                <a:latin typeface="Helvetica Neue"/>
                <a:ea typeface="Helvetica Neue"/>
                <a:cs typeface="Helvetica Neue"/>
              </a:rPr>
              <a:t>Results with the native tool</a:t>
            </a:r>
          </a:p>
        </p:txBody>
      </p:sp>
      <p:sp>
        <p:nvSpPr>
          <p:cNvPr id="4" name="Rectangle 3">
            <a:extLst xmlns:a="http://schemas.openxmlformats.org/drawingml/2006/main">
              <a:ext uri="{FF2B5EF4-FFF2-40B4-BE49-F238E27FC236}">
                <a16:creationId xmlns:a16="http://schemas.microsoft.com/office/drawing/2014/main" id="{FCD41EA9-B443-49E5-A416-FA2F21B4A3EA}"/>
              </a:ext>
            </a:extLst>
          </p:cNvPr>
          <p:cNvSpPr>
            <a:spLocks xmlns:a="http://schemas.openxmlformats.org/drawingml/2006/main" noGrp="1"/>
          </p:cNvSpPr>
          <p:nvPr/>
        </p:nvSpPr>
        <p:spPr>
          <a:xfrm xmlns:a="http://schemas.openxmlformats.org/drawingml/2006/main">
            <a:off x="640080" y="1572768"/>
            <a:ext cx="10911535" cy="12700"/>
          </a:xfrm>
          <a:prstGeom xmlns:a="http://schemas.openxmlformats.org/drawingml/2006/main" prst="rect">
            <a:avLst/>
          </a:prstGeom>
          <a:solidFill xmlns:a="http://schemas.openxmlformats.org/drawingml/2006/main">
            <a:srgbClr val="D9DE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07C93658-A42C-40B2-AEF7-F338F5FB30A9}"/>
              </a:ext>
            </a:extLst>
          </p:cNvPr>
          <p:cNvSpPr>
            <a:spLocks xmlns:a="http://schemas.openxmlformats.org/drawingml/2006/main" noGrp="1"/>
          </p:cNvSpPr>
          <p:nvPr/>
        </p:nvSpPr>
        <p:spPr>
          <a:xfrm xmlns:a="http://schemas.openxmlformats.org/drawingml/2006/main">
            <a:off x="640080" y="6400800"/>
            <a:ext cx="10911535"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5F6770"/>
                </a:solidFill>
                <a:latin typeface="Helvetica Neue"/>
                <a:ea typeface="Helvetica Neue"/>
                <a:cs typeface="Helvetica Neue"/>
              </a:rPr>
              <a:t>llama-receipts, Sep 11, 2026</a:t>
            </a:r>
            <a:r>
              <a:rPr sz="1000">
                <a:solidFill>
                  <a:srgbClr val="5F6770"/>
                </a:solidFill>
                <a:latin typeface="Helvetica Neue"/>
                <a:ea typeface="Helvetica Neue"/>
                <a:cs typeface="Helvetica Neue"/>
              </a:rPr>
              <a:t>     8</a:t>
            </a:r>
          </a:p>
        </p:txBody>
      </p:sp>
      <p:graphicFrame>
        <p:nvGraphicFramePr>
          <p:cNvPr id="13" name="Table 5"/>
          <p:cNvGraphicFramePr/>
          <p:nvPr/>
        </p:nvGraphicFramePr>
        <p:xfrm>
          <a:off xmlns:a="http://schemas.openxmlformats.org/drawingml/2006/main" x="640080" y="1874519"/>
          <a:ext xmlns:a="http://schemas.openxmlformats.org/drawingml/2006/main" cx="10911534" cy="3703320"/>
        </p:xfrm>
        <a:graphic xmlns:a="http://schemas.openxmlformats.org/drawingml/2006/main">
          <a:graphicData uri="http://schemas.openxmlformats.org/drawingml/2006/table">
            <a:tbl>
              <a:tblPr firstRow="1" bandRow="1">
                <a:tableStyleId>{5C22544A-7EE6-4342-B048-85BDC9FD1C3A}</a:tableStyleId>
              </a:tblPr>
              <a:tblGrid>
                <a:gridCol w="4134897"/>
                <a:gridCol w="1033724"/>
                <a:gridCol w="5742913"/>
              </a:tblGrid>
              <a:tr h="411480">
                <a:tc>
                  <a:txBody>
                    <a:bodyPr wrap="square"/>
                    <a:lstStyle/>
                    <a:p>
                      <a:r>
                        <a:rPr sz="1200" b="1">
                          <a:solidFill>
                            <a:srgbClr val="1F2328"/>
                          </a:solidFill>
                          <a:latin typeface="Helvetica Neue"/>
                          <a:ea typeface="Helvetica Neue"/>
                          <a:cs typeface="Helvetica Neue"/>
                        </a:rPr>
                        <a:t>Case</a:t>
                      </a:r>
                    </a:p>
                  </a:txBody>
                  <a:tcPr marL="73152" marR="73152" marT="36576" marB="36576" anchor="ctr">
                    <a:solidFill>
                      <a:srgbClr val="DCECF4"/>
                    </a:solidFill>
                  </a:tcPr>
                </a:tc>
                <a:tc>
                  <a:txBody>
                    <a:bodyPr wrap="square"/>
                    <a:lstStyle/>
                    <a:p>
                      <a:r>
                        <a:rPr sz="1200" b="1">
                          <a:solidFill>
                            <a:srgbClr val="1F2328"/>
                          </a:solidFill>
                          <a:latin typeface="Helvetica Neue"/>
                          <a:ea typeface="Helvetica Neue"/>
                          <a:cs typeface="Helvetica Neue"/>
                        </a:rPr>
                        <a:t>Verdict</a:t>
                      </a:r>
                    </a:p>
                  </a:txBody>
                  <a:tcPr marL="73152" marR="73152" marT="36576" marB="36576" anchor="ctr">
                    <a:solidFill>
                      <a:srgbClr val="DCECF4"/>
                    </a:solidFill>
                  </a:tcPr>
                </a:tc>
                <a:tc>
                  <a:txBody>
                    <a:bodyPr wrap="square"/>
                    <a:lstStyle/>
                    <a:p>
                      <a:r>
                        <a:rPr sz="1200" b="1">
                          <a:solidFill>
                            <a:srgbClr val="1F2328"/>
                          </a:solidFill>
                          <a:latin typeface="Helvetica Neue"/>
                          <a:ea typeface="Helvetica Neue"/>
                          <a:cs typeface="Helvetica Neue"/>
                        </a:rPr>
                        <a:t>What decided it</a:t>
                      </a:r>
                    </a:p>
                  </a:txBody>
                  <a:tcPr marL="73152" marR="73152" marT="36576" marB="36576" anchor="ctr">
                    <a:solidFill>
                      <a:srgbClr val="DCECF4"/>
                    </a:solidFill>
                  </a:tcPr>
                </a:tc>
              </a:tr>
              <a:tr h="411480">
                <a:tc>
                  <a:txBody>
                    <a:bodyPr wrap="square"/>
                    <a:lstStyle/>
                    <a:p>
                      <a:r>
                        <a:rPr sz="1200" b="0">
                          <a:solidFill>
                            <a:srgbClr val="1F2328"/>
                          </a:solidFill>
                          <a:latin typeface="Helvetica Neue"/>
                          <a:ea typeface="Helvetica Neue"/>
                          <a:cs typeface="Helvetica Neue"/>
                        </a:rPr>
                        <a:t>Honest, Metal, flash attention on</a:t>
                      </a:r>
                    </a:p>
                  </a:txBody>
                  <a:tcPr marL="73152" marR="73152" marT="36576" marB="36576" anchor="ctr">
                    <a:solidFill>
                      <a:srgbClr val="FFFFFF"/>
                    </a:solidFill>
                  </a:tcPr>
                </a:tc>
                <a:tc>
                  <a:txBody>
                    <a:bodyPr wrap="square"/>
                    <a:lstStyle/>
                    <a:p>
                      <a:r>
                        <a:rPr sz="1200" b="1">
                          <a:solidFill>
                            <a:srgbClr val="2E7D32"/>
                          </a:solidFill>
                          <a:latin typeface="Helvetica Neue"/>
                          <a:ea typeface="Helvetica Neue"/>
                          <a:cs typeface="Helvetica Neue"/>
                        </a:rPr>
                        <a:t>accept</a:t>
                      </a:r>
                    </a:p>
                  </a:txBody>
                  <a:tcPr marL="73152" marR="73152" marT="36576" marB="36576" anchor="ctr">
                    <a:solidFill>
                      <a:srgbClr val="FFFFFF"/>
                    </a:solidFill>
                  </a:tcPr>
                </a:tc>
                <a:tc>
                  <a:txBody>
                    <a:bodyPr wrap="square"/>
                    <a:lstStyle/>
                    <a:p>
                      <a:r>
                        <a:rPr sz="1200" b="0">
                          <a:solidFill>
                            <a:srgbClr val="1F2328"/>
                          </a:solidFill>
                          <a:latin typeface="Helvetica Neue"/>
                          <a:ea typeface="Helvetica Neue"/>
                          <a:cs typeface="Helvetica Neue"/>
                        </a:rPr>
                        <a:t>all checks pass, worst matmul error 1.2e-3</a:t>
                      </a:r>
                    </a:p>
                  </a:txBody>
                  <a:tcPr marL="73152" marR="73152" marT="36576" marB="36576" anchor="ctr">
                    <a:solidFill>
                      <a:srgbClr val="FFFFFF"/>
                    </a:solidFill>
                  </a:tcPr>
                </a:tc>
              </a:tr>
              <a:tr h="411480">
                <a:tc>
                  <a:txBody>
                    <a:bodyPr wrap="square"/>
                    <a:lstStyle/>
                    <a:p>
                      <a:r>
                        <a:rPr sz="1200" b="0">
                          <a:solidFill>
                            <a:srgbClr val="1F2328"/>
                          </a:solidFill>
                          <a:latin typeface="Helvetica Neue"/>
                          <a:ea typeface="Helvetica Neue"/>
                          <a:cs typeface="Helvetica Neue"/>
                        </a:rPr>
                        <a:t>Honest, CPU, 8 threads</a:t>
                      </a:r>
                    </a:p>
                  </a:txBody>
                  <a:tcPr marL="73152" marR="73152" marT="36576" marB="36576" anchor="ctr">
                    <a:solidFill>
                      <a:srgbClr val="FFFFFF"/>
                    </a:solidFill>
                  </a:tcPr>
                </a:tc>
                <a:tc>
                  <a:txBody>
                    <a:bodyPr wrap="square"/>
                    <a:lstStyle/>
                    <a:p>
                      <a:r>
                        <a:rPr sz="1200" b="1">
                          <a:solidFill>
                            <a:srgbClr val="2E7D32"/>
                          </a:solidFill>
                          <a:latin typeface="Helvetica Neue"/>
                          <a:ea typeface="Helvetica Neue"/>
                          <a:cs typeface="Helvetica Neue"/>
                        </a:rPr>
                        <a:t>accept</a:t>
                      </a:r>
                    </a:p>
                  </a:txBody>
                  <a:tcPr marL="73152" marR="73152" marT="36576" marB="36576" anchor="ctr">
                    <a:solidFill>
                      <a:srgbClr val="FFFFFF"/>
                    </a:solidFill>
                  </a:tcPr>
                </a:tc>
                <a:tc>
                  <a:txBody>
                    <a:bodyPr wrap="square"/>
                    <a:lstStyle/>
                    <a:p>
                      <a:r>
                        <a:rPr sz="1200" b="0">
                          <a:solidFill>
                            <a:srgbClr val="1F2328"/>
                          </a:solidFill>
                          <a:latin typeface="Helvetica Neue"/>
                          <a:ea typeface="Helvetica Neue"/>
                          <a:cs typeface="Helvetica Neue"/>
                        </a:rPr>
                        <a:t>matmuls match the integer reference to 5e-7</a:t>
                      </a:r>
                    </a:p>
                  </a:txBody>
                  <a:tcPr marL="73152" marR="73152" marT="36576" marB="36576" anchor="ctr">
                    <a:solidFill>
                      <a:srgbClr val="FFFFFF"/>
                    </a:solidFill>
                  </a:tcPr>
                </a:tc>
              </a:tr>
              <a:tr h="411480">
                <a:tc>
                  <a:txBody>
                    <a:bodyPr wrap="square"/>
                    <a:lstStyle/>
                    <a:p>
                      <a:r>
                        <a:rPr sz="1200" b="0">
                          <a:solidFill>
                            <a:srgbClr val="1F2328"/>
                          </a:solidFill>
                          <a:latin typeface="Helvetica Neue"/>
                          <a:ea typeface="Helvetica Neue"/>
                          <a:cs typeface="Helvetica Neue"/>
                        </a:rPr>
                        <a:t>Replay of the Metal receipt on Metal</a:t>
                      </a:r>
                    </a:p>
                  </a:txBody>
                  <a:tcPr marL="73152" marR="73152" marT="36576" marB="36576" anchor="ctr">
                    <a:solidFill>
                      <a:srgbClr val="FFFFFF"/>
                    </a:solidFill>
                  </a:tcPr>
                </a:tc>
                <a:tc>
                  <a:txBody>
                    <a:bodyPr wrap="square"/>
                    <a:lstStyle/>
                    <a:p>
                      <a:r>
                        <a:rPr sz="1200" b="1">
                          <a:solidFill>
                            <a:srgbClr val="2E7D32"/>
                          </a:solidFill>
                          <a:latin typeface="Helvetica Neue"/>
                          <a:ea typeface="Helvetica Neue"/>
                          <a:cs typeface="Helvetica Neue"/>
                        </a:rPr>
                        <a:t>accept</a:t>
                      </a:r>
                    </a:p>
                  </a:txBody>
                  <a:tcPr marL="73152" marR="73152" marT="36576" marB="36576" anchor="ctr">
                    <a:solidFill>
                      <a:srgbClr val="FFFFFF"/>
                    </a:solidFill>
                  </a:tcPr>
                </a:tc>
                <a:tc>
                  <a:txBody>
                    <a:bodyPr wrap="square"/>
                    <a:lstStyle/>
                    <a:p>
                      <a:r>
                        <a:rPr sz="1200" b="0">
                          <a:solidFill>
                            <a:srgbClr val="1F2328"/>
                          </a:solidFill>
                          <a:latin typeface="Helvetica Neue"/>
                          <a:ea typeface="Helvetica Neue"/>
                          <a:cs typeface="Helvetica Neue"/>
                        </a:rPr>
                        <a:t>bit-exact, every logits hash matches</a:t>
                      </a:r>
                    </a:p>
                  </a:txBody>
                  <a:tcPr marL="73152" marR="73152" marT="36576" marB="36576" anchor="ctr">
                    <a:solidFill>
                      <a:srgbClr val="FFFFFF"/>
                    </a:solidFill>
                  </a:tcPr>
                </a:tc>
              </a:tr>
              <a:tr h="411480">
                <a:tc>
                  <a:txBody>
                    <a:bodyPr wrap="square"/>
                    <a:lstStyle/>
                    <a:p>
                      <a:r>
                        <a:rPr sz="1200" b="0">
                          <a:solidFill>
                            <a:srgbClr val="1F2328"/>
                          </a:solidFill>
                          <a:latin typeface="Helvetica Neue"/>
                          <a:ea typeface="Helvetica Neue"/>
                          <a:cs typeface="Helvetica Neue"/>
                        </a:rPr>
                        <a:t>Replay of the Metal receipt on CPU</a:t>
                      </a:r>
                    </a:p>
                  </a:txBody>
                  <a:tcPr marL="73152" marR="73152" marT="36576" marB="36576" anchor="ctr">
                    <a:solidFill>
                      <a:srgbClr val="FFFFFF"/>
                    </a:solidFill>
                  </a:tcPr>
                </a:tc>
                <a:tc>
                  <a:txBody>
                    <a:bodyPr wrap="square"/>
                    <a:lstStyle/>
                    <a:p>
                      <a:r>
                        <a:rPr sz="1200" b="1">
                          <a:solidFill>
                            <a:srgbClr val="2E7D32"/>
                          </a:solidFill>
                          <a:latin typeface="Helvetica Neue"/>
                          <a:ea typeface="Helvetica Neue"/>
                          <a:cs typeface="Helvetica Neue"/>
                        </a:rPr>
                        <a:t>accept</a:t>
                      </a:r>
                    </a:p>
                  </a:txBody>
                  <a:tcPr marL="73152" marR="73152" marT="36576" marB="36576" anchor="ctr">
                    <a:solidFill>
                      <a:srgbClr val="FFFFFF"/>
                    </a:solidFill>
                  </a:tcPr>
                </a:tc>
                <a:tc>
                  <a:txBody>
                    <a:bodyPr wrap="square"/>
                    <a:lstStyle/>
                    <a:p>
                      <a:r>
                        <a:rPr sz="1200" b="0">
                          <a:solidFill>
                            <a:srgbClr val="1F2328"/>
                          </a:solidFill>
                          <a:latin typeface="Helvetica Neue"/>
                          <a:ea typeface="Helvetica Neue"/>
                          <a:cs typeface="Helvetica Neue"/>
                        </a:rPr>
                        <a:t>drift regime, token match 0.75, largest draw gap 0.08</a:t>
                      </a:r>
                    </a:p>
                  </a:txBody>
                  <a:tcPr marL="73152" marR="73152" marT="36576" marB="36576" anchor="ctr">
                    <a:solidFill>
                      <a:srgbClr val="FFFFFF"/>
                    </a:solidFill>
                  </a:tcPr>
                </a:tc>
              </a:tr>
              <a:tr h="411480">
                <a:tc>
                  <a:txBody>
                    <a:bodyPr wrap="square"/>
                    <a:lstStyle/>
                    <a:p>
                      <a:r>
                        <a:rPr sz="1200" b="0">
                          <a:solidFill>
                            <a:srgbClr val="1F2328"/>
                          </a:solidFill>
                          <a:latin typeface="Helvetica Neue"/>
                          <a:ea typeface="Helvetica Neue"/>
                          <a:cs typeface="Helvetica Neue"/>
                        </a:rPr>
                        <a:t>Q2_K model served, receipt claims Q4_K_M</a:t>
                      </a:r>
                    </a:p>
                  </a:txBody>
                  <a:tcPr marL="73152" marR="73152" marT="36576" marB="36576" anchor="ctr">
                    <a:solidFill>
                      <a:srgbClr val="FFFFFF"/>
                    </a:solidFill>
                  </a:tcPr>
                </a:tc>
                <a:tc>
                  <a:txBody>
                    <a:bodyPr wrap="square"/>
                    <a:lstStyle/>
                    <a:p>
                      <a:r>
                        <a:rPr sz="1200" b="1">
                          <a:solidFill>
                            <a:srgbClr val="B02A2A"/>
                          </a:solidFill>
                          <a:latin typeface="Helvetica Neue"/>
                          <a:ea typeface="Helvetica Neue"/>
                          <a:cs typeface="Helvetica Neue"/>
                        </a:rPr>
                        <a:t>reject</a:t>
                      </a:r>
                    </a:p>
                  </a:txBody>
                  <a:tcPr marL="73152" marR="73152" marT="36576" marB="36576" anchor="ctr">
                    <a:solidFill>
                      <a:srgbClr val="FFFFFF"/>
                    </a:solidFill>
                  </a:tcPr>
                </a:tc>
                <a:tc>
                  <a:txBody>
                    <a:bodyPr wrap="square"/>
                    <a:lstStyle/>
                    <a:p>
                      <a:r>
                        <a:rPr sz="1200" b="0">
                          <a:solidFill>
                            <a:srgbClr val="1F2328"/>
                          </a:solidFill>
                          <a:latin typeface="Helvetica Neue"/>
                          <a:ea typeface="Helvetica Neue"/>
                          <a:cs typeface="Helvetica Neue"/>
                        </a:rPr>
                        <a:t>8 of 8 sampled weight matmuls fail, errors 0.2 to 0.4</a:t>
                      </a:r>
                    </a:p>
                  </a:txBody>
                  <a:tcPr marL="73152" marR="73152" marT="36576" marB="36576" anchor="ctr">
                    <a:solidFill>
                      <a:srgbClr val="FFFFFF"/>
                    </a:solidFill>
                  </a:tcPr>
                </a:tc>
              </a:tr>
              <a:tr h="411480">
                <a:tc>
                  <a:txBody>
                    <a:bodyPr wrap="square"/>
                    <a:lstStyle/>
                    <a:p>
                      <a:r>
                        <a:rPr sz="1200" b="0">
                          <a:solidFill>
                            <a:srgbClr val="1F2328"/>
                          </a:solidFill>
                          <a:latin typeface="Helvetica Neue"/>
                          <a:ea typeface="Helvetica Neue"/>
                          <a:cs typeface="Helvetica Neue"/>
                        </a:rPr>
                        <a:t>Honest receipt checked against the wrong file</a:t>
                      </a:r>
                    </a:p>
                  </a:txBody>
                  <a:tcPr marL="73152" marR="73152" marT="36576" marB="36576" anchor="ctr">
                    <a:solidFill>
                      <a:srgbClr val="FFFFFF"/>
                    </a:solidFill>
                  </a:tcPr>
                </a:tc>
                <a:tc>
                  <a:txBody>
                    <a:bodyPr wrap="square"/>
                    <a:lstStyle/>
                    <a:p>
                      <a:r>
                        <a:rPr sz="1200" b="1">
                          <a:solidFill>
                            <a:srgbClr val="B02A2A"/>
                          </a:solidFill>
                          <a:latin typeface="Helvetica Neue"/>
                          <a:ea typeface="Helvetica Neue"/>
                          <a:cs typeface="Helvetica Neue"/>
                        </a:rPr>
                        <a:t>reject</a:t>
                      </a:r>
                    </a:p>
                  </a:txBody>
                  <a:tcPr marL="73152" marR="73152" marT="36576" marB="36576" anchor="ctr">
                    <a:solidFill>
                      <a:srgbClr val="FFFFFF"/>
                    </a:solidFill>
                  </a:tcPr>
                </a:tc>
                <a:tc>
                  <a:txBody>
                    <a:bodyPr wrap="square"/>
                    <a:lstStyle/>
                    <a:p>
                      <a:r>
                        <a:rPr sz="1200" b="0">
                          <a:solidFill>
                            <a:srgbClr val="1F2328"/>
                          </a:solidFill>
                          <a:latin typeface="Helvetica Neue"/>
                          <a:ea typeface="Helvetica Neue"/>
                          <a:cs typeface="Helvetica Neue"/>
                        </a:rPr>
                        <a:t>model file hash, then weight bindings</a:t>
                      </a:r>
                    </a:p>
                  </a:txBody>
                  <a:tcPr marL="73152" marR="73152" marT="36576" marB="36576" anchor="ctr">
                    <a:solidFill>
                      <a:srgbClr val="FFFFFF"/>
                    </a:solidFill>
                  </a:tcPr>
                </a:tc>
              </a:tr>
              <a:tr h="411480">
                <a:tc>
                  <a:txBody>
                    <a:bodyPr wrap="square"/>
                    <a:lstStyle/>
                    <a:p>
                      <a:r>
                        <a:rPr sz="1200" b="0">
                          <a:solidFill>
                            <a:srgbClr val="1F2328"/>
                          </a:solidFill>
                          <a:latin typeface="Helvetica Neue"/>
                          <a:ea typeface="Helvetica Neue"/>
                          <a:cs typeface="Helvetica Neue"/>
                        </a:rPr>
                        <a:t>One response token edited, commitments refreshed</a:t>
                      </a:r>
                    </a:p>
                  </a:txBody>
                  <a:tcPr marL="73152" marR="73152" marT="36576" marB="36576" anchor="ctr">
                    <a:solidFill>
                      <a:srgbClr val="FFFFFF"/>
                    </a:solidFill>
                  </a:tcPr>
                </a:tc>
                <a:tc>
                  <a:txBody>
                    <a:bodyPr wrap="square"/>
                    <a:lstStyle/>
                    <a:p>
                      <a:r>
                        <a:rPr sz="1200" b="1">
                          <a:solidFill>
                            <a:srgbClr val="B02A2A"/>
                          </a:solidFill>
                          <a:latin typeface="Helvetica Neue"/>
                          <a:ea typeface="Helvetica Neue"/>
                          <a:cs typeface="Helvetica Neue"/>
                        </a:rPr>
                        <a:t>reject</a:t>
                      </a:r>
                    </a:p>
                  </a:txBody>
                  <a:tcPr marL="73152" marR="73152" marT="36576" marB="36576" anchor="ctr">
                    <a:solidFill>
                      <a:srgbClr val="FFFFFF"/>
                    </a:solidFill>
                  </a:tcPr>
                </a:tc>
                <a:tc>
                  <a:txBody>
                    <a:bodyPr wrap="square"/>
                    <a:lstStyle/>
                    <a:p>
                      <a:r>
                        <a:rPr sz="1200" b="0">
                          <a:solidFill>
                            <a:srgbClr val="1F2328"/>
                          </a:solidFill>
                          <a:latin typeface="Helvetica Neue"/>
                          <a:ea typeface="Helvetica Neue"/>
                          <a:cs typeface="Helvetica Neue"/>
                        </a:rPr>
                        <a:t>challenge indices differ, token input mismatches</a:t>
                      </a:r>
                    </a:p>
                  </a:txBody>
                  <a:tcPr marL="73152" marR="73152" marT="36576" marB="36576" anchor="ctr">
                    <a:solidFill>
                      <a:srgbClr val="FFFFFF"/>
                    </a:solidFill>
                  </a:tcPr>
                </a:tc>
              </a:tr>
              <a:tr h="411480">
                <a:tc>
                  <a:txBody>
                    <a:bodyPr wrap="square"/>
                    <a:lstStyle/>
                    <a:p>
                      <a:r>
                        <a:rPr sz="1200" b="0">
                          <a:solidFill>
                            <a:srgbClr val="1F2328"/>
                          </a:solidFill>
                          <a:latin typeface="Helvetica Neue"/>
                          <a:ea typeface="Helvetica Neue"/>
                          <a:cs typeface="Helvetica Neue"/>
                        </a:rPr>
                        <a:t>Interactive seed, wrong seed given to the verifier</a:t>
                      </a:r>
                    </a:p>
                  </a:txBody>
                  <a:tcPr marL="73152" marR="73152" marT="36576" marB="36576" anchor="ctr">
                    <a:solidFill>
                      <a:srgbClr val="FFFFFF"/>
                    </a:solidFill>
                  </a:tcPr>
                </a:tc>
                <a:tc>
                  <a:txBody>
                    <a:bodyPr wrap="square"/>
                    <a:lstStyle/>
                    <a:p>
                      <a:r>
                        <a:rPr sz="1200" b="1">
                          <a:solidFill>
                            <a:srgbClr val="B02A2A"/>
                          </a:solidFill>
                          <a:latin typeface="Helvetica Neue"/>
                          <a:ea typeface="Helvetica Neue"/>
                          <a:cs typeface="Helvetica Neue"/>
                        </a:rPr>
                        <a:t>reject</a:t>
                      </a:r>
                    </a:p>
                  </a:txBody>
                  <a:tcPr marL="73152" marR="73152" marT="36576" marB="36576" anchor="ctr">
                    <a:solidFill>
                      <a:srgbClr val="FFFFFF"/>
                    </a:solidFill>
                  </a:tcPr>
                </a:tc>
                <a:tc>
                  <a:txBody>
                    <a:bodyPr wrap="square"/>
                    <a:lstStyle/>
                    <a:p>
                      <a:r>
                        <a:rPr sz="1200" b="0">
                          <a:solidFill>
                            <a:srgbClr val="1F2328"/>
                          </a:solidFill>
                          <a:latin typeface="Helvetica Neue"/>
                          <a:ea typeface="Helvetica Neue"/>
                          <a:cs typeface="Helvetica Neue"/>
                        </a:rPr>
                        <a:t>recorded seed is not the verifier's</a:t>
                      </a:r>
                    </a:p>
                  </a:txBody>
                  <a:tcPr marL="73152" marR="73152" marT="36576" marB="36576" anchor="ctr">
                    <a:solidFill>
                      <a:srgbClr val="FFFFFF"/>
                    </a:solidFill>
                  </a:tcPr>
                </a:tc>
              </a:tr>
            </a:tbl>
          </a:graphicData>
        </a:graphic>
      </p:graphicFrame>
      <p:sp>
        <p:nvSpPr>
          <p:cNvPr id="7" name="TextBox 6">
            <a:extLst xmlns:a="http://schemas.openxmlformats.org/drawingml/2006/main">
              <a:ext uri="{FF2B5EF4-FFF2-40B4-BE49-F238E27FC236}">
                <a16:creationId xmlns:a16="http://schemas.microsoft.com/office/drawing/2014/main" id="{91DD5D2C-C47D-449D-8DD5-CD8605A6DB70}"/>
              </a:ext>
            </a:extLst>
          </p:cNvPr>
          <p:cNvSpPr>
            <a:spLocks xmlns:a="http://schemas.openxmlformats.org/drawingml/2006/main" noGrp="1"/>
          </p:cNvSpPr>
          <p:nvPr/>
        </p:nvSpPr>
        <p:spPr>
          <a:xfrm xmlns:a="http://schemas.openxmlformats.org/drawingml/2006/main">
            <a:off x="640080" y="5669280"/>
            <a:ext cx="10911535"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F6770"/>
                </a:solidFill>
                <a:latin typeface="Helvetica Neue"/>
                <a:ea typeface="Helvetica Neue"/>
                <a:cs typeface="Helvetica Neue"/>
              </a:rPr>
              <a:t>Python prototype on the same kernels, 4 prompts, 32 tokens, 32 openings: 28 of 28 verdicts correct.</a:t>
            </a:r>
          </a:p>
        </p:txBody>
      </p:sp>
    </p:spTree>
    <p:extLst>
      <p:ext uri="{BB962C8B-B14F-4D97-AF65-F5344CB8AC3E}">
        <p14:creationId xmlns:p14="http://schemas.microsoft.com/office/powerpoint/2010/main" val="152322280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A553B7C-8191-46D9-AEF3-69359A267C9B}"/>
              </a:ext>
            </a:extLst>
          </p:cNvPr>
          <p:cNvSpPr>
            <a:spLocks xmlns:a="http://schemas.openxmlformats.org/drawingml/2006/main" noGrp="1"/>
          </p:cNvSpPr>
          <p:nvPr/>
        </p:nvSpPr>
        <p:spPr>
          <a:xfrm xmlns:a="http://schemas.openxmlformats.org/drawingml/2006/main">
            <a:off x="640080" y="347472"/>
            <a:ext cx="10911535"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0B6E99"/>
                </a:solidFill>
                <a:latin typeface="Helvetica Neue"/>
                <a:ea typeface="Helvetica Neue"/>
                <a:cs typeface="Helvetica Neue"/>
              </a:rPr>
              <a:t>SCREENSHOTS</a:t>
            </a:r>
          </a:p>
        </p:txBody>
      </p:sp>
      <p:sp>
        <p:nvSpPr>
          <p:cNvPr id="3" name="TextBox 2">
            <a:extLst xmlns:a="http://schemas.openxmlformats.org/drawingml/2006/main">
              <a:ext uri="{FF2B5EF4-FFF2-40B4-BE49-F238E27FC236}">
                <a16:creationId xmlns:a16="http://schemas.microsoft.com/office/drawing/2014/main" id="{8BBDA4F2-B1AF-473B-9F8F-5E72631B0ABC}"/>
              </a:ext>
            </a:extLst>
          </p:cNvPr>
          <p:cNvSpPr>
            <a:spLocks xmlns:a="http://schemas.openxmlformats.org/drawingml/2006/main" noGrp="1"/>
          </p:cNvSpPr>
          <p:nvPr/>
        </p:nvSpPr>
        <p:spPr>
          <a:xfrm xmlns:a="http://schemas.openxmlformats.org/drawingml/2006/main">
            <a:off x="640080" y="640080"/>
            <a:ext cx="10911535"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1F2328"/>
                </a:solidFill>
                <a:latin typeface="Helvetica Neue"/>
                <a:ea typeface="Helvetica Neue"/>
                <a:cs typeface="Helvetica Neue"/>
              </a:rPr>
              <a:t>How it looks: proving with a trace, then replaying it</a:t>
            </a:r>
          </a:p>
        </p:txBody>
      </p:sp>
      <p:sp>
        <p:nvSpPr>
          <p:cNvPr id="4" name="Rectangle 3">
            <a:extLst xmlns:a="http://schemas.openxmlformats.org/drawingml/2006/main">
              <a:ext uri="{FF2B5EF4-FFF2-40B4-BE49-F238E27FC236}">
                <a16:creationId xmlns:a16="http://schemas.microsoft.com/office/drawing/2014/main" id="{38AD3978-91FE-4EBC-9C53-C298458E3B56}"/>
              </a:ext>
            </a:extLst>
          </p:cNvPr>
          <p:cNvSpPr>
            <a:spLocks xmlns:a="http://schemas.openxmlformats.org/drawingml/2006/main" noGrp="1"/>
          </p:cNvSpPr>
          <p:nvPr/>
        </p:nvSpPr>
        <p:spPr>
          <a:xfrm xmlns:a="http://schemas.openxmlformats.org/drawingml/2006/main">
            <a:off x="640080" y="1572768"/>
            <a:ext cx="10911535" cy="12700"/>
          </a:xfrm>
          <a:prstGeom xmlns:a="http://schemas.openxmlformats.org/drawingml/2006/main" prst="rect">
            <a:avLst/>
          </a:prstGeom>
          <a:solidFill xmlns:a="http://schemas.openxmlformats.org/drawingml/2006/main">
            <a:srgbClr val="D9DE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A97BE0A6-A725-40BF-B4C4-0A4AD7942186}"/>
              </a:ext>
            </a:extLst>
          </p:cNvPr>
          <p:cNvSpPr>
            <a:spLocks xmlns:a="http://schemas.openxmlformats.org/drawingml/2006/main" noGrp="1"/>
          </p:cNvSpPr>
          <p:nvPr/>
        </p:nvSpPr>
        <p:spPr>
          <a:xfrm xmlns:a="http://schemas.openxmlformats.org/drawingml/2006/main">
            <a:off x="640080" y="6400800"/>
            <a:ext cx="10911535"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5F6770"/>
                </a:solidFill>
                <a:latin typeface="Helvetica Neue"/>
                <a:ea typeface="Helvetica Neue"/>
                <a:cs typeface="Helvetica Neue"/>
              </a:rPr>
              <a:t>llama-receipts, Sep 11, 2026</a:t>
            </a:r>
            <a:r>
              <a:rPr sz="1000">
                <a:solidFill>
                  <a:srgbClr val="5F6770"/>
                </a:solidFill>
                <a:latin typeface="Helvetica Neue"/>
                <a:ea typeface="Helvetica Neue"/>
                <a:cs typeface="Helvetica Neue"/>
              </a:rPr>
              <a:t>     9</a:t>
            </a:r>
          </a:p>
        </p:txBody>
      </p:sp>
      <p:pic>
        <p:nvPicPr>
          <p:cNvPr id="15" name="Picture 5"/>
          <p:cNvPicPr>
            <a:picLocks xmlns:a="http://schemas.openxmlformats.org/drawingml/2006/main" noChangeAspect="1"/>
          </p:cNvPicPr>
          <p:nvPr/>
        </p:nvPicPr>
        <p:blipFill>
          <a:blip xmlns:r="http://schemas.openxmlformats.org/officeDocument/2006/relationships" xmlns:a="http://schemas.openxmlformats.org/drawingml/2006/main" r:embed="R1f81f34303164de2"/>
          <a:stretch xmlns:a="http://schemas.openxmlformats.org/drawingml/2006/main">
            <a:fillRect l="0" t="0" r="0" b="0"/>
          </a:stretch>
        </p:blipFill>
        <p:spPr>
          <a:xfrm xmlns:a="http://schemas.openxmlformats.org/drawingml/2006/main">
            <a:off x="1678019" y="1783080"/>
            <a:ext cx="8835655" cy="2514600"/>
          </a:xfrm>
          <a:prstGeom xmlns:a="http://schemas.openxmlformats.org/drawingml/2006/main" prst="rect">
            <a:avLst/>
          </a:prstGeom>
        </p:spPr>
      </p:pic>
      <p:pic>
        <p:nvPicPr>
          <p:cNvPr id="16" name="Picture 6"/>
          <p:cNvPicPr>
            <a:picLocks xmlns:a="http://schemas.openxmlformats.org/drawingml/2006/main" noChangeAspect="1"/>
          </p:cNvPicPr>
          <p:nvPr/>
        </p:nvPicPr>
        <p:blipFill>
          <a:blip xmlns:r="http://schemas.openxmlformats.org/officeDocument/2006/relationships" xmlns:a="http://schemas.openxmlformats.org/drawingml/2006/main" r:embed="R9ee052bd60d244fc"/>
          <a:stretch xmlns:a="http://schemas.openxmlformats.org/drawingml/2006/main">
            <a:fillRect l="0" t="0" r="0" b="0"/>
          </a:stretch>
        </p:blipFill>
        <p:spPr>
          <a:xfrm xmlns:a="http://schemas.openxmlformats.org/drawingml/2006/main">
            <a:off x="2797816" y="4526280"/>
            <a:ext cx="6596062" cy="114300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3822E3CB-9957-492F-A5D0-41E692D6C17F}"/>
              </a:ext>
            </a:extLst>
          </p:cNvPr>
          <p:cNvSpPr>
            <a:spLocks xmlns:a="http://schemas.openxmlformats.org/drawingml/2006/main" noGrp="1"/>
          </p:cNvSpPr>
          <p:nvPr/>
        </p:nvSpPr>
        <p:spPr>
          <a:xfrm xmlns:a="http://schemas.openxmlformats.org/drawingml/2006/main">
            <a:off x="640080" y="5806440"/>
            <a:ext cx="10911535"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F6770"/>
                </a:solidFill>
                <a:latin typeface="Helvetica Neue"/>
                <a:ea typeface="Helvetica Neue"/>
                <a:cs typeface="Helvetica Neue"/>
              </a:rPr>
              <a:t>Top: the prover generates, hashes every tensor, writes the receipt, replays once for the openings and writes the trace. Bottom: replay verification on the same backend is bit-exact.</a:t>
            </a:r>
          </a:p>
        </p:txBody>
      </p:sp>
    </p:spTree>
    <p:extLst>
      <p:ext uri="{BB962C8B-B14F-4D97-AF65-F5344CB8AC3E}">
        <p14:creationId xmlns:p14="http://schemas.microsoft.com/office/powerpoint/2010/main" val="4856147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8569E48-5009-4389-B819-45D51CA9A54F}"/>
              </a:ext>
            </a:extLst>
          </p:cNvPr>
          <p:cNvSpPr>
            <a:spLocks xmlns:a="http://schemas.openxmlformats.org/drawingml/2006/main" noGrp="1"/>
          </p:cNvSpPr>
          <p:nvPr/>
        </p:nvSpPr>
        <p:spPr>
          <a:xfrm xmlns:a="http://schemas.openxmlformats.org/drawingml/2006/main">
            <a:off x="640080" y="347472"/>
            <a:ext cx="10911535"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0B6E99"/>
                </a:solidFill>
                <a:latin typeface="Helvetica Neue"/>
                <a:ea typeface="Helvetica Neue"/>
                <a:cs typeface="Helvetica Neue"/>
              </a:rPr>
              <a:t>SCREENSHOTS</a:t>
            </a:r>
          </a:p>
        </p:txBody>
      </p:sp>
      <p:sp>
        <p:nvSpPr>
          <p:cNvPr id="3" name="TextBox 2">
            <a:extLst xmlns:a="http://schemas.openxmlformats.org/drawingml/2006/main">
              <a:ext uri="{FF2B5EF4-FFF2-40B4-BE49-F238E27FC236}">
                <a16:creationId xmlns:a16="http://schemas.microsoft.com/office/drawing/2014/main" id="{1EF1FB65-0360-4289-8D0E-1FBD67546A57}"/>
              </a:ext>
            </a:extLst>
          </p:cNvPr>
          <p:cNvSpPr>
            <a:spLocks xmlns:a="http://schemas.openxmlformats.org/drawingml/2006/main" noGrp="1"/>
          </p:cNvSpPr>
          <p:nvPr/>
        </p:nvSpPr>
        <p:spPr>
          <a:xfrm xmlns:a="http://schemas.openxmlformats.org/drawingml/2006/main">
            <a:off x="640080" y="640080"/>
            <a:ext cx="10911535"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1F2328"/>
                </a:solidFill>
                <a:latin typeface="Helvetica Neue"/>
                <a:ea typeface="Helvetica Neue"/>
                <a:cs typeface="Helvetica Neue"/>
              </a:rPr>
              <a:t>How it looks: verifying</a:t>
            </a:r>
          </a:p>
        </p:txBody>
      </p:sp>
      <p:sp>
        <p:nvSpPr>
          <p:cNvPr id="4" name="Rectangle 3">
            <a:extLst xmlns:a="http://schemas.openxmlformats.org/drawingml/2006/main">
              <a:ext uri="{FF2B5EF4-FFF2-40B4-BE49-F238E27FC236}">
                <a16:creationId xmlns:a16="http://schemas.microsoft.com/office/drawing/2014/main" id="{5F6D0F6A-7C19-4A24-BE00-2FABCCDA58CF}"/>
              </a:ext>
            </a:extLst>
          </p:cNvPr>
          <p:cNvSpPr>
            <a:spLocks xmlns:a="http://schemas.openxmlformats.org/drawingml/2006/main" noGrp="1"/>
          </p:cNvSpPr>
          <p:nvPr/>
        </p:nvSpPr>
        <p:spPr>
          <a:xfrm xmlns:a="http://schemas.openxmlformats.org/drawingml/2006/main">
            <a:off x="640080" y="1572768"/>
            <a:ext cx="10911535" cy="12700"/>
          </a:xfrm>
          <a:prstGeom xmlns:a="http://schemas.openxmlformats.org/drawingml/2006/main" prst="rect">
            <a:avLst/>
          </a:prstGeom>
          <a:solidFill xmlns:a="http://schemas.openxmlformats.org/drawingml/2006/main">
            <a:srgbClr val="D9DE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B82B842F-98ED-4D6E-A577-E90354EE9744}"/>
              </a:ext>
            </a:extLst>
          </p:cNvPr>
          <p:cNvSpPr>
            <a:spLocks xmlns:a="http://schemas.openxmlformats.org/drawingml/2006/main" noGrp="1"/>
          </p:cNvSpPr>
          <p:nvPr/>
        </p:nvSpPr>
        <p:spPr>
          <a:xfrm xmlns:a="http://schemas.openxmlformats.org/drawingml/2006/main">
            <a:off x="640080" y="6400800"/>
            <a:ext cx="10911535"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5F6770"/>
                </a:solidFill>
                <a:latin typeface="Helvetica Neue"/>
                <a:ea typeface="Helvetica Neue"/>
                <a:cs typeface="Helvetica Neue"/>
              </a:rPr>
              <a:t>llama-receipts, Sep 11, 2026</a:t>
            </a:r>
            <a:r>
              <a:rPr sz="1000">
                <a:solidFill>
                  <a:srgbClr val="5F6770"/>
                </a:solidFill>
                <a:latin typeface="Helvetica Neue"/>
                <a:ea typeface="Helvetica Neue"/>
                <a:cs typeface="Helvetica Neue"/>
              </a:rPr>
              <a:t>     10</a:t>
            </a:r>
          </a:p>
        </p:txBody>
      </p:sp>
      <p:pic>
        <p:nvPicPr>
          <p:cNvPr id="13" name="Picture 5"/>
          <p:cNvPicPr>
            <a:picLocks xmlns:a="http://schemas.openxmlformats.org/drawingml/2006/main" noChangeAspect="1"/>
          </p:cNvPicPr>
          <p:nvPr/>
        </p:nvPicPr>
        <p:blipFill>
          <a:blip xmlns:r="http://schemas.openxmlformats.org/officeDocument/2006/relationships" xmlns:a="http://schemas.openxmlformats.org/drawingml/2006/main" r:embed="Rb92cc74dd0664aaa"/>
          <a:stretch xmlns:a="http://schemas.openxmlformats.org/drawingml/2006/main">
            <a:fillRect l="0" t="0" r="0" b="0"/>
          </a:stretch>
        </p:blipFill>
        <p:spPr>
          <a:xfrm xmlns:a="http://schemas.openxmlformats.org/drawingml/2006/main">
            <a:off x="954106" y="1783080"/>
            <a:ext cx="10283483" cy="3931920"/>
          </a:xfrm>
          <a:prstGeom xmlns:a="http://schemas.openxmlformats.org/drawingml/2006/main" prst="rect">
            <a:avLst/>
          </a:prstGeom>
        </p:spPr>
      </p:pic>
      <p:sp>
        <p:nvSpPr>
          <p:cNvPr id="7" name="TextBox 6">
            <a:extLst xmlns:a="http://schemas.openxmlformats.org/drawingml/2006/main">
              <a:ext uri="{FF2B5EF4-FFF2-40B4-BE49-F238E27FC236}">
                <a16:creationId xmlns:a16="http://schemas.microsoft.com/office/drawing/2014/main" id="{B56BE610-656D-4368-83E1-22FB8B91F864}"/>
              </a:ext>
            </a:extLst>
          </p:cNvPr>
          <p:cNvSpPr>
            <a:spLocks xmlns:a="http://schemas.openxmlformats.org/drawingml/2006/main" noGrp="1"/>
          </p:cNvSpPr>
          <p:nvPr/>
        </p:nvSpPr>
        <p:spPr>
          <a:xfrm xmlns:a="http://schemas.openxmlformats.org/drawingml/2006/main">
            <a:off x="640080" y="5806440"/>
            <a:ext cx="10911535"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F6770"/>
                </a:solidFill>
                <a:latin typeface="Helvetica Neue"/>
                <a:ea typeface="Helvetica Neue"/>
                <a:cs typeface="Helvetica Neue"/>
              </a:rPr>
              <a:t>The trace verifier: no model execution, fourteen checks, every one passing, 2.7 seconds on a laptop.</a:t>
            </a:r>
          </a:p>
        </p:txBody>
      </p:sp>
    </p:spTree>
    <p:extLst>
      <p:ext uri="{BB962C8B-B14F-4D97-AF65-F5344CB8AC3E}">
        <p14:creationId xmlns:p14="http://schemas.microsoft.com/office/powerpoint/2010/main" val="179843261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A5AE0BF-91DF-40EE-BB1C-DF1265A3B83F}"/>
              </a:ext>
            </a:extLst>
          </p:cNvPr>
          <p:cNvSpPr>
            <a:spLocks xmlns:a="http://schemas.openxmlformats.org/drawingml/2006/main" noGrp="1"/>
          </p:cNvSpPr>
          <p:nvPr/>
        </p:nvSpPr>
        <p:spPr>
          <a:xfrm xmlns:a="http://schemas.openxmlformats.org/drawingml/2006/main">
            <a:off x="640080" y="347472"/>
            <a:ext cx="10911535"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0B6E99"/>
                </a:solidFill>
                <a:latin typeface="Helvetica Neue"/>
                <a:ea typeface="Helvetica Neue"/>
                <a:cs typeface="Helvetica Neue"/>
              </a:rPr>
              <a:t>FORMAL SPEC</a:t>
            </a:r>
          </a:p>
        </p:txBody>
      </p:sp>
      <p:sp>
        <p:nvSpPr>
          <p:cNvPr id="3" name="TextBox 2">
            <a:extLst xmlns:a="http://schemas.openxmlformats.org/drawingml/2006/main">
              <a:ext uri="{FF2B5EF4-FFF2-40B4-BE49-F238E27FC236}">
                <a16:creationId xmlns:a16="http://schemas.microsoft.com/office/drawing/2014/main" id="{D6F65758-411D-49C1-A001-5CBD27715FB1}"/>
              </a:ext>
            </a:extLst>
          </p:cNvPr>
          <p:cNvSpPr>
            <a:spLocks xmlns:a="http://schemas.openxmlformats.org/drawingml/2006/main" noGrp="1"/>
          </p:cNvSpPr>
          <p:nvPr/>
        </p:nvSpPr>
        <p:spPr>
          <a:xfrm xmlns:a="http://schemas.openxmlformats.org/drawingml/2006/main">
            <a:off x="640080" y="640080"/>
            <a:ext cx="10911535"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1F2328"/>
                </a:solidFill>
                <a:latin typeface="Helvetica Neue"/>
                <a:ea typeface="Helvetica Neue"/>
                <a:cs typeface="Helvetica Neue"/>
              </a:rPr>
              <a:t>The specification in Lean 4: readable, provable, runnable</a:t>
            </a:r>
          </a:p>
        </p:txBody>
      </p:sp>
      <p:sp>
        <p:nvSpPr>
          <p:cNvPr id="4" name="Rectangle 3">
            <a:extLst xmlns:a="http://schemas.openxmlformats.org/drawingml/2006/main">
              <a:ext uri="{FF2B5EF4-FFF2-40B4-BE49-F238E27FC236}">
                <a16:creationId xmlns:a16="http://schemas.microsoft.com/office/drawing/2014/main" id="{83D12F45-8504-4795-B08C-94A1F5FAE7CB}"/>
              </a:ext>
            </a:extLst>
          </p:cNvPr>
          <p:cNvSpPr>
            <a:spLocks xmlns:a="http://schemas.openxmlformats.org/drawingml/2006/main" noGrp="1"/>
          </p:cNvSpPr>
          <p:nvPr/>
        </p:nvSpPr>
        <p:spPr>
          <a:xfrm xmlns:a="http://schemas.openxmlformats.org/drawingml/2006/main">
            <a:off x="640080" y="1572768"/>
            <a:ext cx="10911535" cy="12700"/>
          </a:xfrm>
          <a:prstGeom xmlns:a="http://schemas.openxmlformats.org/drawingml/2006/main" prst="rect">
            <a:avLst/>
          </a:prstGeom>
          <a:solidFill xmlns:a="http://schemas.openxmlformats.org/drawingml/2006/main">
            <a:srgbClr val="D9DE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3063E0D4-706B-480F-A9B9-D25A080D93D4}"/>
              </a:ext>
            </a:extLst>
          </p:cNvPr>
          <p:cNvSpPr>
            <a:spLocks xmlns:a="http://schemas.openxmlformats.org/drawingml/2006/main" noGrp="1"/>
          </p:cNvSpPr>
          <p:nvPr/>
        </p:nvSpPr>
        <p:spPr>
          <a:xfrm xmlns:a="http://schemas.openxmlformats.org/drawingml/2006/main">
            <a:off x="640080" y="6400800"/>
            <a:ext cx="10911535"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5F6770"/>
                </a:solidFill>
                <a:latin typeface="Helvetica Neue"/>
                <a:ea typeface="Helvetica Neue"/>
                <a:cs typeface="Helvetica Neue"/>
              </a:rPr>
              <a:t>llama-receipts, Sep 11, 2026</a:t>
            </a:r>
            <a:r>
              <a:rPr sz="1000">
                <a:solidFill>
                  <a:srgbClr val="5F6770"/>
                </a:solidFill>
                <a:latin typeface="Helvetica Neue"/>
                <a:ea typeface="Helvetica Neue"/>
                <a:cs typeface="Helvetica Neue"/>
              </a:rPr>
              <a:t>     11</a:t>
            </a:r>
          </a:p>
        </p:txBody>
      </p:sp>
      <p:sp>
        <p:nvSpPr>
          <p:cNvPr id="6" name="TextBox 5">
            <a:extLst xmlns:a="http://schemas.openxmlformats.org/drawingml/2006/main">
              <a:ext uri="{FF2B5EF4-FFF2-40B4-BE49-F238E27FC236}">
                <a16:creationId xmlns:a16="http://schemas.microsoft.com/office/drawing/2014/main" id="{746E76FF-1824-4EAA-937D-03B4FEEC0E0D}"/>
              </a:ext>
            </a:extLst>
          </p:cNvPr>
          <p:cNvSpPr>
            <a:spLocks xmlns:a="http://schemas.openxmlformats.org/drawingml/2006/main" noGrp="1"/>
          </p:cNvSpPr>
          <p:nvPr/>
        </p:nvSpPr>
        <p:spPr>
          <a:xfrm xmlns:a="http://schemas.openxmlformats.org/drawingml/2006/main">
            <a:off x="640080" y="1828800"/>
            <a:ext cx="6126480" cy="42976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500">
                <a:solidFill>
                  <a:srgbClr val="1F2328"/>
                </a:solidFill>
                <a:latin typeface="Helvetica Neue"/>
                <a:ea typeface="Helvetica Neue"/>
                <a:cs typeface="Helvetica Neue"/>
              </a:rPr>
              <a:t>Specified, as executable definitions:</a:t>
            </a:r>
          </a:p>
          <a:p xmlns:a="http://schemas.openxmlformats.org/drawingml/2006/main">
            <a:pPr lvl="1">
              <a:spcBef>
                <a:spcPts val="300"/>
              </a:spcBef>
              <a:buNone/>
            </a:pPr>
            <a:r>
              <a:rPr sz="1200" b="0">
                <a:solidFill>
                  <a:srgbClr val="5F6770"/>
                </a:solidFill>
                <a:latin typeface="Helvetica Neue"/>
                <a:ea typeface="Helvetica Neue"/>
                <a:cs typeface="Helvetica Neue"/>
              </a:rPr>
              <a:t>Byte-exact Q4_K, Q6_K and Q8_K block formats and the nibble order the kernels read.</a:t>
            </a:r>
          </a:p>
          <a:p xmlns:a="http://schemas.openxmlformats.org/drawingml/2006/main">
            <a:pPr lvl="1">
              <a:spcBef>
                <a:spcPts val="300"/>
              </a:spcBef>
              <a:buNone/>
            </a:pPr>
            <a:r>
              <a:rPr sz="1200" b="0">
                <a:solidFill>
                  <a:srgbClr val="5F6770"/>
                </a:solidFill>
                <a:latin typeface="Helvetica Neue"/>
                <a:ea typeface="Helvetica Neue"/>
                <a:cs typeface="Helvetica Neue"/>
              </a:rPr>
              <a:t>ggml's Q8_K activation quantization in Float32, step for step.</a:t>
            </a:r>
          </a:p>
          <a:p xmlns:a="http://schemas.openxmlformats.org/drawingml/2006/main">
            <a:pPr lvl="1">
              <a:spcBef>
                <a:spcPts val="300"/>
              </a:spcBef>
              <a:buNone/>
            </a:pPr>
            <a:r>
              <a:rPr sz="1200" b="0">
                <a:solidFill>
                  <a:srgbClr val="5F6770"/>
                </a:solidFill>
                <a:latin typeface="Helvetica Neue"/>
                <a:ea typeface="Helvetica Neue"/>
                <a:cs typeface="Helvetica Neue"/>
              </a:rPr>
              <a:t>The integer core s1, s2 and the Q6_K dot; the per-block float combination.</a:t>
            </a:r>
          </a:p>
          <a:p xmlns:a="http://schemas.openxmlformats.org/drawingml/2006/main">
            <a:pPr lvl="1">
              <a:spcBef>
                <a:spcPts val="300"/>
              </a:spcBef>
              <a:buNone/>
            </a:pPr>
            <a:r>
              <a:rPr sz="1200" b="0">
                <a:solidFill>
                  <a:srgbClr val="5F6770"/>
                </a:solidFill>
                <a:latin typeface="Helvetica Neue"/>
                <a:ea typeface="Helvetica Neue"/>
                <a:cs typeface="Helvetica Neue"/>
              </a:rPr>
              <a:t>Merkle tree, audit paths, Fiat-Shamir sample, canonical leaf bytes, edge and input checks. SHA-256 included.</a:t>
            </a:r>
          </a:p>
          <a:p xmlns:a="http://schemas.openxmlformats.org/drawingml/2006/main">
            <a:pPr>
              <a:spcBef>
                <a:spcPts val="1000"/>
              </a:spcBef>
              <a:buNone/>
            </a:pPr>
            <a:r>
              <a:rPr sz="1500" b="0">
                <a:solidFill>
                  <a:srgbClr val="1F2328"/>
                </a:solidFill>
                <a:latin typeface="Helvetica Neue"/>
                <a:ea typeface="Helvetica Neue"/>
                <a:cs typeface="Helvetica Neue"/>
              </a:rPr>
              <a:t>Proved, without Mathlib or sorry:</a:t>
            </a:r>
          </a:p>
          <a:p xmlns:a="http://schemas.openxmlformats.org/drawingml/2006/main">
            <a:pPr lvl="1">
              <a:spcBef>
                <a:spcPts val="300"/>
              </a:spcBef>
              <a:buNone/>
            </a:pPr>
            <a:r>
              <a:rPr sz="1200" b="0">
                <a:solidFill>
                  <a:srgbClr val="5F6770"/>
                </a:solidFill>
                <a:latin typeface="Helvetica Neue"/>
                <a:ea typeface="Helvetica Neue"/>
                <a:cs typeface="Helvetica Neue"/>
              </a:rPr>
              <a:t>Every decoded bit field is in range. Every s1 is below 2^25 and every s2 below 2,048,256, so the M31 circuit never wraps.</a:t>
            </a:r>
          </a:p>
          <a:p xmlns:a="http://schemas.openxmlformats.org/drawingml/2006/main">
            <a:pPr lvl="1">
              <a:spcBef>
                <a:spcPts val="300"/>
              </a:spcBef>
              <a:buNone/>
            </a:pPr>
            <a:r>
              <a:rPr sz="1200" b="0">
                <a:solidFill>
                  <a:srgbClr val="5F6770"/>
                </a:solidFill>
                <a:latin typeface="Helvetica Neue"/>
                <a:ea typeface="Helvetica Neue"/>
                <a:cs typeface="Helvetica Neue"/>
              </a:rPr>
              <a:t>Roots and audit paths for one- and two-leaf trees. Sampled indices are valid and never repeat.</a:t>
            </a:r>
          </a:p>
        </p:txBody>
      </p:sp>
      <p:graphicFrame>
        <p:nvGraphicFramePr>
          <p:cNvPr id="15" name="Table 6"/>
          <p:cNvGraphicFramePr/>
          <p:nvPr/>
        </p:nvGraphicFramePr>
        <p:xfrm>
          <a:off xmlns:a="http://schemas.openxmlformats.org/drawingml/2006/main" x="7040880" y="1874519"/>
          <a:ext xmlns:a="http://schemas.openxmlformats.org/drawingml/2006/main" cx="4526279" cy="2688336"/>
        </p:xfrm>
        <a:graphic xmlns:a="http://schemas.openxmlformats.org/drawingml/2006/main">
          <a:graphicData uri="http://schemas.openxmlformats.org/drawingml/2006/table">
            <a:tbl>
              <a:tblPr firstRow="1" bandRow="1">
                <a:tableStyleId>{5C22544A-7EE6-4342-B048-85BDC9FD1C3A}</a:tableStyleId>
              </a:tblPr>
              <a:tblGrid>
                <a:gridCol w="3345511"/>
                <a:gridCol w="1180768"/>
              </a:tblGrid>
              <a:tr h="384048">
                <a:tc>
                  <a:txBody>
                    <a:bodyPr wrap="square"/>
                    <a:lstStyle/>
                    <a:p>
                      <a:r>
                        <a:rPr sz="1200" b="1">
                          <a:solidFill>
                            <a:srgbClr val="1F2328"/>
                          </a:solidFill>
                          <a:latin typeface="Helvetica Neue"/>
                          <a:ea typeface="Helvetica Neue"/>
                          <a:cs typeface="Helvetica Neue"/>
                        </a:rPr>
                        <a:t>spec-check on a real CPU receipt</a:t>
                      </a:r>
                    </a:p>
                  </a:txBody>
                  <a:tcPr marL="73152" marR="73152" marT="36576" marB="36576" anchor="ctr">
                    <a:solidFill>
                      <a:srgbClr val="DCECF4"/>
                    </a:solidFill>
                  </a:tcPr>
                </a:tc>
                <a:tc>
                  <a:txBody>
                    <a:bodyPr wrap="square"/>
                    <a:lstStyle/>
                    <a:p>
                      <a:r>
                        <a:rPr sz="1200" b="1">
                          <a:solidFill>
                            <a:srgbClr val="1F2328"/>
                          </a:solidFill>
                          <a:latin typeface="Helvetica Neue"/>
                          <a:ea typeface="Helvetica Neue"/>
                          <a:cs typeface="Helvetica Neue"/>
                        </a:rPr>
                        <a:t>Result</a:t>
                      </a:r>
                    </a:p>
                  </a:txBody>
                  <a:tcPr marL="73152" marR="73152" marT="36576" marB="36576" anchor="ctr">
                    <a:solidFill>
                      <a:srgbClr val="DCECF4"/>
                    </a:solidFill>
                  </a:tcPr>
                </a:tc>
              </a:tr>
              <a:tr h="384048">
                <a:tc>
                  <a:txBody>
                    <a:bodyPr wrap="square"/>
                    <a:lstStyle/>
                    <a:p>
                      <a:r>
                        <a:rPr sz="1200" b="0">
                          <a:solidFill>
                            <a:srgbClr val="1F2328"/>
                          </a:solidFill>
                          <a:latin typeface="Helvetica Neue"/>
                          <a:ea typeface="Helvetica Neue"/>
                          <a:cs typeface="Helvetica Neue"/>
                        </a:rPr>
                        <a:t>Merkle root over 8,086 leaves</a:t>
                      </a:r>
                    </a:p>
                  </a:txBody>
                  <a:tcPr marL="73152" marR="73152" marT="36576" marB="36576" anchor="ctr">
                    <a:solidFill>
                      <a:srgbClr val="FFFFFF"/>
                    </a:solidFill>
                  </a:tcPr>
                </a:tc>
                <a:tc>
                  <a:txBody>
                    <a:bodyPr wrap="square"/>
                    <a:lstStyle/>
                    <a:p>
                      <a:r>
                        <a:rPr sz="1200" b="1">
                          <a:solidFill>
                            <a:srgbClr val="2E7D32"/>
                          </a:solidFill>
                          <a:latin typeface="Helvetica Neue"/>
                          <a:ea typeface="Helvetica Neue"/>
                          <a:cs typeface="Helvetica Neue"/>
                        </a:rPr>
                        <a:t>checked</a:t>
                      </a:r>
                    </a:p>
                  </a:txBody>
                  <a:tcPr marL="73152" marR="73152" marT="36576" marB="36576" anchor="ctr">
                    <a:solidFill>
                      <a:srgbClr val="FFFFFF"/>
                    </a:solidFill>
                  </a:tcPr>
                </a:tc>
              </a:tr>
              <a:tr h="384048">
                <a:tc>
                  <a:txBody>
                    <a:bodyPr wrap="square"/>
                    <a:lstStyle/>
                    <a:p>
                      <a:r>
                        <a:rPr sz="1200" b="0">
                          <a:solidFill>
                            <a:srgbClr val="1F2328"/>
                          </a:solidFill>
                          <a:latin typeface="Helvetica Neue"/>
                          <a:ea typeface="Helvetica Neue"/>
                          <a:cs typeface="Helvetica Neue"/>
                        </a:rPr>
                        <a:t>Topology, content and 32-opening policy</a:t>
                      </a:r>
                    </a:p>
                  </a:txBody>
                  <a:tcPr marL="73152" marR="73152" marT="36576" marB="36576" anchor="ctr">
                    <a:solidFill>
                      <a:srgbClr val="FFFFFF"/>
                    </a:solidFill>
                  </a:tcPr>
                </a:tc>
                <a:tc>
                  <a:txBody>
                    <a:bodyPr wrap="square"/>
                    <a:lstStyle/>
                    <a:p>
                      <a:r>
                        <a:rPr sz="1200" b="1">
                          <a:solidFill>
                            <a:srgbClr val="2E7D32"/>
                          </a:solidFill>
                          <a:latin typeface="Helvetica Neue"/>
                          <a:ea typeface="Helvetica Neue"/>
                          <a:cs typeface="Helvetica Neue"/>
                        </a:rPr>
                        <a:t>checked</a:t>
                      </a:r>
                    </a:p>
                  </a:txBody>
                  <a:tcPr marL="73152" marR="73152" marT="36576" marB="36576" anchor="ctr">
                    <a:solidFill>
                      <a:srgbClr val="FFFFFF"/>
                    </a:solidFill>
                  </a:tcPr>
                </a:tc>
              </a:tr>
              <a:tr h="384048">
                <a:tc>
                  <a:txBody>
                    <a:bodyPr wrap="square"/>
                    <a:lstStyle/>
                    <a:p>
                      <a:r>
                        <a:rPr sz="1200" b="0">
                          <a:solidFill>
                            <a:srgbClr val="1F2328"/>
                          </a:solidFill>
                          <a:latin typeface="Helvetica Neue"/>
                          <a:ea typeface="Helvetica Neue"/>
                          <a:cs typeface="Helvetica Neue"/>
                        </a:rPr>
                        <a:t>Data edges, 10,621</a:t>
                      </a:r>
                    </a:p>
                  </a:txBody>
                  <a:tcPr marL="73152" marR="73152" marT="36576" marB="36576" anchor="ctr">
                    <a:solidFill>
                      <a:srgbClr val="FFFFFF"/>
                    </a:solidFill>
                  </a:tcPr>
                </a:tc>
                <a:tc>
                  <a:txBody>
                    <a:bodyPr wrap="square"/>
                    <a:lstStyle/>
                    <a:p>
                      <a:r>
                        <a:rPr sz="1200" b="1">
                          <a:solidFill>
                            <a:srgbClr val="2E7D32"/>
                          </a:solidFill>
                          <a:latin typeface="Helvetica Neue"/>
                          <a:ea typeface="Helvetica Neue"/>
                          <a:cs typeface="Helvetica Neue"/>
                        </a:rPr>
                        <a:t>checked</a:t>
                      </a:r>
                    </a:p>
                  </a:txBody>
                  <a:tcPr marL="73152" marR="73152" marT="36576" marB="36576" anchor="ctr">
                    <a:solidFill>
                      <a:srgbClr val="FFFFFF"/>
                    </a:solidFill>
                  </a:tcPr>
                </a:tc>
              </a:tr>
              <a:tr h="384048">
                <a:tc>
                  <a:txBody>
                    <a:bodyPr wrap="square"/>
                    <a:lstStyle/>
                    <a:p>
                      <a:r>
                        <a:rPr sz="1200" b="0">
                          <a:solidFill>
                            <a:srgbClr val="1F2328"/>
                          </a:solidFill>
                          <a:latin typeface="Helvetica Neue"/>
                          <a:ea typeface="Helvetica Neue"/>
                          <a:cs typeface="Helvetica Neue"/>
                        </a:rPr>
                        <a:t>Token and position inputs, 13 and 728</a:t>
                      </a:r>
                    </a:p>
                  </a:txBody>
                  <a:tcPr marL="73152" marR="73152" marT="36576" marB="36576" anchor="ctr">
                    <a:solidFill>
                      <a:srgbClr val="FFFFFF"/>
                    </a:solidFill>
                  </a:tcPr>
                </a:tc>
                <a:tc>
                  <a:txBody>
                    <a:bodyPr wrap="square"/>
                    <a:lstStyle/>
                    <a:p>
                      <a:r>
                        <a:rPr sz="1200" b="1">
                          <a:solidFill>
                            <a:srgbClr val="2E7D32"/>
                          </a:solidFill>
                          <a:latin typeface="Helvetica Neue"/>
                          <a:ea typeface="Helvetica Neue"/>
                          <a:cs typeface="Helvetica Neue"/>
                        </a:rPr>
                        <a:t>checked</a:t>
                      </a:r>
                    </a:p>
                  </a:txBody>
                  <a:tcPr marL="73152" marR="73152" marT="36576" marB="36576" anchor="ctr">
                    <a:solidFill>
                      <a:srgbClr val="FFFFFF"/>
                    </a:solidFill>
                  </a:tcPr>
                </a:tc>
              </a:tr>
              <a:tr h="384048">
                <a:tc>
                  <a:txBody>
                    <a:bodyPr wrap="square"/>
                    <a:lstStyle/>
                    <a:p>
                      <a:r>
                        <a:rPr sz="1200" b="0">
                          <a:solidFill>
                            <a:srgbClr val="1F2328"/>
                          </a:solidFill>
                          <a:latin typeface="Helvetica Neue"/>
                          <a:ea typeface="Helvetica Neue"/>
                          <a:cs typeface="Helvetica Neue"/>
                        </a:rPr>
                        <a:t>Q8_K quants, scale bits, s1, s2, Q6_K dot</a:t>
                      </a:r>
                    </a:p>
                  </a:txBody>
                  <a:tcPr marL="73152" marR="73152" marT="36576" marB="36576" anchor="ctr">
                    <a:solidFill>
                      <a:srgbClr val="FFFFFF"/>
                    </a:solidFill>
                  </a:tcPr>
                </a:tc>
                <a:tc>
                  <a:txBody>
                    <a:bodyPr wrap="square"/>
                    <a:lstStyle/>
                    <a:p>
                      <a:r>
                        <a:rPr sz="1200" b="1">
                          <a:solidFill>
                            <a:srgbClr val="2E7D32"/>
                          </a:solidFill>
                          <a:latin typeface="Helvetica Neue"/>
                          <a:ea typeface="Helvetica Neue"/>
                          <a:cs typeface="Helvetica Neue"/>
                        </a:rPr>
                        <a:t>checked</a:t>
                      </a:r>
                    </a:p>
                  </a:txBody>
                  <a:tcPr marL="73152" marR="73152" marT="36576" marB="36576" anchor="ctr">
                    <a:solidFill>
                      <a:srgbClr val="FFFFFF"/>
                    </a:solidFill>
                  </a:tcPr>
                </a:tc>
              </a:tr>
              <a:tr h="384048">
                <a:tc>
                  <a:txBody>
                    <a:bodyPr wrap="square"/>
                    <a:lstStyle/>
                    <a:p>
                      <a:r>
                        <a:rPr sz="1200" b="0">
                          <a:solidFill>
                            <a:srgbClr val="1F2328"/>
                          </a:solidFill>
                          <a:latin typeface="Helvetica Neue"/>
                          <a:ea typeface="Helvetica Neue"/>
                          <a:cs typeface="Helvetica Neue"/>
                        </a:rPr>
                        <a:t>Row value in Float vs float64 reference</a:t>
                      </a:r>
                    </a:p>
                  </a:txBody>
                  <a:tcPr marL="73152" marR="73152" marT="36576" marB="36576" anchor="ctr">
                    <a:solidFill>
                      <a:srgbClr val="FFFFFF"/>
                    </a:solidFill>
                  </a:tcPr>
                </a:tc>
                <a:tc>
                  <a:txBody>
                    <a:bodyPr wrap="square"/>
                    <a:lstStyle/>
                    <a:p>
                      <a:r>
                        <a:rPr sz="1200" b="1">
                          <a:solidFill>
                            <a:srgbClr val="2E7D32"/>
                          </a:solidFill>
                          <a:latin typeface="Helvetica Neue"/>
                          <a:ea typeface="Helvetica Neue"/>
                          <a:cs typeface="Helvetica Neue"/>
                        </a:rPr>
                        <a:t>checked</a:t>
                      </a:r>
                    </a:p>
                  </a:txBody>
                  <a:tcPr marL="73152" marR="73152" marT="36576" marB="36576" anchor="ctr">
                    <a:solidFill>
                      <a:srgbClr val="FFFFFF"/>
                    </a:solidFill>
                  </a:tcPr>
                </a:tc>
              </a:tr>
            </a:tbl>
          </a:graphicData>
        </a:graphic>
      </p:graphicFrame>
      <p:sp>
        <p:nvSpPr>
          <p:cNvPr id="8" name="TextBox 7">
            <a:extLst xmlns:a="http://schemas.openxmlformats.org/drawingml/2006/main">
              <a:ext uri="{FF2B5EF4-FFF2-40B4-BE49-F238E27FC236}">
                <a16:creationId xmlns:a16="http://schemas.microsoft.com/office/drawing/2014/main" id="{B5A39D2A-8797-4F54-94C8-6EBDE2B2D56D}"/>
              </a:ext>
            </a:extLst>
          </p:cNvPr>
          <p:cNvSpPr>
            <a:spLocks xmlns:a="http://schemas.openxmlformats.org/drawingml/2006/main" noGrp="1"/>
          </p:cNvSpPr>
          <p:nvPr/>
        </p:nvSpPr>
        <p:spPr>
          <a:xfrm xmlns:a="http://schemas.openxmlformats.org/drawingml/2006/main">
            <a:off x="7040880" y="4709160"/>
            <a:ext cx="4526280"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F6770"/>
                </a:solidFill>
                <a:latin typeface="Helvetica Neue"/>
                <a:ea typeface="Helvetica Neue"/>
                <a:cs typeface="Helvetica Neue"/>
              </a:rPr>
              <a:t>The checker recomputes a real trace in under half a second and agrees with the C++ prover exactly. Stated as the next target: the (1 - f)^k sampling bound.</a:t>
            </a:r>
          </a:p>
        </p:txBody>
      </p:sp>
    </p:spTree>
    <p:extLst>
      <p:ext uri="{BB962C8B-B14F-4D97-AF65-F5344CB8AC3E}">
        <p14:creationId xmlns:p14="http://schemas.microsoft.com/office/powerpoint/2010/main" val="123846431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C8C8DFD-4C8D-4743-A74A-D62A5E97DA4C}"/>
              </a:ext>
            </a:extLst>
          </p:cNvPr>
          <p:cNvSpPr>
            <a:spLocks xmlns:a="http://schemas.openxmlformats.org/drawingml/2006/main" noGrp="1"/>
          </p:cNvSpPr>
          <p:nvPr/>
        </p:nvSpPr>
        <p:spPr>
          <a:xfrm xmlns:a="http://schemas.openxmlformats.org/drawingml/2006/main">
            <a:off x="640080" y="347472"/>
            <a:ext cx="10911535"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0B6E99"/>
                </a:solidFill>
                <a:latin typeface="Helvetica Neue"/>
                <a:ea typeface="Helvetica Neue"/>
                <a:cs typeface="Helvetica Neue"/>
              </a:rPr>
              <a:t>SCREENSHOTS</a:t>
            </a:r>
          </a:p>
        </p:txBody>
      </p:sp>
      <p:sp>
        <p:nvSpPr>
          <p:cNvPr id="3" name="TextBox 2">
            <a:extLst xmlns:a="http://schemas.openxmlformats.org/drawingml/2006/main">
              <a:ext uri="{FF2B5EF4-FFF2-40B4-BE49-F238E27FC236}">
                <a16:creationId xmlns:a16="http://schemas.microsoft.com/office/drawing/2014/main" id="{10FEB74D-6141-4726-83A0-2BF41AAA97D5}"/>
              </a:ext>
            </a:extLst>
          </p:cNvPr>
          <p:cNvSpPr>
            <a:spLocks xmlns:a="http://schemas.openxmlformats.org/drawingml/2006/main" noGrp="1"/>
          </p:cNvSpPr>
          <p:nvPr/>
        </p:nvSpPr>
        <p:spPr>
          <a:xfrm xmlns:a="http://schemas.openxmlformats.org/drawingml/2006/main">
            <a:off x="640080" y="640080"/>
            <a:ext cx="10911535"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1F2328"/>
                </a:solidFill>
                <a:latin typeface="Helvetica Neue"/>
                <a:ea typeface="Helvetica Neue"/>
                <a:cs typeface="Helvetica Neue"/>
              </a:rPr>
              <a:t>How it looks: the specification in Lean</a:t>
            </a:r>
          </a:p>
        </p:txBody>
      </p:sp>
      <p:sp>
        <p:nvSpPr>
          <p:cNvPr id="4" name="Rectangle 3">
            <a:extLst xmlns:a="http://schemas.openxmlformats.org/drawingml/2006/main">
              <a:ext uri="{FF2B5EF4-FFF2-40B4-BE49-F238E27FC236}">
                <a16:creationId xmlns:a16="http://schemas.microsoft.com/office/drawing/2014/main" id="{3B17218F-3C2B-4A97-953A-79F88EEC83B5}"/>
              </a:ext>
            </a:extLst>
          </p:cNvPr>
          <p:cNvSpPr>
            <a:spLocks xmlns:a="http://schemas.openxmlformats.org/drawingml/2006/main" noGrp="1"/>
          </p:cNvSpPr>
          <p:nvPr/>
        </p:nvSpPr>
        <p:spPr>
          <a:xfrm xmlns:a="http://schemas.openxmlformats.org/drawingml/2006/main">
            <a:off x="640080" y="1572768"/>
            <a:ext cx="10911535" cy="12700"/>
          </a:xfrm>
          <a:prstGeom xmlns:a="http://schemas.openxmlformats.org/drawingml/2006/main" prst="rect">
            <a:avLst/>
          </a:prstGeom>
          <a:solidFill xmlns:a="http://schemas.openxmlformats.org/drawingml/2006/main">
            <a:srgbClr val="D9DE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B4C62733-7EEF-4892-987F-EDCB3BD2D002}"/>
              </a:ext>
            </a:extLst>
          </p:cNvPr>
          <p:cNvSpPr>
            <a:spLocks xmlns:a="http://schemas.openxmlformats.org/drawingml/2006/main" noGrp="1"/>
          </p:cNvSpPr>
          <p:nvPr/>
        </p:nvSpPr>
        <p:spPr>
          <a:xfrm xmlns:a="http://schemas.openxmlformats.org/drawingml/2006/main">
            <a:off x="640080" y="6400800"/>
            <a:ext cx="10911535"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5F6770"/>
                </a:solidFill>
                <a:latin typeface="Helvetica Neue"/>
                <a:ea typeface="Helvetica Neue"/>
                <a:cs typeface="Helvetica Neue"/>
              </a:rPr>
              <a:t>llama-receipts, Sep 11, 2026</a:t>
            </a:r>
            <a:r>
              <a:rPr sz="1000">
                <a:solidFill>
                  <a:srgbClr val="5F6770"/>
                </a:solidFill>
                <a:latin typeface="Helvetica Neue"/>
                <a:ea typeface="Helvetica Neue"/>
                <a:cs typeface="Helvetica Neue"/>
              </a:rPr>
              <a:t>     12</a:t>
            </a:r>
          </a:p>
        </p:txBody>
      </p:sp>
      <p:pic>
        <p:nvPicPr>
          <p:cNvPr id="13" name="Picture 5"/>
          <p:cNvPicPr>
            <a:picLocks xmlns:a="http://schemas.openxmlformats.org/drawingml/2006/main" noChangeAspect="1"/>
          </p:cNvPicPr>
          <p:nvPr/>
        </p:nvPicPr>
        <p:blipFill>
          <a:blip xmlns:r="http://schemas.openxmlformats.org/officeDocument/2006/relationships" xmlns:a="http://schemas.openxmlformats.org/drawingml/2006/main" r:embed="Rd9f5d745ee6d4c4d"/>
          <a:stretch xmlns:a="http://schemas.openxmlformats.org/drawingml/2006/main">
            <a:fillRect l="0" t="0" r="0" b="0"/>
          </a:stretch>
        </p:blipFill>
        <p:spPr>
          <a:xfrm xmlns:a="http://schemas.openxmlformats.org/drawingml/2006/main">
            <a:off x="1267398" y="1783080"/>
            <a:ext cx="9656897" cy="3931920"/>
          </a:xfrm>
          <a:prstGeom xmlns:a="http://schemas.openxmlformats.org/drawingml/2006/main" prst="rect">
            <a:avLst/>
          </a:prstGeom>
        </p:spPr>
      </p:pic>
      <p:sp>
        <p:nvSpPr>
          <p:cNvPr id="7" name="TextBox 6">
            <a:extLst xmlns:a="http://schemas.openxmlformats.org/drawingml/2006/main">
              <a:ext uri="{FF2B5EF4-FFF2-40B4-BE49-F238E27FC236}">
                <a16:creationId xmlns:a16="http://schemas.microsoft.com/office/drawing/2014/main" id="{599E0659-DA2D-4477-85FA-18437BBC3060}"/>
              </a:ext>
            </a:extLst>
          </p:cNvPr>
          <p:cNvSpPr>
            <a:spLocks xmlns:a="http://schemas.openxmlformats.org/drawingml/2006/main" noGrp="1"/>
          </p:cNvSpPr>
          <p:nvPr/>
        </p:nvSpPr>
        <p:spPr>
          <a:xfrm xmlns:a="http://schemas.openxmlformats.org/drawingml/2006/main">
            <a:off x="640080" y="5806440"/>
            <a:ext cx="10911535"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F6770"/>
                </a:solidFill>
                <a:latin typeface="Helvetica Neue"/>
                <a:ea typeface="Helvetica Neue"/>
                <a:cs typeface="Helvetica Neue"/>
              </a:rPr>
              <a:t>The integer sum s1 as Lean defines it, and the machine-checked theorem that every s1 stays below 2^25 in magnitude, which is what lets the proof circuit use Mersenne-31 field arithmetic as plain integers.</a:t>
            </a:r>
          </a:p>
        </p:txBody>
      </p:sp>
    </p:spTree>
    <p:extLst>
      <p:ext uri="{BB962C8B-B14F-4D97-AF65-F5344CB8AC3E}">
        <p14:creationId xmlns:p14="http://schemas.microsoft.com/office/powerpoint/2010/main" val="74693634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C903952-4439-47F6-B800-00DFF6426B2F}"/>
              </a:ext>
            </a:extLst>
          </p:cNvPr>
          <p:cNvSpPr>
            <a:spLocks xmlns:a="http://schemas.openxmlformats.org/drawingml/2006/main" noGrp="1"/>
          </p:cNvSpPr>
          <p:nvPr/>
        </p:nvSpPr>
        <p:spPr>
          <a:xfrm xmlns:a="http://schemas.openxmlformats.org/drawingml/2006/main">
            <a:off x="640080" y="347472"/>
            <a:ext cx="10911535"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0B6E99"/>
                </a:solidFill>
                <a:latin typeface="Helvetica Neue"/>
                <a:ea typeface="Helvetica Neue"/>
                <a:cs typeface="Helvetica Neue"/>
              </a:rPr>
              <a:t>SCREENSHOTS</a:t>
            </a:r>
          </a:p>
        </p:txBody>
      </p:sp>
      <p:sp>
        <p:nvSpPr>
          <p:cNvPr id="3" name="TextBox 2">
            <a:extLst xmlns:a="http://schemas.openxmlformats.org/drawingml/2006/main">
              <a:ext uri="{FF2B5EF4-FFF2-40B4-BE49-F238E27FC236}">
                <a16:creationId xmlns:a16="http://schemas.microsoft.com/office/drawing/2014/main" id="{61786A10-6275-4C0D-BEEA-48A647A07079}"/>
              </a:ext>
            </a:extLst>
          </p:cNvPr>
          <p:cNvSpPr>
            <a:spLocks xmlns:a="http://schemas.openxmlformats.org/drawingml/2006/main" noGrp="1"/>
          </p:cNvSpPr>
          <p:nvPr/>
        </p:nvSpPr>
        <p:spPr>
          <a:xfrm xmlns:a="http://schemas.openxmlformats.org/drawingml/2006/main">
            <a:off x="640080" y="640080"/>
            <a:ext cx="10911535"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1F2328"/>
                </a:solidFill>
                <a:latin typeface="Helvetica Neue"/>
                <a:ea typeface="Helvetica Neue"/>
                <a:cs typeface="Helvetica Neue"/>
              </a:rPr>
              <a:t>How it looks: the spec checked against a real trace</a:t>
            </a:r>
          </a:p>
        </p:txBody>
      </p:sp>
      <p:sp>
        <p:nvSpPr>
          <p:cNvPr id="4" name="Rectangle 3">
            <a:extLst xmlns:a="http://schemas.openxmlformats.org/drawingml/2006/main">
              <a:ext uri="{FF2B5EF4-FFF2-40B4-BE49-F238E27FC236}">
                <a16:creationId xmlns:a16="http://schemas.microsoft.com/office/drawing/2014/main" id="{AC0B52E4-E417-4AB7-A3EE-8EF0B1C59CA4}"/>
              </a:ext>
            </a:extLst>
          </p:cNvPr>
          <p:cNvSpPr>
            <a:spLocks xmlns:a="http://schemas.openxmlformats.org/drawingml/2006/main" noGrp="1"/>
          </p:cNvSpPr>
          <p:nvPr/>
        </p:nvSpPr>
        <p:spPr>
          <a:xfrm xmlns:a="http://schemas.openxmlformats.org/drawingml/2006/main">
            <a:off x="640080" y="1572768"/>
            <a:ext cx="10911535" cy="12700"/>
          </a:xfrm>
          <a:prstGeom xmlns:a="http://schemas.openxmlformats.org/drawingml/2006/main" prst="rect">
            <a:avLst/>
          </a:prstGeom>
          <a:solidFill xmlns:a="http://schemas.openxmlformats.org/drawingml/2006/main">
            <a:srgbClr val="D9DE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0B7978D4-14E3-4F5F-8388-F8A108E1590C}"/>
              </a:ext>
            </a:extLst>
          </p:cNvPr>
          <p:cNvSpPr>
            <a:spLocks xmlns:a="http://schemas.openxmlformats.org/drawingml/2006/main" noGrp="1"/>
          </p:cNvSpPr>
          <p:nvPr/>
        </p:nvSpPr>
        <p:spPr>
          <a:xfrm xmlns:a="http://schemas.openxmlformats.org/drawingml/2006/main">
            <a:off x="640080" y="6400800"/>
            <a:ext cx="10911535"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5F6770"/>
                </a:solidFill>
                <a:latin typeface="Helvetica Neue"/>
                <a:ea typeface="Helvetica Neue"/>
                <a:cs typeface="Helvetica Neue"/>
              </a:rPr>
              <a:t>llama-receipts, Sep 11, 2026</a:t>
            </a:r>
            <a:r>
              <a:rPr sz="1000">
                <a:solidFill>
                  <a:srgbClr val="5F6770"/>
                </a:solidFill>
                <a:latin typeface="Helvetica Neue"/>
                <a:ea typeface="Helvetica Neue"/>
                <a:cs typeface="Helvetica Neue"/>
              </a:rPr>
              <a:t>     13</a:t>
            </a:r>
          </a:p>
        </p:txBody>
      </p:sp>
      <p:pic>
        <p:nvPicPr>
          <p:cNvPr id="13" name="Picture 5"/>
          <p:cNvPicPr>
            <a:picLocks xmlns:a="http://schemas.openxmlformats.org/drawingml/2006/main" noChangeAspect="1"/>
          </p:cNvPicPr>
          <p:nvPr/>
        </p:nvPicPr>
        <p:blipFill>
          <a:blip xmlns:r="http://schemas.openxmlformats.org/officeDocument/2006/relationships" xmlns:a="http://schemas.openxmlformats.org/drawingml/2006/main" r:embed="Rd6e3731db1fd41b1"/>
          <a:stretch xmlns:a="http://schemas.openxmlformats.org/drawingml/2006/main">
            <a:fillRect l="0" t="0" r="0" b="0"/>
          </a:stretch>
        </p:blipFill>
        <p:spPr>
          <a:xfrm xmlns:a="http://schemas.openxmlformats.org/drawingml/2006/main">
            <a:off x="1781362" y="1783080"/>
            <a:ext cx="8628970" cy="3931920"/>
          </a:xfrm>
          <a:prstGeom xmlns:a="http://schemas.openxmlformats.org/drawingml/2006/main" prst="rect">
            <a:avLst/>
          </a:prstGeom>
        </p:spPr>
      </p:pic>
      <p:sp>
        <p:nvSpPr>
          <p:cNvPr id="7" name="TextBox 6">
            <a:extLst xmlns:a="http://schemas.openxmlformats.org/drawingml/2006/main">
              <a:ext uri="{FF2B5EF4-FFF2-40B4-BE49-F238E27FC236}">
                <a16:creationId xmlns:a16="http://schemas.microsoft.com/office/drawing/2014/main" id="{B38680D2-6746-4E68-B44E-9BEB103A6E66}"/>
              </a:ext>
            </a:extLst>
          </p:cNvPr>
          <p:cNvSpPr>
            <a:spLocks xmlns:a="http://schemas.openxmlformats.org/drawingml/2006/main" noGrp="1"/>
          </p:cNvSpPr>
          <p:nvPr/>
        </p:nvSpPr>
        <p:spPr>
          <a:xfrm xmlns:a="http://schemas.openxmlformats.org/drawingml/2006/main">
            <a:off x="640080" y="5806440"/>
            <a:ext cx="10911535"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F6770"/>
                </a:solidFill>
                <a:latin typeface="Helvetica Neue"/>
                <a:ea typeface="Helvetica Neue"/>
                <a:cs typeface="Helvetica Neue"/>
              </a:rPr>
              <a:t>The Lean checker recomputes the root, the challenge, all edges and the token and position inputs of a real trace, then reproduces the Q8_K quants, scales, integer sums and row values on vectors from the GGUF.</a:t>
            </a:r>
          </a:p>
        </p:txBody>
      </p:sp>
    </p:spTree>
    <p:extLst>
      <p:ext uri="{BB962C8B-B14F-4D97-AF65-F5344CB8AC3E}">
        <p14:creationId xmlns:p14="http://schemas.microsoft.com/office/powerpoint/2010/main" val="112210158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C95634D-9D08-49CC-A350-14CFE77E0939}"/>
              </a:ext>
            </a:extLst>
          </p:cNvPr>
          <p:cNvSpPr>
            <a:spLocks xmlns:a="http://schemas.openxmlformats.org/drawingml/2006/main" noGrp="1"/>
          </p:cNvSpPr>
          <p:nvPr/>
        </p:nvSpPr>
        <p:spPr>
          <a:xfrm xmlns:a="http://schemas.openxmlformats.org/drawingml/2006/main">
            <a:off x="640080" y="347472"/>
            <a:ext cx="10911535"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0B6E99"/>
                </a:solidFill>
                <a:latin typeface="Helvetica Neue"/>
                <a:ea typeface="Helvetica Neue"/>
                <a:cs typeface="Helvetica Neue"/>
              </a:rPr>
              <a:t>PROOF</a:t>
            </a:r>
          </a:p>
        </p:txBody>
      </p:sp>
      <p:sp>
        <p:nvSpPr>
          <p:cNvPr id="3" name="TextBox 2">
            <a:extLst xmlns:a="http://schemas.openxmlformats.org/drawingml/2006/main">
              <a:ext uri="{FF2B5EF4-FFF2-40B4-BE49-F238E27FC236}">
                <a16:creationId xmlns:a16="http://schemas.microsoft.com/office/drawing/2014/main" id="{295EE599-C9D3-4F3B-AC2A-8FBDD0A655EF}"/>
              </a:ext>
            </a:extLst>
          </p:cNvPr>
          <p:cNvSpPr>
            <a:spLocks xmlns:a="http://schemas.openxmlformats.org/drawingml/2006/main" noGrp="1"/>
          </p:cNvSpPr>
          <p:nvPr/>
        </p:nvSpPr>
        <p:spPr>
          <a:xfrm xmlns:a="http://schemas.openxmlformats.org/drawingml/2006/main">
            <a:off x="640080" y="640080"/>
            <a:ext cx="10911535"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1F2328"/>
                </a:solidFill>
                <a:latin typeface="Helvetica Neue"/>
                <a:ea typeface="Helvetica Neue"/>
                <a:cs typeface="Helvetica Neue"/>
              </a:rPr>
              <a:t>An integrity proof of one node</a:t>
            </a:r>
          </a:p>
        </p:txBody>
      </p:sp>
      <p:sp>
        <p:nvSpPr>
          <p:cNvPr id="4" name="Rectangle 3">
            <a:extLst xmlns:a="http://schemas.openxmlformats.org/drawingml/2006/main">
              <a:ext uri="{FF2B5EF4-FFF2-40B4-BE49-F238E27FC236}">
                <a16:creationId xmlns:a16="http://schemas.microsoft.com/office/drawing/2014/main" id="{C38B0D52-1414-45F1-BE5B-4C009227ADA1}"/>
              </a:ext>
            </a:extLst>
          </p:cNvPr>
          <p:cNvSpPr>
            <a:spLocks xmlns:a="http://schemas.openxmlformats.org/drawingml/2006/main" noGrp="1"/>
          </p:cNvSpPr>
          <p:nvPr/>
        </p:nvSpPr>
        <p:spPr>
          <a:xfrm xmlns:a="http://schemas.openxmlformats.org/drawingml/2006/main">
            <a:off x="640080" y="1572768"/>
            <a:ext cx="10911535" cy="12700"/>
          </a:xfrm>
          <a:prstGeom xmlns:a="http://schemas.openxmlformats.org/drawingml/2006/main" prst="rect">
            <a:avLst/>
          </a:prstGeom>
          <a:solidFill xmlns:a="http://schemas.openxmlformats.org/drawingml/2006/main">
            <a:srgbClr val="D9DE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38A67377-DBF6-4205-85D1-2C61F1610F15}"/>
              </a:ext>
            </a:extLst>
          </p:cNvPr>
          <p:cNvSpPr>
            <a:spLocks xmlns:a="http://schemas.openxmlformats.org/drawingml/2006/main" noGrp="1"/>
          </p:cNvSpPr>
          <p:nvPr/>
        </p:nvSpPr>
        <p:spPr>
          <a:xfrm xmlns:a="http://schemas.openxmlformats.org/drawingml/2006/main">
            <a:off x="640080" y="6400800"/>
            <a:ext cx="10911535"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5F6770"/>
                </a:solidFill>
                <a:latin typeface="Helvetica Neue"/>
                <a:ea typeface="Helvetica Neue"/>
                <a:cs typeface="Helvetica Neue"/>
              </a:rPr>
              <a:t>llama-receipts, Sep 11, 2026</a:t>
            </a:r>
            <a:r>
              <a:rPr sz="1000">
                <a:solidFill>
                  <a:srgbClr val="5F6770"/>
                </a:solidFill>
                <a:latin typeface="Helvetica Neue"/>
                <a:ea typeface="Helvetica Neue"/>
                <a:cs typeface="Helvetica Neue"/>
              </a:rPr>
              <a:t>     14</a:t>
            </a:r>
          </a:p>
        </p:txBody>
      </p:sp>
      <p:sp>
        <p:nvSpPr>
          <p:cNvPr id="6" name="Rounded Rectangle 5">
            <a:extLst xmlns:a="http://schemas.openxmlformats.org/drawingml/2006/main">
              <a:ext uri="{FF2B5EF4-FFF2-40B4-BE49-F238E27FC236}">
                <a16:creationId xmlns:a16="http://schemas.microsoft.com/office/drawing/2014/main" id="{36D3FF96-C87C-4AA5-A456-D2DE4FD70015}"/>
              </a:ext>
            </a:extLst>
          </p:cNvPr>
          <p:cNvSpPr>
            <a:spLocks xmlns:a="http://schemas.openxmlformats.org/drawingml/2006/main" noGrp="1"/>
          </p:cNvSpPr>
          <p:nvPr/>
        </p:nvSpPr>
        <p:spPr>
          <a:xfrm xmlns:a="http://schemas.openxmlformats.org/drawingml/2006/main">
            <a:off x="640080" y="1920240"/>
            <a:ext cx="2148840" cy="1143000"/>
          </a:xfrm>
          <a:prstGeom xmlns:a="http://schemas.openxmlformats.org/drawingml/2006/main" prst="roundRect">
            <a:avLst/>
          </a:prstGeom>
          <a:solidFill xmlns:a="http://schemas.openxmlformats.org/drawingml/2006/main">
            <a:srgbClr val="FFFFFF"/>
          </a:solidFill>
          <a:ln xmlns:a="http://schemas.openxmlformats.org/drawingml/2006/main" w="15875">
            <a:solidFill>
              <a:srgbClr val="0B6E9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ctr"/>
          <a:lstStyle xmlns:a="http://schemas.openxmlformats.org/drawingml/2006/main"/>
          <a:p xmlns:a="http://schemas.openxmlformats.org/drawingml/2006/main">
            <a:pPr algn="ctr">
              <a:buNone/>
            </a:pPr>
            <a:r>
              <a:rPr sz="1400" b="1">
                <a:solidFill>
                  <a:srgbClr val="1F2328"/>
                </a:solidFill>
                <a:latin typeface="Helvetica Neue"/>
                <a:ea typeface="Helvetica Neue"/>
                <a:cs typeface="Helvetica Neue"/>
              </a:rPr>
              <a:t>opened node</a:t>
            </a:r>
          </a:p>
          <a:p xmlns:a="http://schemas.openxmlformats.org/drawingml/2006/main">
            <a:pPr algn="ctr">
              <a:spcBef>
                <a:spcPts val="300"/>
              </a:spcBef>
              <a:buNone/>
            </a:pPr>
            <a:r>
              <a:rPr sz="1100" b="0">
                <a:solidFill>
                  <a:srgbClr val="5F6770"/>
                </a:solidFill>
                <a:latin typeface="Helvetica Neue"/>
                <a:ea typeface="Helvetica Neue"/>
                <a:cs typeface="Helvetica Neue"/>
              </a:rPr>
              <a:t>weight bytes from the GGUF, activation bytes from the trace</a:t>
            </a:r>
          </a:p>
        </p:txBody>
      </p:sp>
      <p:sp>
        <p:nvSpPr>
          <p:cNvPr id="7" name="Rounded Rectangle 6">
            <a:extLst xmlns:a="http://schemas.openxmlformats.org/drawingml/2006/main">
              <a:ext uri="{FF2B5EF4-FFF2-40B4-BE49-F238E27FC236}">
                <a16:creationId xmlns:a16="http://schemas.microsoft.com/office/drawing/2014/main" id="{9A16BF57-5D90-4703-9C1C-2D0B8E639FD8}"/>
              </a:ext>
            </a:extLst>
          </p:cNvPr>
          <p:cNvSpPr>
            <a:spLocks xmlns:a="http://schemas.openxmlformats.org/drawingml/2006/main" noGrp="1"/>
          </p:cNvSpPr>
          <p:nvPr/>
        </p:nvSpPr>
        <p:spPr>
          <a:xfrm xmlns:a="http://schemas.openxmlformats.org/drawingml/2006/main">
            <a:off x="3108960" y="1920240"/>
            <a:ext cx="2148840" cy="1143000"/>
          </a:xfrm>
          <a:prstGeom xmlns:a="http://schemas.openxmlformats.org/drawingml/2006/main" prst="roundRect">
            <a:avLst/>
          </a:prstGeom>
          <a:solidFill xmlns:a="http://schemas.openxmlformats.org/drawingml/2006/main">
            <a:srgbClr val="FFFFFF"/>
          </a:solidFill>
          <a:ln xmlns:a="http://schemas.openxmlformats.org/drawingml/2006/main" w="15875">
            <a:solidFill>
              <a:srgbClr val="0B6E9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ctr"/>
          <a:lstStyle xmlns:a="http://schemas.openxmlformats.org/drawingml/2006/main"/>
          <a:p xmlns:a="http://schemas.openxmlformats.org/drawingml/2006/main">
            <a:pPr algn="ctr">
              <a:buNone/>
            </a:pPr>
            <a:r>
              <a:rPr sz="1400" b="1">
                <a:solidFill>
                  <a:srgbClr val="1F2328"/>
                </a:solidFill>
                <a:latin typeface="Helvetica Neue"/>
                <a:ea typeface="Helvetica Neue"/>
                <a:cs typeface="Helvetica Neue"/>
              </a:rPr>
              <a:t>witness</a:t>
            </a:r>
          </a:p>
          <a:p xmlns:a="http://schemas.openxmlformats.org/drawingml/2006/main">
            <a:pPr algn="ctr">
              <a:spcBef>
                <a:spcPts val="300"/>
              </a:spcBef>
              <a:buNone/>
            </a:pPr>
            <a:r>
              <a:rPr sz="1100" b="0">
                <a:solidFill>
                  <a:srgbClr val="5F6770"/>
                </a:solidFill>
                <a:latin typeface="Helvetica Neue"/>
                <a:ea typeface="Helvetica Neue"/>
                <a:cs typeface="Helvetica Neue"/>
              </a:rPr>
              <a:t>public: q4, scales, mins,</a:t>
            </a:r>
          </a:p>
          <a:p xmlns:a="http://schemas.openxmlformats.org/drawingml/2006/main">
            <a:pPr algn="ctr">
              <a:spcBef>
                <a:spcPts val="300"/>
              </a:spcBef>
              <a:buNone/>
            </a:pPr>
            <a:r>
              <a:rPr sz="1100" b="0">
                <a:solidFill>
                  <a:srgbClr val="5F6770"/>
                </a:solidFill>
                <a:latin typeface="Helvetica Neue"/>
                <a:ea typeface="Helvetica Neue"/>
                <a:cs typeface="Helvetica Neue"/>
              </a:rPr>
              <a:t>q8, s1, s2</a:t>
            </a:r>
          </a:p>
        </p:txBody>
      </p:sp>
      <p:sp>
        <p:nvSpPr>
          <p:cNvPr id="8" name="Rounded Rectangle 7">
            <a:extLst xmlns:a="http://schemas.openxmlformats.org/drawingml/2006/main">
              <a:ext uri="{FF2B5EF4-FFF2-40B4-BE49-F238E27FC236}">
                <a16:creationId xmlns:a16="http://schemas.microsoft.com/office/drawing/2014/main" id="{AAA30041-CD09-4DE3-85A0-AF4850366277}"/>
              </a:ext>
            </a:extLst>
          </p:cNvPr>
          <p:cNvSpPr>
            <a:spLocks xmlns:a="http://schemas.openxmlformats.org/drawingml/2006/main" noGrp="1"/>
          </p:cNvSpPr>
          <p:nvPr/>
        </p:nvSpPr>
        <p:spPr>
          <a:xfrm xmlns:a="http://schemas.openxmlformats.org/drawingml/2006/main">
            <a:off x="5577840" y="1920240"/>
            <a:ext cx="2148840" cy="1143000"/>
          </a:xfrm>
          <a:prstGeom xmlns:a="http://schemas.openxmlformats.org/drawingml/2006/main" prst="roundRect">
            <a:avLst/>
          </a:prstGeom>
          <a:solidFill xmlns:a="http://schemas.openxmlformats.org/drawingml/2006/main">
            <a:srgbClr val="FBEFD9"/>
          </a:solidFill>
          <a:ln xmlns:a="http://schemas.openxmlformats.org/drawingml/2006/main" w="15875">
            <a:solidFill>
              <a:srgbClr val="9A6A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ctr"/>
          <a:lstStyle xmlns:a="http://schemas.openxmlformats.org/drawingml/2006/main"/>
          <a:p xmlns:a="http://schemas.openxmlformats.org/drawingml/2006/main">
            <a:pPr algn="ctr">
              <a:buNone/>
            </a:pPr>
            <a:r>
              <a:rPr sz="1400" b="1">
                <a:solidFill>
                  <a:srgbClr val="1F2328"/>
                </a:solidFill>
                <a:latin typeface="Helvetica Neue"/>
                <a:ea typeface="Helvetica Neue"/>
                <a:cs typeface="Helvetica Neue"/>
              </a:rPr>
              <a:t>GKR circuit, M31</a:t>
            </a:r>
          </a:p>
          <a:p xmlns:a="http://schemas.openxmlformats.org/drawingml/2006/main">
            <a:pPr algn="ctr">
              <a:spcBef>
                <a:spcPts val="300"/>
              </a:spcBef>
              <a:buNone/>
            </a:pPr>
            <a:r>
              <a:rPr sz="1100" b="0">
                <a:solidFill>
                  <a:srgbClr val="5F6770"/>
                </a:solidFill>
                <a:latin typeface="Helvetica Neue"/>
                <a:ea typeface="Helvetica Neue"/>
                <a:cs typeface="Helvetica Neue"/>
              </a:rPr>
              <a:t>s1 = Σ sc·Σ q4·q8
s2 = Σ bsums·mn</a:t>
            </a:r>
          </a:p>
        </p:txBody>
      </p:sp>
      <p:sp>
        <p:nvSpPr>
          <p:cNvPr id="9" name="Rounded Rectangle 8">
            <a:extLst xmlns:a="http://schemas.openxmlformats.org/drawingml/2006/main">
              <a:ext uri="{FF2B5EF4-FFF2-40B4-BE49-F238E27FC236}">
                <a16:creationId xmlns:a16="http://schemas.microsoft.com/office/drawing/2014/main" id="{C91C9ACA-5156-4430-B58B-5E32A228812E}"/>
              </a:ext>
            </a:extLst>
          </p:cNvPr>
          <p:cNvSpPr>
            <a:spLocks xmlns:a="http://schemas.openxmlformats.org/drawingml/2006/main" noGrp="1"/>
          </p:cNvSpPr>
          <p:nvPr/>
        </p:nvSpPr>
        <p:spPr>
          <a:xfrm xmlns:a="http://schemas.openxmlformats.org/drawingml/2006/main">
            <a:off x="8046720" y="1920240"/>
            <a:ext cx="2148840" cy="1143000"/>
          </a:xfrm>
          <a:prstGeom xmlns:a="http://schemas.openxmlformats.org/drawingml/2006/main" prst="roundRect">
            <a:avLst/>
          </a:prstGeom>
          <a:solidFill xmlns:a="http://schemas.openxmlformats.org/drawingml/2006/main">
            <a:srgbClr val="FBEFD9"/>
          </a:solidFill>
          <a:ln xmlns:a="http://schemas.openxmlformats.org/drawingml/2006/main" w="15875">
            <a:solidFill>
              <a:srgbClr val="9A6A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ctr"/>
          <a:lstStyle xmlns:a="http://schemas.openxmlformats.org/drawingml/2006/main"/>
          <a:p xmlns:a="http://schemas.openxmlformats.org/drawingml/2006/main">
            <a:pPr algn="ctr">
              <a:buNone/>
            </a:pPr>
            <a:r>
              <a:rPr sz="1400" b="1">
                <a:solidFill>
                  <a:srgbClr val="1F2328"/>
                </a:solidFill>
                <a:latin typeface="Helvetica Neue"/>
                <a:ea typeface="Helvetica Neue"/>
                <a:cs typeface="Helvetica Neue"/>
              </a:rPr>
              <a:t>proof + public inputs</a:t>
            </a:r>
          </a:p>
          <a:p xmlns:a="http://schemas.openxmlformats.org/drawingml/2006/main">
            <a:pPr algn="ctr">
              <a:spcBef>
                <a:spcPts val="300"/>
              </a:spcBef>
              <a:buNone/>
            </a:pPr>
            <a:r>
              <a:rPr sz="1100" b="0">
                <a:solidFill>
                  <a:srgbClr val="5F6770"/>
                </a:solidFill>
                <a:latin typeface="Helvetica Neue"/>
                <a:ea typeface="Helvetica Neue"/>
                <a:cs typeface="Helvetica Neue"/>
              </a:rPr>
              <a:t>Expander GKR proof</a:t>
            </a:r>
          </a:p>
        </p:txBody>
      </p:sp>
      <p:sp>
        <p:nvSpPr>
          <p:cNvPr id="10" name="Connector 9">
            <a:extLst xmlns:a="http://schemas.openxmlformats.org/drawingml/2006/main">
              <a:ext uri="{FF2B5EF4-FFF2-40B4-BE49-F238E27FC236}">
                <a16:creationId xmlns:a16="http://schemas.microsoft.com/office/drawing/2014/main" id="{3C32C8C0-731E-4466-BD72-E2AABF52D3F4}"/>
              </a:ext>
            </a:extLst>
          </p:cNvPr>
          <p:cNvSpPr>
            <a:spLocks xmlns:a="http://schemas.openxmlformats.org/drawingml/2006/main" noGrp="1"/>
          </p:cNvSpPr>
          <p:nvPr/>
        </p:nvSpPr>
        <p:spPr>
          <a:xfrm xmlns:a="http://schemas.openxmlformats.org/drawingml/2006/main">
            <a:off x="2788920" y="2491740"/>
            <a:ext cx="320040" cy="0"/>
          </a:xfrm>
          <a:prstGeom xmlns:a="http://schemas.openxmlformats.org/drawingml/2006/main" prst="line">
            <a:avLst/>
          </a:prstGeom>
          <a:ln xmlns:a="http://schemas.openxmlformats.org/drawingml/2006/main" w="19050">
            <a:solidFill>
              <a:srgbClr val="5F6770"/>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8B140D0C-FD9E-4A33-863B-07B491BC7F13}"/>
              </a:ext>
            </a:extLst>
          </p:cNvPr>
          <p:cNvSpPr>
            <a:spLocks xmlns:a="http://schemas.openxmlformats.org/drawingml/2006/main" noGrp="1"/>
          </p:cNvSpPr>
          <p:nvPr/>
        </p:nvSpPr>
        <p:spPr>
          <a:xfrm xmlns:a="http://schemas.openxmlformats.org/drawingml/2006/main">
            <a:off x="5257800" y="2491740"/>
            <a:ext cx="320040" cy="0"/>
          </a:xfrm>
          <a:prstGeom xmlns:a="http://schemas.openxmlformats.org/drawingml/2006/main" prst="line">
            <a:avLst/>
          </a:prstGeom>
          <a:ln xmlns:a="http://schemas.openxmlformats.org/drawingml/2006/main" w="19050">
            <a:solidFill>
              <a:srgbClr val="5F6770"/>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F0EE99C8-2D35-4DED-B134-762DBAC5CDEE}"/>
              </a:ext>
            </a:extLst>
          </p:cNvPr>
          <p:cNvSpPr>
            <a:spLocks xmlns:a="http://schemas.openxmlformats.org/drawingml/2006/main" noGrp="1"/>
          </p:cNvSpPr>
          <p:nvPr/>
        </p:nvSpPr>
        <p:spPr>
          <a:xfrm xmlns:a="http://schemas.openxmlformats.org/drawingml/2006/main">
            <a:off x="7726680" y="2491740"/>
            <a:ext cx="320040" cy="0"/>
          </a:xfrm>
          <a:prstGeom xmlns:a="http://schemas.openxmlformats.org/drawingml/2006/main" prst="line">
            <a:avLst/>
          </a:prstGeom>
          <a:ln xmlns:a="http://schemas.openxmlformats.org/drawingml/2006/main" w="19050">
            <a:solidFill>
              <a:srgbClr val="5F6770"/>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Rounded Rectangle 12">
            <a:extLst xmlns:a="http://schemas.openxmlformats.org/drawingml/2006/main">
              <a:ext uri="{FF2B5EF4-FFF2-40B4-BE49-F238E27FC236}">
                <a16:creationId xmlns:a16="http://schemas.microsoft.com/office/drawing/2014/main" id="{ABEF303B-7D1A-4C6E-9405-FEBCA4A3680C}"/>
              </a:ext>
            </a:extLst>
          </p:cNvPr>
          <p:cNvSpPr>
            <a:spLocks xmlns:a="http://schemas.openxmlformats.org/drawingml/2006/main" noGrp="1"/>
          </p:cNvSpPr>
          <p:nvPr/>
        </p:nvSpPr>
        <p:spPr>
          <a:xfrm xmlns:a="http://schemas.openxmlformats.org/drawingml/2006/main">
            <a:off x="5577840" y="3611880"/>
            <a:ext cx="2148840" cy="1143000"/>
          </a:xfrm>
          <a:prstGeom xmlns:a="http://schemas.openxmlformats.org/drawingml/2006/main" prst="roundRect">
            <a:avLst/>
          </a:prstGeom>
          <a:solidFill xmlns:a="http://schemas.openxmlformats.org/drawingml/2006/main">
            <a:srgbClr val="E2F3E4"/>
          </a:solidFill>
          <a:ln xmlns:a="http://schemas.openxmlformats.org/drawingml/2006/main" w="15875">
            <a:solidFill>
              <a:srgbClr val="2E7D3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ctr"/>
          <a:lstStyle xmlns:a="http://schemas.openxmlformats.org/drawingml/2006/main"/>
          <a:p xmlns:a="http://schemas.openxmlformats.org/drawingml/2006/main">
            <a:pPr algn="ctr">
              <a:buNone/>
            </a:pPr>
            <a:r>
              <a:rPr sz="1400" b="1">
                <a:solidFill>
                  <a:srgbClr val="1F2328"/>
                </a:solidFill>
                <a:latin typeface="Helvetica Neue"/>
                <a:ea typeface="Helvetica Neue"/>
                <a:cs typeface="Helvetica Neue"/>
              </a:rPr>
              <a:t>verify proof</a:t>
            </a:r>
          </a:p>
          <a:p xmlns:a="http://schemas.openxmlformats.org/drawingml/2006/main">
            <a:pPr algn="ctr">
              <a:spcBef>
                <a:spcPts val="300"/>
              </a:spcBef>
              <a:buNone/>
            </a:pPr>
            <a:r>
              <a:rPr sz="1100" b="0">
                <a:solidFill>
                  <a:srgbClr val="5F6770"/>
                </a:solidFill>
                <a:latin typeface="Helvetica Neue"/>
                <a:ea typeface="Helvetica Neue"/>
                <a:cs typeface="Helvetica Neue"/>
              </a:rPr>
              <a:t>checks weights against its GGUF</a:t>
            </a:r>
          </a:p>
        </p:txBody>
      </p:sp>
      <p:sp>
        <p:nvSpPr>
          <p:cNvPr id="14" name="Rounded Rectangle 13">
            <a:extLst xmlns:a="http://schemas.openxmlformats.org/drawingml/2006/main">
              <a:ext uri="{FF2B5EF4-FFF2-40B4-BE49-F238E27FC236}">
                <a16:creationId xmlns:a16="http://schemas.microsoft.com/office/drawing/2014/main" id="{BC43FB47-8D51-4531-90D7-6C4A82FD37A5}"/>
              </a:ext>
            </a:extLst>
          </p:cNvPr>
          <p:cNvSpPr>
            <a:spLocks xmlns:a="http://schemas.openxmlformats.org/drawingml/2006/main" noGrp="1"/>
          </p:cNvSpPr>
          <p:nvPr/>
        </p:nvSpPr>
        <p:spPr>
          <a:xfrm xmlns:a="http://schemas.openxmlformats.org/drawingml/2006/main">
            <a:off x="8046720" y="3611880"/>
            <a:ext cx="2148840" cy="1143000"/>
          </a:xfrm>
          <a:prstGeom xmlns:a="http://schemas.openxmlformats.org/drawingml/2006/main" prst="roundRect">
            <a:avLst/>
          </a:prstGeom>
          <a:solidFill xmlns:a="http://schemas.openxmlformats.org/drawingml/2006/main">
            <a:srgbClr val="E2F3E4"/>
          </a:solidFill>
          <a:ln xmlns:a="http://schemas.openxmlformats.org/drawingml/2006/main" w="15875">
            <a:solidFill>
              <a:srgbClr val="2E7D3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ctr"/>
          <a:lstStyle xmlns:a="http://schemas.openxmlformats.org/drawingml/2006/main"/>
          <a:p xmlns:a="http://schemas.openxmlformats.org/drawingml/2006/main">
            <a:pPr algn="ctr">
              <a:buNone/>
            </a:pPr>
            <a:r>
              <a:rPr sz="1400" b="1">
                <a:solidFill>
                  <a:srgbClr val="1F2328"/>
                </a:solidFill>
                <a:latin typeface="Helvetica Neue"/>
                <a:ea typeface="Helvetica Neue"/>
                <a:cs typeface="Helvetica Neue"/>
              </a:rPr>
              <a:t>float step</a:t>
            </a:r>
          </a:p>
          <a:p xmlns:a="http://schemas.openxmlformats.org/drawingml/2006/main">
            <a:pPr algn="ctr">
              <a:spcBef>
                <a:spcPts val="300"/>
              </a:spcBef>
              <a:buNone/>
            </a:pPr>
            <a:r>
              <a:rPr sz="1100" b="0">
                <a:solidFill>
                  <a:srgbClr val="5F6770"/>
                </a:solidFill>
                <a:latin typeface="Helvetica Neue"/>
                <a:ea typeface="Helvetica Neue"/>
                <a:cs typeface="Helvetica Neue"/>
              </a:rPr>
              <a:t>Σ d_a·(d·s1 − dmin·s2), compare to the opened output</a:t>
            </a:r>
          </a:p>
        </p:txBody>
      </p:sp>
      <p:sp>
        <p:nvSpPr>
          <p:cNvPr id="15" name="Connector 14">
            <a:extLst xmlns:a="http://schemas.openxmlformats.org/drawingml/2006/main">
              <a:ext uri="{FF2B5EF4-FFF2-40B4-BE49-F238E27FC236}">
                <a16:creationId xmlns:a16="http://schemas.microsoft.com/office/drawing/2014/main" id="{58E9B67A-A200-4F64-9FA6-AAA764F5290B}"/>
              </a:ext>
            </a:extLst>
          </p:cNvPr>
          <p:cNvSpPr>
            <a:spLocks xmlns:a="http://schemas.openxmlformats.org/drawingml/2006/main" noGrp="1"/>
          </p:cNvSpPr>
          <p:nvPr/>
        </p:nvSpPr>
        <p:spPr>
          <a:xfrm xmlns:a="http://schemas.openxmlformats.org/drawingml/2006/main">
            <a:off x="9121140" y="3063240"/>
            <a:ext cx="0" cy="548640"/>
          </a:xfrm>
          <a:prstGeom xmlns:a="http://schemas.openxmlformats.org/drawingml/2006/main" prst="line">
            <a:avLst/>
          </a:prstGeom>
          <a:ln xmlns:a="http://schemas.openxmlformats.org/drawingml/2006/main" w="19050">
            <a:solidFill>
              <a:srgbClr val="5F6770"/>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C632ABC2-9C74-40B6-B9DB-49DF20E0E8ED}"/>
              </a:ext>
            </a:extLst>
          </p:cNvPr>
          <p:cNvSpPr>
            <a:spLocks xmlns:a="http://schemas.openxmlformats.org/drawingml/2006/main" noGrp="1"/>
          </p:cNvSpPr>
          <p:nvPr/>
        </p:nvSpPr>
        <p:spPr>
          <a:xfrm xmlns:a="http://schemas.openxmlformats.org/drawingml/2006/main" flipH="1">
            <a:off x="7726680" y="4183380"/>
            <a:ext cx="320040" cy="0"/>
          </a:xfrm>
          <a:prstGeom xmlns:a="http://schemas.openxmlformats.org/drawingml/2006/main" prst="line">
            <a:avLst/>
          </a:prstGeom>
          <a:ln xmlns:a="http://schemas.openxmlformats.org/drawingml/2006/main" w="19050">
            <a:solidFill>
              <a:srgbClr val="5F6770"/>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graphicFrame>
        <p:nvGraphicFramePr>
          <p:cNvPr id="33" name="Table 16"/>
          <p:cNvGraphicFramePr/>
          <p:nvPr/>
        </p:nvGraphicFramePr>
        <p:xfrm>
          <a:off xmlns:a="http://schemas.openxmlformats.org/drawingml/2006/main" x="640080" y="5074920"/>
          <a:ext xmlns:a="http://schemas.openxmlformats.org/drawingml/2006/main" cx="10911531" cy="987552"/>
        </p:xfrm>
        <a:graphic xmlns:a="http://schemas.openxmlformats.org/drawingml/2006/main">
          <a:graphicData uri="http://schemas.openxmlformats.org/drawingml/2006/table">
            <a:tbl>
              <a:tblPr firstRow="1" bandRow="1">
                <a:tableStyleId>{5C22544A-7EE6-4342-B048-85BDC9FD1C3A}</a:tableStyleId>
              </a:tblPr>
              <a:tblGrid>
                <a:gridCol w="2474781"/>
                <a:gridCol w="1574860"/>
                <a:gridCol w="1124900"/>
                <a:gridCol w="1012410"/>
                <a:gridCol w="1012410"/>
                <a:gridCol w="1012410"/>
                <a:gridCol w="1237390"/>
                <a:gridCol w="1462370"/>
              </a:tblGrid>
              <a:tr h="329184">
                <a:tc>
                  <a:txBody>
                    <a:bodyPr wrap="square"/>
                    <a:lstStyle/>
                    <a:p>
                      <a:r>
                        <a:rPr sz="1100" b="1">
                          <a:solidFill>
                            <a:srgbClr val="1F2328"/>
                          </a:solidFill>
                          <a:latin typeface="Helvetica Neue"/>
                          <a:ea typeface="Helvetica Neue"/>
                          <a:cs typeface="Helvetica Neue"/>
                        </a:rPr>
                        <a:t>Node</a:t>
                      </a:r>
                    </a:p>
                  </a:txBody>
                  <a:tcPr marL="73152" marR="73152" marT="36576" marB="36576" anchor="ctr">
                    <a:solidFill>
                      <a:srgbClr val="DCECF4"/>
                    </a:solidFill>
                  </a:tcPr>
                </a:tc>
                <a:tc>
                  <a:txBody>
                    <a:bodyPr wrap="square"/>
                    <a:lstStyle/>
                    <a:p>
                      <a:r>
                        <a:rPr sz="1100" b="1">
                          <a:solidFill>
                            <a:srgbClr val="1F2328"/>
                          </a:solidFill>
                          <a:latin typeface="Helvetica Neue"/>
                          <a:ea typeface="Helvetica Neue"/>
                          <a:cs typeface="Helvetica Neue"/>
                        </a:rPr>
                        <a:t>Public inputs</a:t>
                      </a:r>
                    </a:p>
                  </a:txBody>
                  <a:tcPr marL="73152" marR="73152" marT="36576" marB="36576" anchor="ctr">
                    <a:solidFill>
                      <a:srgbClr val="DCECF4"/>
                    </a:solidFill>
                  </a:tcPr>
                </a:tc>
                <a:tc>
                  <a:txBody>
                    <a:bodyPr wrap="square"/>
                    <a:lstStyle/>
                    <a:p>
                      <a:r>
                        <a:rPr sz="1100" b="1">
                          <a:solidFill>
                            <a:srgbClr val="1F2328"/>
                          </a:solidFill>
                          <a:latin typeface="Helvetica Neue"/>
                          <a:ea typeface="Helvetica Neue"/>
                          <a:cs typeface="Helvetica Neue"/>
                        </a:rPr>
                        <a:t>Compile</a:t>
                      </a:r>
                    </a:p>
                  </a:txBody>
                  <a:tcPr marL="73152" marR="73152" marT="36576" marB="36576" anchor="ctr">
                    <a:solidFill>
                      <a:srgbClr val="DCECF4"/>
                    </a:solidFill>
                  </a:tcPr>
                </a:tc>
                <a:tc>
                  <a:txBody>
                    <a:bodyPr wrap="square"/>
                    <a:lstStyle/>
                    <a:p>
                      <a:r>
                        <a:rPr sz="1100" b="1">
                          <a:solidFill>
                            <a:srgbClr val="1F2328"/>
                          </a:solidFill>
                          <a:latin typeface="Helvetica Neue"/>
                          <a:ea typeface="Helvetica Neue"/>
                          <a:cs typeface="Helvetica Neue"/>
                        </a:rPr>
                        <a:t>Prove</a:t>
                      </a:r>
                    </a:p>
                  </a:txBody>
                  <a:tcPr marL="73152" marR="73152" marT="36576" marB="36576" anchor="ctr">
                    <a:solidFill>
                      <a:srgbClr val="DCECF4"/>
                    </a:solidFill>
                  </a:tcPr>
                </a:tc>
                <a:tc>
                  <a:txBody>
                    <a:bodyPr wrap="square"/>
                    <a:lstStyle/>
                    <a:p>
                      <a:r>
                        <a:rPr sz="1100" b="1">
                          <a:solidFill>
                            <a:srgbClr val="1F2328"/>
                          </a:solidFill>
                          <a:latin typeface="Helvetica Neue"/>
                          <a:ea typeface="Helvetica Neue"/>
                          <a:cs typeface="Helvetica Neue"/>
                        </a:rPr>
                        <a:t>Proof</a:t>
                      </a:r>
                    </a:p>
                  </a:txBody>
                  <a:tcPr marL="73152" marR="73152" marT="36576" marB="36576" anchor="ctr">
                    <a:solidFill>
                      <a:srgbClr val="DCECF4"/>
                    </a:solidFill>
                  </a:tcPr>
                </a:tc>
                <a:tc>
                  <a:txBody>
                    <a:bodyPr wrap="square"/>
                    <a:lstStyle/>
                    <a:p>
                      <a:r>
                        <a:rPr sz="1100" b="1">
                          <a:solidFill>
                            <a:srgbClr val="1F2328"/>
                          </a:solidFill>
                          <a:latin typeface="Helvetica Neue"/>
                          <a:ea typeface="Helvetica Neue"/>
                          <a:cs typeface="Helvetica Neue"/>
                        </a:rPr>
                        <a:t>Verify</a:t>
                      </a:r>
                    </a:p>
                  </a:txBody>
                  <a:tcPr marL="73152" marR="73152" marT="36576" marB="36576" anchor="ctr">
                    <a:solidFill>
                      <a:srgbClr val="DCECF4"/>
                    </a:solidFill>
                  </a:tcPr>
                </a:tc>
                <a:tc>
                  <a:txBody>
                    <a:bodyPr wrap="square"/>
                    <a:lstStyle/>
                    <a:p>
                      <a:r>
                        <a:rPr sz="1100" b="1">
                          <a:solidFill>
                            <a:srgbClr val="1F2328"/>
                          </a:solidFill>
                          <a:latin typeface="Helvetica Neue"/>
                          <a:ea typeface="Helvetica Neue"/>
                          <a:cs typeface="Helvetica Neue"/>
                        </a:rPr>
                        <a:t>Float step</a:t>
                      </a:r>
                    </a:p>
                  </a:txBody>
                  <a:tcPr marL="73152" marR="73152" marT="36576" marB="36576" anchor="ctr">
                    <a:solidFill>
                      <a:srgbClr val="DCECF4"/>
                    </a:solidFill>
                  </a:tcPr>
                </a:tc>
                <a:tc>
                  <a:txBody>
                    <a:bodyPr wrap="square"/>
                    <a:lstStyle/>
                    <a:p>
                      <a:r>
                        <a:rPr sz="1100" b="1">
                          <a:solidFill>
                            <a:srgbClr val="1F2328"/>
                          </a:solidFill>
                          <a:latin typeface="Helvetica Neue"/>
                          <a:ea typeface="Helvetica Neue"/>
                          <a:cs typeface="Helvetica Neue"/>
                        </a:rPr>
                        <a:t>Tampered sum</a:t>
                      </a:r>
                    </a:p>
                  </a:txBody>
                  <a:tcPr marL="73152" marR="73152" marT="36576" marB="36576" anchor="ctr">
                    <a:solidFill>
                      <a:srgbClr val="DCECF4"/>
                    </a:solidFill>
                  </a:tcPr>
                </a:tc>
              </a:tr>
              <a:tr h="329184">
                <a:tc>
                  <a:txBody>
                    <a:bodyPr wrap="square"/>
                    <a:lstStyle/>
                    <a:p>
                      <a:r>
                        <a:rPr sz="1100" b="0">
                          <a:solidFill>
                            <a:srgbClr val="1F2328"/>
                          </a:solidFill>
                          <a:latin typeface="Helvetica Neue"/>
                          <a:ea typeface="Helvetica Neue"/>
                          <a:cs typeface="Helvetica Neue"/>
                        </a:rPr>
                        <a:t>Kcur-13, 256 x 1536</a:t>
                      </a:r>
                    </a:p>
                  </a:txBody>
                  <a:tcPr marL="73152" marR="73152" marT="36576" marB="36576" anchor="ctr">
                    <a:solidFill>
                      <a:srgbClr val="FFFFFF"/>
                    </a:solidFill>
                  </a:tcPr>
                </a:tc>
                <a:tc>
                  <a:txBody>
                    <a:bodyPr wrap="square"/>
                    <a:lstStyle/>
                    <a:p>
                      <a:r>
                        <a:rPr sz="1100" b="0">
                          <a:solidFill>
                            <a:srgbClr val="1F2328"/>
                          </a:solidFill>
                          <a:latin typeface="Helvetica Neue"/>
                          <a:ea typeface="Helvetica Neue"/>
                          <a:cs typeface="Helvetica Neue"/>
                        </a:rPr>
                        <a:t>422,400</a:t>
                      </a:r>
                    </a:p>
                  </a:txBody>
                  <a:tcPr marL="73152" marR="73152" marT="36576" marB="36576" anchor="ctr">
                    <a:solidFill>
                      <a:srgbClr val="FFFFFF"/>
                    </a:solidFill>
                  </a:tcPr>
                </a:tc>
                <a:tc>
                  <a:txBody>
                    <a:bodyPr wrap="square"/>
                    <a:lstStyle/>
                    <a:p>
                      <a:r>
                        <a:rPr sz="1100" b="0">
                          <a:solidFill>
                            <a:srgbClr val="1F2328"/>
                          </a:solidFill>
                          <a:latin typeface="Helvetica Neue"/>
                          <a:ea typeface="Helvetica Neue"/>
                          <a:cs typeface="Helvetica Neue"/>
                        </a:rPr>
                        <a:t>2.3 s</a:t>
                      </a:r>
                    </a:p>
                  </a:txBody>
                  <a:tcPr marL="73152" marR="73152" marT="36576" marB="36576" anchor="ctr">
                    <a:solidFill>
                      <a:srgbClr val="FFFFFF"/>
                    </a:solidFill>
                  </a:tcPr>
                </a:tc>
                <a:tc>
                  <a:txBody>
                    <a:bodyPr wrap="square"/>
                    <a:lstStyle/>
                    <a:p>
                      <a:r>
                        <a:rPr sz="1100" b="0">
                          <a:solidFill>
                            <a:srgbClr val="1F2328"/>
                          </a:solidFill>
                          <a:latin typeface="Helvetica Neue"/>
                          <a:ea typeface="Helvetica Neue"/>
                          <a:cs typeface="Helvetica Neue"/>
                        </a:rPr>
                        <a:t>0.19 s</a:t>
                      </a:r>
                    </a:p>
                  </a:txBody>
                  <a:tcPr marL="73152" marR="73152" marT="36576" marB="36576" anchor="ctr">
                    <a:solidFill>
                      <a:srgbClr val="FFFFFF"/>
                    </a:solidFill>
                  </a:tcPr>
                </a:tc>
                <a:tc>
                  <a:txBody>
                    <a:bodyPr wrap="square"/>
                    <a:lstStyle/>
                    <a:p>
                      <a:r>
                        <a:rPr sz="1100" b="0">
                          <a:solidFill>
                            <a:srgbClr val="1F2328"/>
                          </a:solidFill>
                          <a:latin typeface="Helvetica Neue"/>
                          <a:ea typeface="Helvetica Neue"/>
                          <a:cs typeface="Helvetica Neue"/>
                        </a:rPr>
                        <a:t>27.9 MB</a:t>
                      </a:r>
                    </a:p>
                  </a:txBody>
                  <a:tcPr marL="73152" marR="73152" marT="36576" marB="36576" anchor="ctr">
                    <a:solidFill>
                      <a:srgbClr val="FFFFFF"/>
                    </a:solidFill>
                  </a:tcPr>
                </a:tc>
                <a:tc>
                  <a:txBody>
                    <a:bodyPr wrap="square"/>
                    <a:lstStyle/>
                    <a:p>
                      <a:r>
                        <a:rPr sz="1100" b="0">
                          <a:solidFill>
                            <a:srgbClr val="1F2328"/>
                          </a:solidFill>
                          <a:latin typeface="Helvetica Neue"/>
                          <a:ea typeface="Helvetica Neue"/>
                          <a:cs typeface="Helvetica Neue"/>
                        </a:rPr>
                        <a:t>0.20 s</a:t>
                      </a:r>
                    </a:p>
                  </a:txBody>
                  <a:tcPr marL="73152" marR="73152" marT="36576" marB="36576" anchor="ctr">
                    <a:solidFill>
                      <a:srgbClr val="FFFFFF"/>
                    </a:solidFill>
                  </a:tcPr>
                </a:tc>
                <a:tc>
                  <a:txBody>
                    <a:bodyPr wrap="square"/>
                    <a:lstStyle/>
                    <a:p>
                      <a:r>
                        <a:rPr sz="1100" b="0">
                          <a:solidFill>
                            <a:srgbClr val="1F2328"/>
                          </a:solidFill>
                          <a:latin typeface="Helvetica Neue"/>
                          <a:ea typeface="Helvetica Neue"/>
                          <a:cs typeface="Helvetica Neue"/>
                        </a:rPr>
                        <a:t>2.0e-7</a:t>
                      </a:r>
                    </a:p>
                  </a:txBody>
                  <a:tcPr marL="73152" marR="73152" marT="36576" marB="36576" anchor="ctr">
                    <a:solidFill>
                      <a:srgbClr val="FFFFFF"/>
                    </a:solidFill>
                  </a:tcPr>
                </a:tc>
                <a:tc>
                  <a:txBody>
                    <a:bodyPr wrap="square"/>
                    <a:lstStyle/>
                    <a:p>
                      <a:r>
                        <a:rPr sz="1100" b="1">
                          <a:solidFill>
                            <a:srgbClr val="B02A2A"/>
                          </a:solidFill>
                          <a:latin typeface="Helvetica Neue"/>
                          <a:ea typeface="Helvetica Neue"/>
                          <a:cs typeface="Helvetica Neue"/>
                        </a:rPr>
                        <a:t>reject</a:t>
                      </a:r>
                    </a:p>
                  </a:txBody>
                  <a:tcPr marL="73152" marR="73152" marT="36576" marB="36576" anchor="ctr">
                    <a:solidFill>
                      <a:srgbClr val="FFFFFF"/>
                    </a:solidFill>
                  </a:tcPr>
                </a:tc>
              </a:tr>
              <a:tr h="329184">
                <a:tc>
                  <a:txBody>
                    <a:bodyPr wrap="square"/>
                    <a:lstStyle/>
                    <a:p>
                      <a:r>
                        <a:rPr sz="1100" b="0">
                          <a:solidFill>
                            <a:srgbClr val="1F2328"/>
                          </a:solidFill>
                          <a:latin typeface="Helvetica Neue"/>
                          <a:ea typeface="Helvetica Neue"/>
                          <a:cs typeface="Helvetica Neue"/>
                        </a:rPr>
                        <a:t>Invalid ranges</a:t>
                      </a:r>
                    </a:p>
                  </a:txBody>
                  <a:tcPr marL="73152" marR="73152" marT="36576" marB="36576" anchor="ctr">
                    <a:solidFill>
                      <a:srgbClr val="FFFFFF"/>
                    </a:solidFill>
                  </a:tcPr>
                </a:tc>
                <a:tc>
                  <a:txBody>
                    <a:bodyPr wrap="square"/>
                    <a:lstStyle/>
                    <a:p>
                      <a:r>
                        <a:rPr sz="1100" b="0">
                          <a:solidFill>
                            <a:srgbClr val="1F2328"/>
                          </a:solidFill>
                          <a:latin typeface="Helvetica Neue"/>
                          <a:ea typeface="Helvetica Neue"/>
                          <a:cs typeface="Helvetica Neue"/>
                        </a:rPr>
                        <a:t>q4=16 / s1=p</a:t>
                      </a:r>
                    </a:p>
                  </a:txBody>
                  <a:tcPr marL="73152" marR="73152" marT="36576" marB="36576" anchor="ctr">
                    <a:solidFill>
                      <a:srgbClr val="FFFFFF"/>
                    </a:solidFill>
                  </a:tcPr>
                </a:tc>
                <a:tc>
                  <a:txBody>
                    <a:bodyPr wrap="square"/>
                    <a:lstStyle/>
                    <a:p>
                      <a:r>
                        <a:rPr sz="1100" b="0">
                          <a:solidFill>
                            <a:srgbClr val="1F2328"/>
                          </a:solidFill>
                          <a:latin typeface="Helvetica Neue"/>
                          <a:ea typeface="Helvetica Neue"/>
                          <a:cs typeface="Helvetica Neue"/>
                        </a:rPr>
                        <a:t>-</a:t>
                      </a:r>
                    </a:p>
                  </a:txBody>
                  <a:tcPr marL="73152" marR="73152" marT="36576" marB="36576" anchor="ctr">
                    <a:solidFill>
                      <a:srgbClr val="FFFFFF"/>
                    </a:solidFill>
                  </a:tcPr>
                </a:tc>
                <a:tc>
                  <a:txBody>
                    <a:bodyPr wrap="square"/>
                    <a:lstStyle/>
                    <a:p>
                      <a:r>
                        <a:rPr sz="1100" b="0">
                          <a:solidFill>
                            <a:srgbClr val="1F2328"/>
                          </a:solidFill>
                          <a:latin typeface="Helvetica Neue"/>
                          <a:ea typeface="Helvetica Neue"/>
                          <a:cs typeface="Helvetica Neue"/>
                        </a:rPr>
                        <a:t>blocked</a:t>
                      </a:r>
                    </a:p>
                  </a:txBody>
                  <a:tcPr marL="73152" marR="73152" marT="36576" marB="36576" anchor="ctr">
                    <a:solidFill>
                      <a:srgbClr val="FFFFFF"/>
                    </a:solidFill>
                  </a:tcPr>
                </a:tc>
                <a:tc>
                  <a:txBody>
                    <a:bodyPr wrap="square"/>
                    <a:lstStyle/>
                    <a:p>
                      <a:r>
                        <a:rPr sz="1100" b="0">
                          <a:solidFill>
                            <a:srgbClr val="1F2328"/>
                          </a:solidFill>
                          <a:latin typeface="Helvetica Neue"/>
                          <a:ea typeface="Helvetica Neue"/>
                          <a:cs typeface="Helvetica Neue"/>
                        </a:rPr>
                        <a:t>-</a:t>
                      </a:r>
                    </a:p>
                  </a:txBody>
                  <a:tcPr marL="73152" marR="73152" marT="36576" marB="36576" anchor="ctr">
                    <a:solidFill>
                      <a:srgbClr val="FFFFFF"/>
                    </a:solidFill>
                  </a:tcPr>
                </a:tc>
                <a:tc>
                  <a:txBody>
                    <a:bodyPr wrap="square"/>
                    <a:lstStyle/>
                    <a:p>
                      <a:r>
                        <a:rPr sz="1100" b="0">
                          <a:solidFill>
                            <a:srgbClr val="1F2328"/>
                          </a:solidFill>
                          <a:latin typeface="Helvetica Neue"/>
                          <a:ea typeface="Helvetica Neue"/>
                          <a:cs typeface="Helvetica Neue"/>
                        </a:rPr>
                        <a:t>reject</a:t>
                      </a:r>
                    </a:p>
                  </a:txBody>
                  <a:tcPr marL="73152" marR="73152" marT="36576" marB="36576" anchor="ctr">
                    <a:solidFill>
                      <a:srgbClr val="FFFFFF"/>
                    </a:solidFill>
                  </a:tcPr>
                </a:tc>
                <a:tc>
                  <a:txBody>
                    <a:bodyPr wrap="square"/>
                    <a:lstStyle/>
                    <a:p>
                      <a:r>
                        <a:rPr sz="1100" b="0">
                          <a:solidFill>
                            <a:srgbClr val="1F2328"/>
                          </a:solidFill>
                          <a:latin typeface="Helvetica Neue"/>
                          <a:ea typeface="Helvetica Neue"/>
                          <a:cs typeface="Helvetica Neue"/>
                        </a:rPr>
                        <a:t>-</a:t>
                      </a:r>
                    </a:p>
                  </a:txBody>
                  <a:tcPr marL="73152" marR="73152" marT="36576" marB="36576" anchor="ctr">
                    <a:solidFill>
                      <a:srgbClr val="FFFFFF"/>
                    </a:solidFill>
                  </a:tcPr>
                </a:tc>
                <a:tc>
                  <a:txBody>
                    <a:bodyPr wrap="square"/>
                    <a:lstStyle/>
                    <a:p>
                      <a:r>
                        <a:rPr sz="1100" b="1">
                          <a:solidFill>
                            <a:srgbClr val="B02A2A"/>
                          </a:solidFill>
                          <a:latin typeface="Helvetica Neue"/>
                          <a:ea typeface="Helvetica Neue"/>
                          <a:cs typeface="Helvetica Neue"/>
                        </a:rPr>
                        <a:t>reject</a:t>
                      </a:r>
                    </a:p>
                  </a:txBody>
                  <a:tcPr marL="73152" marR="73152" marT="36576" marB="36576" anchor="ctr">
                    <a:solidFill>
                      <a:srgbClr val="FFFFFF"/>
                    </a:solidFill>
                  </a:tcPr>
                </a:tc>
              </a:tr>
            </a:tbl>
          </a:graphicData>
        </a:graphic>
      </p:graphicFrame>
    </p:spTree>
    <p:extLst>
      <p:ext uri="{BB962C8B-B14F-4D97-AF65-F5344CB8AC3E}">
        <p14:creationId xmlns:p14="http://schemas.microsoft.com/office/powerpoint/2010/main" val="47785034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4B2A1B8-D997-4A69-B321-45D4ED380496}"/>
              </a:ext>
            </a:extLst>
          </p:cNvPr>
          <p:cNvSpPr>
            <a:spLocks xmlns:a="http://schemas.openxmlformats.org/drawingml/2006/main" noGrp="1"/>
          </p:cNvSpPr>
          <p:nvPr/>
        </p:nvSpPr>
        <p:spPr>
          <a:xfrm xmlns:a="http://schemas.openxmlformats.org/drawingml/2006/main">
            <a:off x="640080" y="347472"/>
            <a:ext cx="10911535"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0B6E99"/>
                </a:solidFill>
                <a:latin typeface="Helvetica Neue"/>
                <a:ea typeface="Helvetica Neue"/>
                <a:cs typeface="Helvetica Neue"/>
              </a:rPr>
              <a:t>SCREENSHOTS</a:t>
            </a:r>
          </a:p>
        </p:txBody>
      </p:sp>
      <p:sp>
        <p:nvSpPr>
          <p:cNvPr id="3" name="TextBox 2">
            <a:extLst xmlns:a="http://schemas.openxmlformats.org/drawingml/2006/main">
              <a:ext uri="{FF2B5EF4-FFF2-40B4-BE49-F238E27FC236}">
                <a16:creationId xmlns:a16="http://schemas.microsoft.com/office/drawing/2014/main" id="{6225FF65-5353-4947-827C-DD17104392F4}"/>
              </a:ext>
            </a:extLst>
          </p:cNvPr>
          <p:cNvSpPr>
            <a:spLocks xmlns:a="http://schemas.openxmlformats.org/drawingml/2006/main" noGrp="1"/>
          </p:cNvSpPr>
          <p:nvPr/>
        </p:nvSpPr>
        <p:spPr>
          <a:xfrm xmlns:a="http://schemas.openxmlformats.org/drawingml/2006/main">
            <a:off x="640080" y="640080"/>
            <a:ext cx="10911535"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1F2328"/>
                </a:solidFill>
                <a:latin typeface="Helvetica Neue"/>
                <a:ea typeface="Helvetica Neue"/>
                <a:cs typeface="Helvetica Neue"/>
              </a:rPr>
              <a:t>How it looks: proving one node</a:t>
            </a:r>
          </a:p>
        </p:txBody>
      </p:sp>
      <p:sp>
        <p:nvSpPr>
          <p:cNvPr id="4" name="Rectangle 3">
            <a:extLst xmlns:a="http://schemas.openxmlformats.org/drawingml/2006/main">
              <a:ext uri="{FF2B5EF4-FFF2-40B4-BE49-F238E27FC236}">
                <a16:creationId xmlns:a16="http://schemas.microsoft.com/office/drawing/2014/main" id="{007A07AA-27F1-4A83-AC52-17D515AD0CF2}"/>
              </a:ext>
            </a:extLst>
          </p:cNvPr>
          <p:cNvSpPr>
            <a:spLocks xmlns:a="http://schemas.openxmlformats.org/drawingml/2006/main" noGrp="1"/>
          </p:cNvSpPr>
          <p:nvPr/>
        </p:nvSpPr>
        <p:spPr>
          <a:xfrm xmlns:a="http://schemas.openxmlformats.org/drawingml/2006/main">
            <a:off x="640080" y="1572768"/>
            <a:ext cx="10911535" cy="12700"/>
          </a:xfrm>
          <a:prstGeom xmlns:a="http://schemas.openxmlformats.org/drawingml/2006/main" prst="rect">
            <a:avLst/>
          </a:prstGeom>
          <a:solidFill xmlns:a="http://schemas.openxmlformats.org/drawingml/2006/main">
            <a:srgbClr val="D9DE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558679AD-EAF2-4DD5-A762-219124FF3F01}"/>
              </a:ext>
            </a:extLst>
          </p:cNvPr>
          <p:cNvSpPr>
            <a:spLocks xmlns:a="http://schemas.openxmlformats.org/drawingml/2006/main" noGrp="1"/>
          </p:cNvSpPr>
          <p:nvPr/>
        </p:nvSpPr>
        <p:spPr>
          <a:xfrm xmlns:a="http://schemas.openxmlformats.org/drawingml/2006/main">
            <a:off x="640080" y="6400800"/>
            <a:ext cx="10911535"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5F6770"/>
                </a:solidFill>
                <a:latin typeface="Helvetica Neue"/>
                <a:ea typeface="Helvetica Neue"/>
                <a:cs typeface="Helvetica Neue"/>
              </a:rPr>
              <a:t>llama-receipts, Sep 11, 2026</a:t>
            </a:r>
            <a:r>
              <a:rPr sz="1000">
                <a:solidFill>
                  <a:srgbClr val="5F6770"/>
                </a:solidFill>
                <a:latin typeface="Helvetica Neue"/>
                <a:ea typeface="Helvetica Neue"/>
                <a:cs typeface="Helvetica Neue"/>
              </a:rPr>
              <a:t>     15</a:t>
            </a:r>
          </a:p>
        </p:txBody>
      </p:sp>
      <p:sp>
        <p:nvSpPr>
          <p:cNvPr id="7" name="TextBox 6">
            <a:extLst xmlns:a="http://schemas.openxmlformats.org/drawingml/2006/main">
              <a:ext uri="{FF2B5EF4-FFF2-40B4-BE49-F238E27FC236}">
                <a16:creationId xmlns:a16="http://schemas.microsoft.com/office/drawing/2014/main" id="{07EA1E25-0622-454B-8AA6-B0368A9AED4D}"/>
              </a:ext>
            </a:extLst>
          </p:cNvPr>
          <p:cNvSpPr>
            <a:spLocks xmlns:a="http://schemas.openxmlformats.org/drawingml/2006/main" noGrp="1"/>
          </p:cNvSpPr>
          <p:nvPr/>
        </p:nvSpPr>
        <p:spPr>
          <a:xfrm xmlns:a="http://schemas.openxmlformats.org/drawingml/2006/main">
            <a:off x="640080" y="5806440"/>
            <a:ext cx="10911535"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F6770"/>
                </a:solidFill>
                <a:latin typeface="Helvetica Neue"/>
                <a:ea typeface="Helvetica Neue"/>
                <a:cs typeface="Helvetica Neue"/>
              </a:rPr>
              <a:t>A 256 by 1536 key projection: public proof inputs checked against the GGUF, proof produced in 0.19 seconds, tampered sum rejected, float step within 2e-7.</a:t>
            </a:r>
          </a:p>
        </p:txBody>
      </p:sp>
      <p:sp>
        <p:nvSpPr>
          <p:cNvPr id="8" name="">
            <a:extLst xmlns:a="http://schemas.openxmlformats.org/drawingml/2006/main">
              <a:ext uri="{FF2B5EF4-FFF2-40B4-BE49-F238E27FC236}">
                <a16:creationId xmlns:a16="http://schemas.microsoft.com/office/drawing/2014/main" id="{CCECCB97-8A4B-486A-BEE6-911D0EE13FB3}"/>
              </a:ext>
            </a:extLst>
          </p:cNvPr>
          <p:cNvSpPr>
            <a:spLocks xmlns:a="http://schemas.openxmlformats.org/drawingml/2006/main" noGrp="1"/>
          </p:cNvSpPr>
          <p:nvPr/>
        </p:nvSpPr>
        <p:spPr>
          <a:xfrm xmlns:a="http://schemas.openxmlformats.org/drawingml/2006/main">
            <a:off x="655130" y="1783080"/>
            <a:ext cx="10881360" cy="3339084"/>
          </a:xfrm>
          <a:prstGeom xmlns:a="http://schemas.openxmlformats.org/drawingml/2006/main" prst="roundRect">
            <a:avLst>
              <a:gd name="adj" fmla="val 2282"/>
            </a:avLst>
          </a:prstGeom>
          <a:solidFill xmlns:a="http://schemas.openxmlformats.org/drawingml/2006/main">
            <a:srgbClr val="08131D"/>
          </a:solidFill>
          <a:ln xmlns:a="http://schemas.openxmlformats.org/drawingml/2006/main" w="9525">
            <a:solidFill>
              <a:srgbClr val="193247"/>
            </a:solidFill>
          </a:ln>
        </p:spPr>
        <p:txBody>
          <a:bodyPr xmlns:a="http://schemas.openxmlformats.org/drawingml/2006/main">
            <a:normAutofit fontScale="100000"/>
          </a:bodyPr>
          <a:lstStyle xmlns:a="http://schemas.openxmlformats.org/drawingml/2006/main"/>
          <a:p xmlns:a="http://schemas.openxmlformats.org/drawingml/2006/main">
            <a:pPr>
              <a:defRPr sz="1125">
                <a:solidFill>
                  <a:srgbClr val="D8E6F0"/>
                </a:solidFill>
                <a:latin typeface="Menlo"/>
                <a:ea typeface="Menlo"/>
                <a:cs typeface="Menlo"/>
              </a:defRPr>
            </a:pPr>
            <a:r>
              <a:rPr sz="1125">
                <a:solidFill>
                  <a:srgbClr val="D8E6F0"/>
                </a:solidFill>
                <a:latin typeface="Menlo"/>
                <a:ea typeface="Menlo"/>
                <a:cs typeface="Menlo"/>
              </a:rPr>
              <a:t>$ zk_node.py receipt.json --model model.gguf --index 916 --out zk-out</a:t>
            </a:r>
          </a:p>
          <a:p xmlns:a="http://schemas.openxmlformats.org/drawingml/2006/main">
            <a:pPr>
              <a:defRPr sz="1125">
                <a:solidFill>
                  <a:srgbClr val="D8E6F0"/>
                </a:solidFill>
                <a:latin typeface="Menlo"/>
                <a:ea typeface="Menlo"/>
                <a:cs typeface="Menlo"/>
              </a:defRPr>
            </a:pPr>
            <a:r>
              <a:rPr sz="1125">
                <a:solidFill>
                  <a:srgbClr val="D8E6F0"/>
                </a:solidFill>
                <a:latin typeface="Menlo"/>
                <a:ea typeface="Menlo"/>
                <a:cs typeface="Menlo"/>
              </a:rPr>
              <a:t>node: Kcur-13 = blk.13.attn_k.weight [1536 x 256]</a:t>
            </a:r>
          </a:p>
          <a:p xmlns:a="http://schemas.openxmlformats.org/drawingml/2006/main">
            <a:pPr>
              <a:defRPr sz="1125">
                <a:solidFill>
                  <a:srgbClr val="D8E6F0"/>
                </a:solidFill>
                <a:latin typeface="Menlo"/>
                <a:ea typeface="Menlo"/>
                <a:cs typeface="Menlo"/>
              </a:defRPr>
            </a:pPr>
            <a:r>
              <a:rPr sz="1125">
                <a:solidFill>
                  <a:srgbClr val="D8E6F0"/>
                </a:solidFill>
                <a:latin typeface="Menlo"/>
                <a:ea typeface="Menlo"/>
                <a:cs typeface="Menlo"/>
              </a:rPr>
              <a:t>statement: 422400 public inputs checked against the GGUF</a:t>
            </a:r>
          </a:p>
          <a:p xmlns:a="http://schemas.openxmlformats.org/drawingml/2006/main">
            <a:pPr>
              <a:defRPr sz="1125">
                <a:solidFill>
                  <a:srgbClr val="D8E6F0"/>
                </a:solidFill>
                <a:latin typeface="Menlo"/>
                <a:ea typeface="Menlo"/>
                <a:cs typeface="Menlo"/>
              </a:defRPr>
            </a:pPr>
            <a:r>
              <a:rPr sz="1125">
                <a:solidFill>
                  <a:srgbClr val="D8E6F0"/>
                </a:solidFill>
                <a:latin typeface="Menlo"/>
                <a:ea typeface="Menlo"/>
                <a:cs typeface="Menlo"/>
              </a:rPr>
              <a:t>float step relative error: 2.02e-07</a:t>
            </a:r>
          </a:p>
          <a:p xmlns:a="http://schemas.openxmlformats.org/drawingml/2006/main">
            <a:pPr>
              <a:defRPr sz="1125">
                <a:solidFill>
                  <a:srgbClr val="D8E6F0"/>
                </a:solidFill>
                <a:latin typeface="Menlo"/>
                <a:ea typeface="Menlo"/>
                <a:cs typeface="Menlo"/>
              </a:defRPr>
            </a:pPr>
            <a:r>
              <a:rPr sz="1125">
                <a:solidFill>
                  <a:srgbClr val="D8E6F0"/>
                </a:solidFill>
                <a:latin typeface="Menlo"/>
                <a:ea typeface="Menlo"/>
                <a:cs typeface="Menlo"/>
              </a:rPr>
              <a:t>compiled in 2.28s; witness solved in 0.03s</a:t>
            </a:r>
          </a:p>
          <a:p xmlns:a="http://schemas.openxmlformats.org/drawingml/2006/main">
            <a:pPr>
              <a:defRPr sz="1125">
                <a:solidFill>
                  <a:srgbClr val="D8E6F0"/>
                </a:solidFill>
                <a:latin typeface="Menlo"/>
                <a:ea typeface="Menlo"/>
                <a:cs typeface="Menlo"/>
              </a:defRPr>
            </a:pPr>
            <a:r>
              <a:rPr sz="1125">
                <a:solidFill>
                  <a:srgbClr val="D8E6F0"/>
                </a:solidFill>
                <a:latin typeface="Menlo"/>
                <a:ea typeface="Menlo"/>
                <a:cs typeface="Menlo"/>
              </a:rPr>
              <a:t>proved in 0.19s: proof 27852548 bytes</a:t>
            </a:r>
          </a:p>
          <a:p xmlns:a="http://schemas.openxmlformats.org/drawingml/2006/main">
            <a:pPr>
              <a:defRPr sz="1125">
                <a:solidFill>
                  <a:srgbClr val="D8E6F0"/>
                </a:solidFill>
                <a:latin typeface="Menlo"/>
                <a:ea typeface="Menlo"/>
                <a:cs typeface="Menlo"/>
              </a:defRPr>
            </a:pPr>
            <a:r>
              <a:rPr sz="1125">
                <a:solidFill>
                  <a:srgbClr val="D8E6F0"/>
                </a:solidFill>
                <a:latin typeface="Menlo"/>
                <a:ea typeface="Menlo"/>
                <a:cs typeface="Menlo"/>
              </a:rPr>
              <a:t>compile 2.31s, verify 0.200s: ACCEPT</a:t>
            </a:r>
          </a:p>
          <a:p xmlns:a="http://schemas.openxmlformats.org/drawingml/2006/main">
            <a:pPr>
              <a:defRPr sz="1125">
                <a:solidFill>
                  <a:srgbClr val="D8E6F0"/>
                </a:solidFill>
                <a:latin typeface="Menlo"/>
                <a:ea typeface="Menlo"/>
                <a:cs typeface="Menlo"/>
              </a:defRPr>
            </a:pPr>
            <a:r>
              <a:rPr sz="1125">
                <a:solidFill>
                  <a:srgbClr val="D8E6F0"/>
                </a:solidFill>
                <a:latin typeface="Menlo"/>
                <a:ea typeface="Menlo"/>
                <a:cs typeface="Menlo"/>
              </a:rPr>
              <a:t>tampered sum: REJECT</a:t>
            </a:r>
          </a:p>
          <a:p xmlns:a="http://schemas.openxmlformats.org/drawingml/2006/main">
            <a:pPr>
              <a:defRPr sz="1125">
                <a:solidFill>
                  <a:srgbClr val="D8E6F0"/>
                </a:solidFill>
                <a:latin typeface="Menlo"/>
                <a:ea typeface="Menlo"/>
                <a:cs typeface="Menlo"/>
              </a:defRPr>
            </a:pPr>
            <a:r>
              <a:rPr sz="1125">
                <a:solidFill>
                  <a:srgbClr val="D8E6F0"/>
                </a:solidFill>
                <a:latin typeface="Menlo"/>
                <a:ea typeface="Menlo"/>
                <a:cs typeface="Menlo"/>
              </a:rPr>
              <a:t>RESULT: proof verifies and public weights match the claimed model</a:t>
            </a:r>
          </a:p>
        </p:txBody>
      </p:sp>
    </p:spTree>
    <p:extLst>
      <p:ext uri="{BB962C8B-B14F-4D97-AF65-F5344CB8AC3E}">
        <p14:creationId xmlns:p14="http://schemas.microsoft.com/office/powerpoint/2010/main" val="808813020"/>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DC7BB9D-46CF-492B-89E1-A9AF66605FBC}"/>
              </a:ext>
            </a:extLst>
          </p:cNvPr>
          <p:cNvSpPr>
            <a:spLocks xmlns:a="http://schemas.openxmlformats.org/drawingml/2006/main" noGrp="1"/>
          </p:cNvSpPr>
          <p:nvPr/>
        </p:nvSpPr>
        <p:spPr>
          <a:xfrm xmlns:a="http://schemas.openxmlformats.org/drawingml/2006/main">
            <a:off x="640080" y="347472"/>
            <a:ext cx="10911535"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0B6E99"/>
                </a:solidFill>
                <a:latin typeface="Helvetica Neue"/>
                <a:ea typeface="Helvetica Neue"/>
                <a:cs typeface="Helvetica Neue"/>
              </a:rPr>
              <a:t>CODE</a:t>
            </a:r>
          </a:p>
        </p:txBody>
      </p:sp>
      <p:sp>
        <p:nvSpPr>
          <p:cNvPr id="3" name="TextBox 2">
            <a:extLst xmlns:a="http://schemas.openxmlformats.org/drawingml/2006/main">
              <a:ext uri="{FF2B5EF4-FFF2-40B4-BE49-F238E27FC236}">
                <a16:creationId xmlns:a16="http://schemas.microsoft.com/office/drawing/2014/main" id="{BC5B64D9-18A9-416C-B1C3-DAD772EE1A9E}"/>
              </a:ext>
            </a:extLst>
          </p:cNvPr>
          <p:cNvSpPr>
            <a:spLocks xmlns:a="http://schemas.openxmlformats.org/drawingml/2006/main" noGrp="1"/>
          </p:cNvSpPr>
          <p:nvPr/>
        </p:nvSpPr>
        <p:spPr>
          <a:xfrm xmlns:a="http://schemas.openxmlformats.org/drawingml/2006/main">
            <a:off x="640080" y="640080"/>
            <a:ext cx="10911535"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1F2328"/>
                </a:solidFill>
                <a:latin typeface="Helvetica Neue"/>
                <a:ea typeface="Helvetica Neue"/>
                <a:cs typeface="Helvetica Neue"/>
              </a:rPr>
              <a:t>Where it lives: one fork, three stacked pull requests</a:t>
            </a:r>
          </a:p>
        </p:txBody>
      </p:sp>
      <p:sp>
        <p:nvSpPr>
          <p:cNvPr id="4" name="Rectangle 3">
            <a:extLst xmlns:a="http://schemas.openxmlformats.org/drawingml/2006/main">
              <a:ext uri="{FF2B5EF4-FFF2-40B4-BE49-F238E27FC236}">
                <a16:creationId xmlns:a16="http://schemas.microsoft.com/office/drawing/2014/main" id="{EAAD9F04-1C3B-43B8-BCFA-E4AFCB50F1E4}"/>
              </a:ext>
            </a:extLst>
          </p:cNvPr>
          <p:cNvSpPr>
            <a:spLocks xmlns:a="http://schemas.openxmlformats.org/drawingml/2006/main" noGrp="1"/>
          </p:cNvSpPr>
          <p:nvPr/>
        </p:nvSpPr>
        <p:spPr>
          <a:xfrm xmlns:a="http://schemas.openxmlformats.org/drawingml/2006/main">
            <a:off x="640080" y="1572768"/>
            <a:ext cx="10911535" cy="12700"/>
          </a:xfrm>
          <a:prstGeom xmlns:a="http://schemas.openxmlformats.org/drawingml/2006/main" prst="rect">
            <a:avLst/>
          </a:prstGeom>
          <a:solidFill xmlns:a="http://schemas.openxmlformats.org/drawingml/2006/main">
            <a:srgbClr val="D9DE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9B10489A-033E-4E0F-A326-6ADCF24C387D}"/>
              </a:ext>
            </a:extLst>
          </p:cNvPr>
          <p:cNvSpPr>
            <a:spLocks xmlns:a="http://schemas.openxmlformats.org/drawingml/2006/main" noGrp="1"/>
          </p:cNvSpPr>
          <p:nvPr/>
        </p:nvSpPr>
        <p:spPr>
          <a:xfrm xmlns:a="http://schemas.openxmlformats.org/drawingml/2006/main">
            <a:off x="640080" y="6400800"/>
            <a:ext cx="10911535"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5F6770"/>
                </a:solidFill>
                <a:latin typeface="Helvetica Neue"/>
                <a:ea typeface="Helvetica Neue"/>
                <a:cs typeface="Helvetica Neue"/>
              </a:rPr>
              <a:t>llama-receipts, Sep 11, 2026</a:t>
            </a:r>
            <a:r>
              <a:rPr sz="1000">
                <a:solidFill>
                  <a:srgbClr val="5F6770"/>
                </a:solidFill>
                <a:latin typeface="Helvetica Neue"/>
                <a:ea typeface="Helvetica Neue"/>
                <a:cs typeface="Helvetica Neue"/>
              </a:rPr>
              <a:t>     16</a:t>
            </a:r>
          </a:p>
        </p:txBody>
      </p:sp>
      <p:sp>
        <p:nvSpPr>
          <p:cNvPr id="6" name="Rounded Rectangle 5">
            <a:extLst xmlns:a="http://schemas.openxmlformats.org/drawingml/2006/main">
              <a:ext uri="{FF2B5EF4-FFF2-40B4-BE49-F238E27FC236}">
                <a16:creationId xmlns:a16="http://schemas.microsoft.com/office/drawing/2014/main" id="{BBCA0B45-1A22-4A76-9698-1C825580E8A9}"/>
              </a:ext>
            </a:extLst>
          </p:cNvPr>
          <p:cNvSpPr>
            <a:spLocks xmlns:a="http://schemas.openxmlformats.org/drawingml/2006/main" noGrp="1"/>
          </p:cNvSpPr>
          <p:nvPr/>
        </p:nvSpPr>
        <p:spPr>
          <a:xfrm xmlns:a="http://schemas.openxmlformats.org/drawingml/2006/main">
            <a:off x="640080" y="2103120"/>
            <a:ext cx="2468880" cy="822960"/>
          </a:xfrm>
          <a:prstGeom xmlns:a="http://schemas.openxmlformats.org/drawingml/2006/main" prst="roundRect">
            <a:avLst/>
          </a:prstGeom>
          <a:solidFill xmlns:a="http://schemas.openxmlformats.org/drawingml/2006/main">
            <a:srgbClr val="F4F6F8"/>
          </a:solidFill>
          <a:ln xmlns:a="http://schemas.openxmlformats.org/drawingml/2006/main" w="15875">
            <a:solidFill>
              <a:srgbClr val="D9DEE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ctr"/>
          <a:lstStyle xmlns:a="http://schemas.openxmlformats.org/drawingml/2006/main"/>
          <a:p xmlns:a="http://schemas.openxmlformats.org/drawingml/2006/main">
            <a:pPr algn="ctr">
              <a:buNone/>
            </a:pPr>
            <a:r>
              <a:rPr sz="1300" b="1">
                <a:solidFill>
                  <a:srgbClr val="1F2328"/>
                </a:solidFill>
                <a:latin typeface="Helvetica Neue"/>
                <a:ea typeface="Helvetica Neue"/>
                <a:cs typeface="Helvetica Neue"/>
              </a:rPr>
              <a:t>ggml-org/llama.cpp master</a:t>
            </a:r>
          </a:p>
        </p:txBody>
      </p:sp>
      <p:sp>
        <p:nvSpPr>
          <p:cNvPr id="7" name="Rounded Rectangle 6">
            <a:extLst xmlns:a="http://schemas.openxmlformats.org/drawingml/2006/main">
              <a:ext uri="{FF2B5EF4-FFF2-40B4-BE49-F238E27FC236}">
                <a16:creationId xmlns:a16="http://schemas.microsoft.com/office/drawing/2014/main" id="{268BDEAA-810B-4B51-8E52-9BFFD0499897}"/>
              </a:ext>
            </a:extLst>
          </p:cNvPr>
          <p:cNvSpPr>
            <a:spLocks xmlns:a="http://schemas.openxmlformats.org/drawingml/2006/main" noGrp="1"/>
          </p:cNvSpPr>
          <p:nvPr/>
        </p:nvSpPr>
        <p:spPr>
          <a:xfrm xmlns:a="http://schemas.openxmlformats.org/drawingml/2006/main">
            <a:off x="3566160" y="2103120"/>
            <a:ext cx="2468880" cy="822960"/>
          </a:xfrm>
          <a:prstGeom xmlns:a="http://schemas.openxmlformats.org/drawingml/2006/main" prst="roundRect">
            <a:avLst/>
          </a:prstGeom>
          <a:solidFill xmlns:a="http://schemas.openxmlformats.org/drawingml/2006/main">
            <a:srgbClr val="DCECF4"/>
          </a:solidFill>
          <a:ln xmlns:a="http://schemas.openxmlformats.org/drawingml/2006/main" w="15875">
            <a:solidFill>
              <a:srgbClr val="0B6E9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ctr"/>
          <a:lstStyle xmlns:a="http://schemas.openxmlformats.org/drawingml/2006/main"/>
          <a:p xmlns:a="http://schemas.openxmlformats.org/drawingml/2006/main">
            <a:pPr algn="ctr">
              <a:buNone/>
            </a:pPr>
            <a:r>
              <a:rPr sz="1300" b="1">
                <a:solidFill>
                  <a:srgbClr val="1F2328"/>
                </a:solidFill>
                <a:latin typeface="Helvetica Neue"/>
                <a:ea typeface="Helvetica Neue"/>
                <a:cs typeface="Helvetica Neue"/>
              </a:rPr>
              <a:t>PR 1: receipts-trace</a:t>
            </a:r>
          </a:p>
          <a:p xmlns:a="http://schemas.openxmlformats.org/drawingml/2006/main">
            <a:pPr algn="ctr">
              <a:spcBef>
                <a:spcPts val="300"/>
              </a:spcBef>
              <a:buNone/>
            </a:pPr>
            <a:r>
              <a:rPr sz="1100" b="0">
                <a:solidFill>
                  <a:srgbClr val="5F6770"/>
                </a:solidFill>
                <a:latin typeface="Helvetica Neue"/>
                <a:ea typeface="Helvetica Neue"/>
                <a:cs typeface="Helvetica Neue"/>
              </a:rPr>
              <a:t>llama-receipts, verify_trace.py</a:t>
            </a:r>
          </a:p>
        </p:txBody>
      </p:sp>
      <p:sp>
        <p:nvSpPr>
          <p:cNvPr id="8" name="Rounded Rectangle 7">
            <a:extLst xmlns:a="http://schemas.openxmlformats.org/drawingml/2006/main">
              <a:ext uri="{FF2B5EF4-FFF2-40B4-BE49-F238E27FC236}">
                <a16:creationId xmlns:a16="http://schemas.microsoft.com/office/drawing/2014/main" id="{D8561384-2B9E-4E1F-AF6F-BA1BBF41EAE5}"/>
              </a:ext>
            </a:extLst>
          </p:cNvPr>
          <p:cNvSpPr>
            <a:spLocks xmlns:a="http://schemas.openxmlformats.org/drawingml/2006/main" noGrp="1"/>
          </p:cNvSpPr>
          <p:nvPr/>
        </p:nvSpPr>
        <p:spPr>
          <a:xfrm xmlns:a="http://schemas.openxmlformats.org/drawingml/2006/main">
            <a:off x="6492240" y="1417320"/>
            <a:ext cx="2468880" cy="822960"/>
          </a:xfrm>
          <a:prstGeom xmlns:a="http://schemas.openxmlformats.org/drawingml/2006/main" prst="roundRect">
            <a:avLst/>
          </a:prstGeom>
          <a:solidFill xmlns:a="http://schemas.openxmlformats.org/drawingml/2006/main">
            <a:srgbClr val="E2F3E4"/>
          </a:solidFill>
          <a:ln xmlns:a="http://schemas.openxmlformats.org/drawingml/2006/main" w="15875">
            <a:solidFill>
              <a:srgbClr val="2E7D3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ctr"/>
          <a:lstStyle xmlns:a="http://schemas.openxmlformats.org/drawingml/2006/main"/>
          <a:p xmlns:a="http://schemas.openxmlformats.org/drawingml/2006/main">
            <a:pPr algn="ctr">
              <a:buNone/>
            </a:pPr>
            <a:r>
              <a:rPr sz="1300" b="1">
                <a:solidFill>
                  <a:srgbClr val="1F2328"/>
                </a:solidFill>
                <a:latin typeface="Helvetica Neue"/>
                <a:ea typeface="Helvetica Neue"/>
                <a:cs typeface="Helvetica Neue"/>
              </a:rPr>
              <a:t>PR 2: receipts-lean-spec</a:t>
            </a:r>
          </a:p>
          <a:p xmlns:a="http://schemas.openxmlformats.org/drawingml/2006/main">
            <a:pPr algn="ctr">
              <a:spcBef>
                <a:spcPts val="300"/>
              </a:spcBef>
              <a:buNone/>
            </a:pPr>
            <a:r>
              <a:rPr sz="1100" b="0">
                <a:solidFill>
                  <a:srgbClr val="5F6770"/>
                </a:solidFill>
                <a:latin typeface="Helvetica Neue"/>
                <a:ea typeface="Helvetica Neue"/>
                <a:cs typeface="Helvetica Neue"/>
              </a:rPr>
              <a:t>spec/, Lean 4</a:t>
            </a:r>
          </a:p>
        </p:txBody>
      </p:sp>
      <p:sp>
        <p:nvSpPr>
          <p:cNvPr id="9" name="Rounded Rectangle 8">
            <a:extLst xmlns:a="http://schemas.openxmlformats.org/drawingml/2006/main">
              <a:ext uri="{FF2B5EF4-FFF2-40B4-BE49-F238E27FC236}">
                <a16:creationId xmlns:a16="http://schemas.microsoft.com/office/drawing/2014/main" id="{8E0AC99E-F541-4521-9B29-59B6BBED153B}"/>
              </a:ext>
            </a:extLst>
          </p:cNvPr>
          <p:cNvSpPr>
            <a:spLocks xmlns:a="http://schemas.openxmlformats.org/drawingml/2006/main" noGrp="1"/>
          </p:cNvSpPr>
          <p:nvPr/>
        </p:nvSpPr>
        <p:spPr>
          <a:xfrm xmlns:a="http://schemas.openxmlformats.org/drawingml/2006/main">
            <a:off x="6492240" y="2788920"/>
            <a:ext cx="2468880" cy="822960"/>
          </a:xfrm>
          <a:prstGeom xmlns:a="http://schemas.openxmlformats.org/drawingml/2006/main" prst="roundRect">
            <a:avLst/>
          </a:prstGeom>
          <a:solidFill xmlns:a="http://schemas.openxmlformats.org/drawingml/2006/main">
            <a:srgbClr val="FBEFD9"/>
          </a:solidFill>
          <a:ln xmlns:a="http://schemas.openxmlformats.org/drawingml/2006/main" w="15875">
            <a:solidFill>
              <a:srgbClr val="9A6A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ctr"/>
          <a:lstStyle xmlns:a="http://schemas.openxmlformats.org/drawingml/2006/main"/>
          <a:p xmlns:a="http://schemas.openxmlformats.org/drawingml/2006/main">
            <a:pPr algn="ctr">
              <a:buNone/>
            </a:pPr>
            <a:r>
              <a:rPr sz="1300" b="1">
                <a:solidFill>
                  <a:srgbClr val="1F2328"/>
                </a:solidFill>
                <a:latin typeface="Helvetica Neue"/>
                <a:ea typeface="Helvetica Neue"/>
                <a:cs typeface="Helvetica Neue"/>
              </a:rPr>
              <a:t>PR 3: receipts-zk-poc</a:t>
            </a:r>
          </a:p>
          <a:p xmlns:a="http://schemas.openxmlformats.org/drawingml/2006/main">
            <a:pPr algn="ctr">
              <a:spcBef>
                <a:spcPts val="300"/>
              </a:spcBef>
              <a:buNone/>
            </a:pPr>
            <a:r>
              <a:rPr sz="1100" b="0">
                <a:solidFill>
                  <a:srgbClr val="5F6770"/>
                </a:solidFill>
                <a:latin typeface="Helvetica Neue"/>
                <a:ea typeface="Helvetica Neue"/>
                <a:cs typeface="Helvetica Neue"/>
              </a:rPr>
              <a:t>zk/, Rust on Expander</a:t>
            </a:r>
          </a:p>
        </p:txBody>
      </p:sp>
      <p:sp>
        <p:nvSpPr>
          <p:cNvPr id="10" name="Connector 9">
            <a:extLst xmlns:a="http://schemas.openxmlformats.org/drawingml/2006/main">
              <a:ext uri="{FF2B5EF4-FFF2-40B4-BE49-F238E27FC236}">
                <a16:creationId xmlns:a16="http://schemas.microsoft.com/office/drawing/2014/main" id="{279E81DD-3873-4AE0-B586-891E6357CF9D}"/>
              </a:ext>
            </a:extLst>
          </p:cNvPr>
          <p:cNvSpPr>
            <a:spLocks xmlns:a="http://schemas.openxmlformats.org/drawingml/2006/main" noGrp="1"/>
          </p:cNvSpPr>
          <p:nvPr/>
        </p:nvSpPr>
        <p:spPr>
          <a:xfrm xmlns:a="http://schemas.openxmlformats.org/drawingml/2006/main">
            <a:off x="3108960" y="2514600"/>
            <a:ext cx="457200" cy="0"/>
          </a:xfrm>
          <a:prstGeom xmlns:a="http://schemas.openxmlformats.org/drawingml/2006/main" prst="line">
            <a:avLst/>
          </a:prstGeom>
          <a:ln xmlns:a="http://schemas.openxmlformats.org/drawingml/2006/main" w="19050">
            <a:solidFill>
              <a:srgbClr val="5F6770"/>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B97ABA72-B26A-4C06-AEE6-3D8A4EF6EB0D}"/>
              </a:ext>
            </a:extLst>
          </p:cNvPr>
          <p:cNvSpPr>
            <a:spLocks xmlns:a="http://schemas.openxmlformats.org/drawingml/2006/main" noGrp="1"/>
          </p:cNvSpPr>
          <p:nvPr/>
        </p:nvSpPr>
        <p:spPr>
          <a:xfrm xmlns:a="http://schemas.openxmlformats.org/drawingml/2006/main" flipV="1">
            <a:off x="6035040" y="1828800"/>
            <a:ext cx="457200" cy="685800"/>
          </a:xfrm>
          <a:prstGeom xmlns:a="http://schemas.openxmlformats.org/drawingml/2006/main" prst="line">
            <a:avLst/>
          </a:prstGeom>
          <a:ln xmlns:a="http://schemas.openxmlformats.org/drawingml/2006/main" w="19050">
            <a:solidFill>
              <a:srgbClr val="5F6770"/>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DD43B7CE-BA9D-456A-9162-C50E4F334DB0}"/>
              </a:ext>
            </a:extLst>
          </p:cNvPr>
          <p:cNvSpPr>
            <a:spLocks xmlns:a="http://schemas.openxmlformats.org/drawingml/2006/main" noGrp="1"/>
          </p:cNvSpPr>
          <p:nvPr/>
        </p:nvSpPr>
        <p:spPr>
          <a:xfrm xmlns:a="http://schemas.openxmlformats.org/drawingml/2006/main">
            <a:off x="6035040" y="2514600"/>
            <a:ext cx="457200" cy="685800"/>
          </a:xfrm>
          <a:prstGeom xmlns:a="http://schemas.openxmlformats.org/drawingml/2006/main" prst="line">
            <a:avLst/>
          </a:prstGeom>
          <a:ln xmlns:a="http://schemas.openxmlformats.org/drawingml/2006/main" w="19050">
            <a:solidFill>
              <a:srgbClr val="5F6770"/>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TextBox 12">
            <a:extLst xmlns:a="http://schemas.openxmlformats.org/drawingml/2006/main">
              <a:ext uri="{FF2B5EF4-FFF2-40B4-BE49-F238E27FC236}">
                <a16:creationId xmlns:a16="http://schemas.microsoft.com/office/drawing/2014/main" id="{B2103BB2-C12F-4E6A-806B-65BC782F19A8}"/>
              </a:ext>
            </a:extLst>
          </p:cNvPr>
          <p:cNvSpPr>
            <a:spLocks xmlns:a="http://schemas.openxmlformats.org/drawingml/2006/main" noGrp="1"/>
          </p:cNvSpPr>
          <p:nvPr/>
        </p:nvSpPr>
        <p:spPr>
          <a:xfrm xmlns:a="http://schemas.openxmlformats.org/drawingml/2006/main">
            <a:off x="640080" y="4023360"/>
            <a:ext cx="10911535" cy="6400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0">
                <a:solidFill>
                  <a:srgbClr val="5F6770"/>
                </a:solidFill>
                <a:latin typeface="Helvetica Neue"/>
                <a:ea typeface="Helvetica Neue"/>
                <a:cs typeface="Helvetica Neue"/>
              </a:rPr>
              <a:t>Fork luiscosio/llama.cpp, level with upstream master. All three are drafts inside the fork. Expander is used through a fork with two small macOS build fixes.</a:t>
            </a:r>
          </a:p>
        </p:txBody>
      </p:sp>
      <p:sp>
        <p:nvSpPr>
          <p:cNvPr id="14" name="Rectangle 13">
            <a:extLst xmlns:a="http://schemas.openxmlformats.org/drawingml/2006/main">
              <a:ext uri="{FF2B5EF4-FFF2-40B4-BE49-F238E27FC236}">
                <a16:creationId xmlns:a16="http://schemas.microsoft.com/office/drawing/2014/main" id="{82514C5B-283D-4638-98C0-C529299D71FD}"/>
              </a:ext>
            </a:extLst>
          </p:cNvPr>
          <p:cNvSpPr>
            <a:spLocks xmlns:a="http://schemas.openxmlformats.org/drawingml/2006/main" noGrp="1"/>
          </p:cNvSpPr>
          <p:nvPr/>
        </p:nvSpPr>
        <p:spPr>
          <a:xfrm xmlns:a="http://schemas.openxmlformats.org/drawingml/2006/main">
            <a:off x="640080" y="4663440"/>
            <a:ext cx="10911535" cy="1371600"/>
          </a:xfrm>
          <a:prstGeom xmlns:a="http://schemas.openxmlformats.org/drawingml/2006/main" prst="rect">
            <a:avLst/>
          </a:prstGeom>
          <a:solidFill xmlns:a="http://schemas.openxmlformats.org/drawingml/2006/main">
            <a:srgbClr val="F4F6F8"/>
          </a:solidFill>
          <a:ln xmlns:a="http://schemas.openxmlformats.org/drawingml/2006/main" w="15875">
            <a:solidFill>
              <a:srgbClr val="D9DEE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t"/>
          <a:lstStyle xmlns:a="http://schemas.openxmlformats.org/drawingml/2006/main"/>
          <a:p xmlns:a="http://schemas.openxmlformats.org/drawingml/2006/main">
            <a:pPr algn="l">
              <a:buNone/>
            </a:pPr>
            <a:r>
              <a:rPr sz="1100" b="0">
                <a:solidFill>
                  <a:srgbClr val="1F2328"/>
                </a:solidFill>
                <a:latin typeface="Menlo"/>
                <a:ea typeface="Menlo"/>
                <a:cs typeface="Menlo"/>
              </a:rPr>
              <a:t>llama-receipts -m model.gguf -p "..." -n 32 --trace --out receipt.json       # prove</a:t>
            </a:r>
          </a:p>
          <a:p xmlns:a="http://schemas.openxmlformats.org/drawingml/2006/main">
            <a:pPr algn="l">
              <a:spcBef>
                <a:spcPts val="200"/>
              </a:spcBef>
              <a:buNone/>
            </a:pPr>
            <a:r>
              <a:rPr sz="1100" b="0">
                <a:solidFill>
                  <a:srgbClr val="1F2328"/>
                </a:solidFill>
                <a:latin typeface="Menlo"/>
                <a:ea typeface="Menlo"/>
                <a:cs typeface="Menlo"/>
              </a:rPr>
              <a:t>verify_trace.py receipt.json --model model.gguf --expected-topology-sha256 HASH # verify</a:t>
            </a:r>
          </a:p>
          <a:p xmlns:a="http://schemas.openxmlformats.org/drawingml/2006/main">
            <a:pPr algn="l">
              <a:spcBef>
                <a:spcPts val="200"/>
              </a:spcBef>
              <a:buNone/>
            </a:pPr>
            <a:r>
              <a:rPr sz="1100" b="0">
                <a:solidFill>
                  <a:srgbClr val="1F2328"/>
                </a:solidFill>
                <a:latin typeface="Menlo"/>
                <a:ea typeface="Menlo"/>
                <a:cs typeface="Menlo"/>
              </a:rPr>
              <a:t>spec-check trace receipt.json receipt.trace.json HASH                           # Lean</a:t>
            </a:r>
          </a:p>
          <a:p xmlns:a="http://schemas.openxmlformats.org/drawingml/2006/main">
            <a:pPr algn="l">
              <a:spcBef>
                <a:spcPts val="200"/>
              </a:spcBef>
              <a:buNone/>
            </a:pPr>
            <a:r>
              <a:rPr sz="1100" b="0">
                <a:solidFill>
                  <a:srgbClr val="1F2328"/>
                </a:solidFill>
                <a:latin typeface="Menlo"/>
                <a:ea typeface="Menlo"/>
                <a:cs typeface="Menlo"/>
              </a:rPr>
              <a:t>zk_node.py receipt.json --model model.gguf                                      # one node</a:t>
            </a:r>
          </a:p>
        </p:txBody>
      </p:sp>
    </p:spTree>
    <p:extLst>
      <p:ext uri="{BB962C8B-B14F-4D97-AF65-F5344CB8AC3E}">
        <p14:creationId xmlns:p14="http://schemas.microsoft.com/office/powerpoint/2010/main" val="83548855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8E9F244-F1B6-4F23-ACE3-822496F5CAF9}"/>
              </a:ext>
            </a:extLst>
          </p:cNvPr>
          <p:cNvSpPr>
            <a:spLocks xmlns:a="http://schemas.openxmlformats.org/drawingml/2006/main" noGrp="1"/>
          </p:cNvSpPr>
          <p:nvPr/>
        </p:nvSpPr>
        <p:spPr>
          <a:xfrm xmlns:a="http://schemas.openxmlformats.org/drawingml/2006/main">
            <a:off x="640080" y="347472"/>
            <a:ext cx="10911535"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0B6E99"/>
                </a:solidFill>
                <a:latin typeface="Helvetica Neue"/>
                <a:ea typeface="Helvetica Neue"/>
                <a:cs typeface="Helvetica Neue"/>
              </a:rPr>
              <a:t>NEXT</a:t>
            </a:r>
          </a:p>
        </p:txBody>
      </p:sp>
      <p:sp>
        <p:nvSpPr>
          <p:cNvPr id="3" name="TextBox 2">
            <a:extLst xmlns:a="http://schemas.openxmlformats.org/drawingml/2006/main">
              <a:ext uri="{FF2B5EF4-FFF2-40B4-BE49-F238E27FC236}">
                <a16:creationId xmlns:a16="http://schemas.microsoft.com/office/drawing/2014/main" id="{A7C13F59-12A4-41E1-8B93-21090A47B4C9}"/>
              </a:ext>
            </a:extLst>
          </p:cNvPr>
          <p:cNvSpPr>
            <a:spLocks xmlns:a="http://schemas.openxmlformats.org/drawingml/2006/main" noGrp="1"/>
          </p:cNvSpPr>
          <p:nvPr/>
        </p:nvSpPr>
        <p:spPr>
          <a:xfrm xmlns:a="http://schemas.openxmlformats.org/drawingml/2006/main">
            <a:off x="640080" y="640080"/>
            <a:ext cx="10911535"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1F2328"/>
                </a:solidFill>
                <a:latin typeface="Helvetica Neue"/>
                <a:ea typeface="Helvetica Neue"/>
                <a:cs typeface="Helvetica Neue"/>
              </a:rPr>
              <a:t>From one node to a proof of the whole forward pass</a:t>
            </a:r>
          </a:p>
        </p:txBody>
      </p:sp>
      <p:sp>
        <p:nvSpPr>
          <p:cNvPr id="4" name="Rectangle 3">
            <a:extLst xmlns:a="http://schemas.openxmlformats.org/drawingml/2006/main">
              <a:ext uri="{FF2B5EF4-FFF2-40B4-BE49-F238E27FC236}">
                <a16:creationId xmlns:a16="http://schemas.microsoft.com/office/drawing/2014/main" id="{84FE1F52-4F9C-45AA-9A16-2A1487D578BC}"/>
              </a:ext>
            </a:extLst>
          </p:cNvPr>
          <p:cNvSpPr>
            <a:spLocks xmlns:a="http://schemas.openxmlformats.org/drawingml/2006/main" noGrp="1"/>
          </p:cNvSpPr>
          <p:nvPr/>
        </p:nvSpPr>
        <p:spPr>
          <a:xfrm xmlns:a="http://schemas.openxmlformats.org/drawingml/2006/main">
            <a:off x="640080" y="1572768"/>
            <a:ext cx="10911535" cy="12700"/>
          </a:xfrm>
          <a:prstGeom xmlns:a="http://schemas.openxmlformats.org/drawingml/2006/main" prst="rect">
            <a:avLst/>
          </a:prstGeom>
          <a:solidFill xmlns:a="http://schemas.openxmlformats.org/drawingml/2006/main">
            <a:srgbClr val="D9DE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51E7FD70-2456-41F1-8DBA-814C5D8A110A}"/>
              </a:ext>
            </a:extLst>
          </p:cNvPr>
          <p:cNvSpPr>
            <a:spLocks xmlns:a="http://schemas.openxmlformats.org/drawingml/2006/main" noGrp="1"/>
          </p:cNvSpPr>
          <p:nvPr/>
        </p:nvSpPr>
        <p:spPr>
          <a:xfrm xmlns:a="http://schemas.openxmlformats.org/drawingml/2006/main">
            <a:off x="640080" y="6400800"/>
            <a:ext cx="10911535"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5F6770"/>
                </a:solidFill>
                <a:latin typeface="Helvetica Neue"/>
                <a:ea typeface="Helvetica Neue"/>
                <a:cs typeface="Helvetica Neue"/>
              </a:rPr>
              <a:t>llama-receipts, Sep 11, 2026</a:t>
            </a:r>
            <a:r>
              <a:rPr sz="1000">
                <a:solidFill>
                  <a:srgbClr val="5F6770"/>
                </a:solidFill>
                <a:latin typeface="Helvetica Neue"/>
                <a:ea typeface="Helvetica Neue"/>
                <a:cs typeface="Helvetica Neue"/>
              </a:rPr>
              <a:t>     17</a:t>
            </a:r>
          </a:p>
        </p:txBody>
      </p:sp>
      <p:sp>
        <p:nvSpPr>
          <p:cNvPr id="6" name="Rounded Rectangle 5">
            <a:extLst xmlns:a="http://schemas.openxmlformats.org/drawingml/2006/main">
              <a:ext uri="{FF2B5EF4-FFF2-40B4-BE49-F238E27FC236}">
                <a16:creationId xmlns:a16="http://schemas.microsoft.com/office/drawing/2014/main" id="{B0149861-078C-449E-AC51-74DDD3B1E745}"/>
              </a:ext>
            </a:extLst>
          </p:cNvPr>
          <p:cNvSpPr>
            <a:spLocks xmlns:a="http://schemas.openxmlformats.org/drawingml/2006/main" noGrp="1"/>
          </p:cNvSpPr>
          <p:nvPr/>
        </p:nvSpPr>
        <p:spPr>
          <a:xfrm xmlns:a="http://schemas.openxmlformats.org/drawingml/2006/main">
            <a:off x="640080" y="1965960"/>
            <a:ext cx="2514600" cy="1371600"/>
          </a:xfrm>
          <a:prstGeom xmlns:a="http://schemas.openxmlformats.org/drawingml/2006/main" prst="roundRect">
            <a:avLst/>
          </a:prstGeom>
          <a:solidFill xmlns:a="http://schemas.openxmlformats.org/drawingml/2006/main">
            <a:srgbClr val="E2F3E4"/>
          </a:solidFill>
          <a:ln xmlns:a="http://schemas.openxmlformats.org/drawingml/2006/main" w="15875">
            <a:solidFill>
              <a:srgbClr val="2E7D3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ctr"/>
          <a:lstStyle xmlns:a="http://schemas.openxmlformats.org/drawingml/2006/main"/>
          <a:p xmlns:a="http://schemas.openxmlformats.org/drawingml/2006/main">
            <a:pPr algn="ctr">
              <a:buNone/>
            </a:pPr>
            <a:r>
              <a:rPr sz="1600" b="1">
                <a:solidFill>
                  <a:srgbClr val="1F2328"/>
                </a:solidFill>
                <a:latin typeface="Helvetica Neue"/>
                <a:ea typeface="Helvetica Neue"/>
                <a:cs typeface="Helvetica Neue"/>
              </a:rPr>
              <a:t>Now</a:t>
            </a:r>
          </a:p>
          <a:p xmlns:a="http://schemas.openxmlformats.org/drawingml/2006/main">
            <a:pPr algn="ctr">
              <a:spcBef>
                <a:spcPts val="300"/>
              </a:spcBef>
              <a:buNone/>
            </a:pPr>
            <a:r>
              <a:rPr sz="1200" b="0">
                <a:solidFill>
                  <a:srgbClr val="1F2328"/>
                </a:solidFill>
                <a:latin typeface="Helvetica Neue"/>
                <a:ea typeface="Helvetica Neue"/>
                <a:cs typeface="Helvetica Neue"/>
              </a:rPr>
              <a:t>one matmul node, one row, GKR proof in seconds</a:t>
            </a:r>
          </a:p>
        </p:txBody>
      </p:sp>
      <p:sp>
        <p:nvSpPr>
          <p:cNvPr id="7" name="Connector 6">
            <a:extLst xmlns:a="http://schemas.openxmlformats.org/drawingml/2006/main">
              <a:ext uri="{FF2B5EF4-FFF2-40B4-BE49-F238E27FC236}">
                <a16:creationId xmlns:a16="http://schemas.microsoft.com/office/drawing/2014/main" id="{47F54D1C-7D1A-4000-9076-3F3ED6C7CDE7}"/>
              </a:ext>
            </a:extLst>
          </p:cNvPr>
          <p:cNvSpPr>
            <a:spLocks xmlns:a="http://schemas.openxmlformats.org/drawingml/2006/main" noGrp="1"/>
          </p:cNvSpPr>
          <p:nvPr/>
        </p:nvSpPr>
        <p:spPr>
          <a:xfrm xmlns:a="http://schemas.openxmlformats.org/drawingml/2006/main">
            <a:off x="3154680" y="2651760"/>
            <a:ext cx="301752" cy="0"/>
          </a:xfrm>
          <a:prstGeom xmlns:a="http://schemas.openxmlformats.org/drawingml/2006/main" prst="line">
            <a:avLst/>
          </a:prstGeom>
          <a:ln xmlns:a="http://schemas.openxmlformats.org/drawingml/2006/main" w="19050">
            <a:solidFill>
              <a:srgbClr val="5F6770"/>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8" name="Rounded Rectangle 7">
            <a:extLst xmlns:a="http://schemas.openxmlformats.org/drawingml/2006/main">
              <a:ext uri="{FF2B5EF4-FFF2-40B4-BE49-F238E27FC236}">
                <a16:creationId xmlns:a16="http://schemas.microsoft.com/office/drawing/2014/main" id="{610AB4FE-BD30-4AAB-8760-6AB2EECDAA6A}"/>
              </a:ext>
            </a:extLst>
          </p:cNvPr>
          <p:cNvSpPr>
            <a:spLocks xmlns:a="http://schemas.openxmlformats.org/drawingml/2006/main" noGrp="1"/>
          </p:cNvSpPr>
          <p:nvPr/>
        </p:nvSpPr>
        <p:spPr>
          <a:xfrm xmlns:a="http://schemas.openxmlformats.org/drawingml/2006/main">
            <a:off x="3456432" y="1965960"/>
            <a:ext cx="2514600" cy="1371600"/>
          </a:xfrm>
          <a:prstGeom xmlns:a="http://schemas.openxmlformats.org/drawingml/2006/main" prst="roundRect">
            <a:avLst/>
          </a:prstGeom>
          <a:solidFill xmlns:a="http://schemas.openxmlformats.org/drawingml/2006/main">
            <a:srgbClr val="DCECF4"/>
          </a:solidFill>
          <a:ln xmlns:a="http://schemas.openxmlformats.org/drawingml/2006/main" w="15875">
            <a:solidFill>
              <a:srgbClr val="0B6E9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ctr"/>
          <a:lstStyle xmlns:a="http://schemas.openxmlformats.org/drawingml/2006/main"/>
          <a:p xmlns:a="http://schemas.openxmlformats.org/drawingml/2006/main">
            <a:pPr algn="ctr">
              <a:buNone/>
            </a:pPr>
            <a:r>
              <a:rPr sz="1600" b="1">
                <a:solidFill>
                  <a:srgbClr val="1F2328"/>
                </a:solidFill>
                <a:latin typeface="Helvetica Neue"/>
                <a:ea typeface="Helvetica Neue"/>
                <a:cs typeface="Helvetica Neue"/>
              </a:rPr>
              <a:t>Next</a:t>
            </a:r>
          </a:p>
          <a:p xmlns:a="http://schemas.openxmlformats.org/drawingml/2006/main">
            <a:pPr algn="ctr">
              <a:spcBef>
                <a:spcPts val="300"/>
              </a:spcBef>
              <a:buNone/>
            </a:pPr>
            <a:r>
              <a:rPr sz="1200" b="0">
                <a:solidFill>
                  <a:srgbClr val="1F2328"/>
                </a:solidFill>
                <a:latin typeface="Helvetica Neue"/>
                <a:ea typeface="Helvetica Neue"/>
                <a:cs typeface="Helvetica Neue"/>
              </a:rPr>
              <a:t>every matmul of a token; 16 rows or nodes per SIMD pack; cached circuits</a:t>
            </a:r>
          </a:p>
        </p:txBody>
      </p:sp>
      <p:sp>
        <p:nvSpPr>
          <p:cNvPr id="9" name="Connector 8">
            <a:extLst xmlns:a="http://schemas.openxmlformats.org/drawingml/2006/main">
              <a:ext uri="{FF2B5EF4-FFF2-40B4-BE49-F238E27FC236}">
                <a16:creationId xmlns:a16="http://schemas.microsoft.com/office/drawing/2014/main" id="{E54BEA2A-BF0F-4B7B-A29D-043E23E0EE02}"/>
              </a:ext>
            </a:extLst>
          </p:cNvPr>
          <p:cNvSpPr>
            <a:spLocks xmlns:a="http://schemas.openxmlformats.org/drawingml/2006/main" noGrp="1"/>
          </p:cNvSpPr>
          <p:nvPr/>
        </p:nvSpPr>
        <p:spPr>
          <a:xfrm xmlns:a="http://schemas.openxmlformats.org/drawingml/2006/main">
            <a:off x="5971032" y="2651760"/>
            <a:ext cx="301752" cy="0"/>
          </a:xfrm>
          <a:prstGeom xmlns:a="http://schemas.openxmlformats.org/drawingml/2006/main" prst="line">
            <a:avLst/>
          </a:prstGeom>
          <a:ln xmlns:a="http://schemas.openxmlformats.org/drawingml/2006/main" w="19050">
            <a:solidFill>
              <a:srgbClr val="5F6770"/>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 name="Rounded Rectangle 9">
            <a:extLst xmlns:a="http://schemas.openxmlformats.org/drawingml/2006/main">
              <a:ext uri="{FF2B5EF4-FFF2-40B4-BE49-F238E27FC236}">
                <a16:creationId xmlns:a16="http://schemas.microsoft.com/office/drawing/2014/main" id="{39591302-AD32-46F3-ADA3-3A060D36018B}"/>
              </a:ext>
            </a:extLst>
          </p:cNvPr>
          <p:cNvSpPr>
            <a:spLocks xmlns:a="http://schemas.openxmlformats.org/drawingml/2006/main" noGrp="1"/>
          </p:cNvSpPr>
          <p:nvPr/>
        </p:nvSpPr>
        <p:spPr>
          <a:xfrm xmlns:a="http://schemas.openxmlformats.org/drawingml/2006/main">
            <a:off x="6272784" y="1965960"/>
            <a:ext cx="2514600" cy="1371600"/>
          </a:xfrm>
          <a:prstGeom xmlns:a="http://schemas.openxmlformats.org/drawingml/2006/main" prst="roundRect">
            <a:avLst/>
          </a:prstGeom>
          <a:solidFill xmlns:a="http://schemas.openxmlformats.org/drawingml/2006/main">
            <a:srgbClr val="DCECF4"/>
          </a:solidFill>
          <a:ln xmlns:a="http://schemas.openxmlformats.org/drawingml/2006/main" w="15875">
            <a:solidFill>
              <a:srgbClr val="0B6E9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ctr"/>
          <a:lstStyle xmlns:a="http://schemas.openxmlformats.org/drawingml/2006/main"/>
          <a:p xmlns:a="http://schemas.openxmlformats.org/drawingml/2006/main">
            <a:pPr algn="ctr">
              <a:buNone/>
            </a:pPr>
            <a:r>
              <a:rPr sz="1600" b="1">
                <a:solidFill>
                  <a:srgbClr val="1F2328"/>
                </a:solidFill>
                <a:latin typeface="Helvetica Neue"/>
                <a:ea typeface="Helvetica Neue"/>
                <a:cs typeface="Helvetica Neue"/>
              </a:rPr>
              <a:t>Then</a:t>
            </a:r>
          </a:p>
          <a:p xmlns:a="http://schemas.openxmlformats.org/drawingml/2006/main">
            <a:pPr algn="ctr">
              <a:spcBef>
                <a:spcPts val="300"/>
              </a:spcBef>
              <a:buNone/>
            </a:pPr>
            <a:r>
              <a:rPr sz="1200" b="0">
                <a:solidFill>
                  <a:srgbClr val="1F2328"/>
                </a:solidFill>
                <a:latin typeface="Helvetica Neue"/>
                <a:ea typeface="Helvetica Neue"/>
                <a:cs typeface="Helvetica Neue"/>
              </a:rPr>
              <a:t>non-linear ops through lookups: RMS norm, RoPE, softmax, SwiGLU</a:t>
            </a:r>
          </a:p>
        </p:txBody>
      </p:sp>
      <p:sp>
        <p:nvSpPr>
          <p:cNvPr id="11" name="Connector 10">
            <a:extLst xmlns:a="http://schemas.openxmlformats.org/drawingml/2006/main">
              <a:ext uri="{FF2B5EF4-FFF2-40B4-BE49-F238E27FC236}">
                <a16:creationId xmlns:a16="http://schemas.microsoft.com/office/drawing/2014/main" id="{33519856-5629-4D40-874B-94D71BB1D1E3}"/>
              </a:ext>
            </a:extLst>
          </p:cNvPr>
          <p:cNvSpPr>
            <a:spLocks xmlns:a="http://schemas.openxmlformats.org/drawingml/2006/main" noGrp="1"/>
          </p:cNvSpPr>
          <p:nvPr/>
        </p:nvSpPr>
        <p:spPr>
          <a:xfrm xmlns:a="http://schemas.openxmlformats.org/drawingml/2006/main">
            <a:off x="8787384" y="2651760"/>
            <a:ext cx="301752" cy="0"/>
          </a:xfrm>
          <a:prstGeom xmlns:a="http://schemas.openxmlformats.org/drawingml/2006/main" prst="line">
            <a:avLst/>
          </a:prstGeom>
          <a:ln xmlns:a="http://schemas.openxmlformats.org/drawingml/2006/main" w="19050">
            <a:solidFill>
              <a:srgbClr val="5F6770"/>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2" name="Rounded Rectangle 11">
            <a:extLst xmlns:a="http://schemas.openxmlformats.org/drawingml/2006/main">
              <a:ext uri="{FF2B5EF4-FFF2-40B4-BE49-F238E27FC236}">
                <a16:creationId xmlns:a16="http://schemas.microsoft.com/office/drawing/2014/main" id="{36C7C4B7-9057-4AB6-B3BE-1FB0023A6F14}"/>
              </a:ext>
            </a:extLst>
          </p:cNvPr>
          <p:cNvSpPr>
            <a:spLocks xmlns:a="http://schemas.openxmlformats.org/drawingml/2006/main" noGrp="1"/>
          </p:cNvSpPr>
          <p:nvPr/>
        </p:nvSpPr>
        <p:spPr>
          <a:xfrm xmlns:a="http://schemas.openxmlformats.org/drawingml/2006/main">
            <a:off x="9089136" y="1965960"/>
            <a:ext cx="2514600" cy="1371600"/>
          </a:xfrm>
          <a:prstGeom xmlns:a="http://schemas.openxmlformats.org/drawingml/2006/main" prst="roundRect">
            <a:avLst/>
          </a:prstGeom>
          <a:solidFill xmlns:a="http://schemas.openxmlformats.org/drawingml/2006/main">
            <a:srgbClr val="FBEFD9"/>
          </a:solidFill>
          <a:ln xmlns:a="http://schemas.openxmlformats.org/drawingml/2006/main" w="15875">
            <a:solidFill>
              <a:srgbClr val="9A6A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54864" bIns="54864" anchor="ctr"/>
          <a:lstStyle xmlns:a="http://schemas.openxmlformats.org/drawingml/2006/main"/>
          <a:p xmlns:a="http://schemas.openxmlformats.org/drawingml/2006/main">
            <a:pPr algn="ctr">
              <a:buNone/>
            </a:pPr>
            <a:r>
              <a:rPr sz="1600" b="1">
                <a:solidFill>
                  <a:srgbClr val="1F2328"/>
                </a:solidFill>
                <a:latin typeface="Helvetica Neue"/>
                <a:ea typeface="Helvetica Neue"/>
                <a:cs typeface="Helvetica Neue"/>
              </a:rPr>
              <a:t>Goal</a:t>
            </a:r>
          </a:p>
          <a:p xmlns:a="http://schemas.openxmlformats.org/drawingml/2006/main">
            <a:pPr algn="ctr">
              <a:spcBef>
                <a:spcPts val="300"/>
              </a:spcBef>
              <a:buNone/>
            </a:pPr>
            <a:r>
              <a:rPr sz="1200" b="0">
                <a:solidFill>
                  <a:srgbClr val="1F2328"/>
                </a:solidFill>
                <a:latin typeface="Helvetica Neue"/>
                <a:ea typeface="Helvetica Neue"/>
                <a:cs typeface="Helvetica Neue"/>
              </a:rPr>
              <a:t>one proof per token, weight commitment published once per model, verifier without the GGUF</a:t>
            </a:r>
          </a:p>
        </p:txBody>
      </p:sp>
      <p:sp>
        <p:nvSpPr>
          <p:cNvPr id="13" name="TextBox 12">
            <a:extLst xmlns:a="http://schemas.openxmlformats.org/drawingml/2006/main">
              <a:ext uri="{FF2B5EF4-FFF2-40B4-BE49-F238E27FC236}">
                <a16:creationId xmlns:a16="http://schemas.microsoft.com/office/drawing/2014/main" id="{151A4C98-E567-4BB3-8503-75D2C138DACF}"/>
              </a:ext>
            </a:extLst>
          </p:cNvPr>
          <p:cNvSpPr>
            <a:spLocks xmlns:a="http://schemas.openxmlformats.org/drawingml/2006/main" noGrp="1"/>
          </p:cNvSpPr>
          <p:nvPr/>
        </p:nvSpPr>
        <p:spPr>
          <a:xfrm xmlns:a="http://schemas.openxmlformats.org/drawingml/2006/main">
            <a:off x="640080" y="3794760"/>
            <a:ext cx="10911535" cy="23317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500">
                <a:solidFill>
                  <a:srgbClr val="1F2328"/>
                </a:solidFill>
                <a:latin typeface="Helvetica Neue"/>
                <a:ea typeface="Helvetica Neue"/>
                <a:cs typeface="Helvetica Neue"/>
              </a:rPr>
              <a:t>The proof replaces re-execution of a node. Everything else in the receipt design stays: leaves, producers, Merkle root, Fiat-Shamir sample.</a:t>
            </a:r>
          </a:p>
          <a:p xmlns:a="http://schemas.openxmlformats.org/drawingml/2006/main">
            <a:pPr>
              <a:spcBef>
                <a:spcPts val="1000"/>
              </a:spcBef>
              <a:buNone/>
            </a:pPr>
            <a:r>
              <a:rPr sz="1500" b="0">
                <a:solidFill>
                  <a:srgbClr val="1F2328"/>
                </a:solidFill>
                <a:latin typeface="Helvetica Neue"/>
                <a:ea typeface="Helvetica Neue"/>
                <a:cs typeface="Helvetica Neue"/>
              </a:rPr>
              <a:t>In Lean: the (1 - f)^k sampling bound with a probability model, general audit-path completeness, and a proof that the circuit computes the s1 and s2 the spec defines.</a:t>
            </a:r>
          </a:p>
          <a:p xmlns:a="http://schemas.openxmlformats.org/drawingml/2006/main">
            <a:pPr>
              <a:spcBef>
                <a:spcPts val="1000"/>
              </a:spcBef>
              <a:buNone/>
            </a:pPr>
            <a:r>
              <a:rPr sz="1500" b="0">
                <a:solidFill>
                  <a:srgbClr val="1F2328"/>
                </a:solidFill>
                <a:latin typeface="Helvetica Neue"/>
                <a:ea typeface="Helvetica Neue"/>
                <a:cs typeface="Helvetica Neue"/>
              </a:rPr>
              <a:t>In llama.cpp: a deterministic-accumulation kernel variant so the exact-equality statement holds on CPU without a tolerance.</a:t>
            </a:r>
          </a:p>
        </p:txBody>
      </p:sp>
    </p:spTree>
    <p:extLst>
      <p:ext uri="{BB962C8B-B14F-4D97-AF65-F5344CB8AC3E}">
        <p14:creationId xmlns:p14="http://schemas.microsoft.com/office/powerpoint/2010/main" val="33454613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2026-09-12T17:23:37.7730000Z</dcterms:created>
  <dcterms:modified xsi:type="dcterms:W3CDTF">2026-09-12T17:23:37.7730000Z</dcterms:modified>
</coreProperties>
</file>