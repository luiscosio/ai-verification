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exists as of Sep 13, 2026, how the pieces fit, and the path to zero-knowledge proofs of llama.cpp inference.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for people outside the field. Everything after this slide is what exists in 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programs and one document. Prover and replay verifier are C++ in llama.cpp; the trace verifier is Python; the spec is Lean 4; the proof is Rust on Expander.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Signing is left to the operator's key tooling; the README shows an openssl one-liner.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23,000 leaves for a 32-token generation of a 1.5B model. Same-backend replay is deterministic once the KV cache starts zeroed.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Checks 1 to 6 are hash comparisons over about 23,000 small JSON objects. Only the openings touch tensor bytes, and there are k of them, 32 by default.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Calibrated with the native llama.cpp tool on both backends.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Q2_K case forged the leaf metadata to claim Q4_K_M types; only the opened bytes betray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Lean 4.33.1, lake build in seconds. Floating point is opaque to Lean's logic; the float parts are checked by differential testing.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activation row from a CPU trace of qwen2.5 1.5B Q4_K_M, Apple M5, Sep 13, 2026. The registered commitment is Orion's root over the private input layer, computed from the GGUF alone. Not zero-knowledge yet: the commitment binds but does not hide, and the GKR has no masking. The Lean theorems s1_lt_2_pow_25 and s2_bound are what make M31 field arithmetic equal integer arithmetic 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Draft PRs in the fork so the work is reviewable as a unit. Upstream submission is a separate step with its own process.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provers today reach minutes per token at 7B; the closed claim is tens of tokens per second at 31B. The point here is that the native arithmetic is provable at all, which was not established before.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1</a:t>
            </a:r>
          </a:p>
        </p:txBody>
      </p:sp>
      <p:sp>
        <p:nvSpPr>
          <p:cNvPr id="3" name="Rectangle 2"/>
          <p:cNvSpPr/>
          <p:nvPr/>
        </p:nvSpPr>
        <p:spPr>
          <a:xfrm>
            <a:off x="0" y="0"/>
            <a:ext cx="12191695" cy="6858000"/>
          </a:xfrm>
          <a:prstGeom prst="rect">
            <a:avLst/>
          </a:prstGeom>
          <a:solidFill>
            <a:srgbClr val="1F2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20240"/>
            <a:ext cx="10911535" cy="1280160"/>
          </a:xfrm>
          <a:prstGeom prst="rect">
            <a:avLst/>
          </a:prstGeom>
          <a:noFill/>
        </p:spPr>
        <p:txBody>
          <a:bodyPr wrap="square">
            <a:spAutoFit/>
          </a:bodyPr>
          <a:lstStyle/>
          <a:p>
            <a:pPr algn="l"/>
            <a:r>
              <a:rPr sz="4400" b="1">
                <a:solidFill>
                  <a:srgbClr val="FFFFFF"/>
                </a:solidFill>
                <a:latin typeface="Helvetica Neue"/>
              </a:rPr>
              <a:t>Inference receipts for llama.cpp</a:t>
            </a:r>
          </a:p>
        </p:txBody>
      </p:sp>
      <p:sp>
        <p:nvSpPr>
          <p:cNvPr id="5" name="TextBox 4"/>
          <p:cNvSpPr txBox="1"/>
          <p:nvPr/>
        </p:nvSpPr>
        <p:spPr>
          <a:xfrm>
            <a:off x="640080" y="3108960"/>
            <a:ext cx="10911535" cy="1371600"/>
          </a:xfrm>
          <a:prstGeom prst="rect">
            <a:avLst/>
          </a:prstGeom>
          <a:noFill/>
        </p:spPr>
        <p:txBody>
          <a:bodyPr wrap="square">
            <a:spAutoFit/>
          </a:bodyPr>
          <a:lstStyle/>
          <a:p>
            <a:pPr algn="l"/>
            <a:r>
              <a:rPr sz="2000" b="0">
                <a:solidFill>
                  <a:srgbClr val="C9D6E0"/>
                </a:solidFill>
                <a:latin typeface="Helvetica Neue"/>
              </a:rPr>
              <a:t>Signed receipts, a committed trace of every tensor, a verifier that never runs the model,</a:t>
            </a:r>
          </a:p>
          <a:p>
            <a:pPr>
              <a:spcBef>
                <a:spcPts val="200"/>
              </a:spcBef>
            </a:pPr>
            <a:r>
              <a:rPr sz="2000" b="0">
                <a:solidFill>
                  <a:srgbClr val="C9D6E0"/>
                </a:solidFill>
                <a:latin typeface="Helvetica Neue"/>
              </a:rPr>
              <a:t>a formal specification in Lean, and a first integrity proof of the native arithmetic</a:t>
            </a:r>
          </a:p>
        </p:txBody>
      </p:sp>
      <p:sp>
        <p:nvSpPr>
          <p:cNvPr id="6" name="TextBox 5"/>
          <p:cNvSpPr txBox="1"/>
          <p:nvPr/>
        </p:nvSpPr>
        <p:spPr>
          <a:xfrm>
            <a:off x="640080" y="5212080"/>
            <a:ext cx="10911535" cy="822960"/>
          </a:xfrm>
          <a:prstGeom prst="rect">
            <a:avLst/>
          </a:prstGeom>
          <a:noFill/>
        </p:spPr>
        <p:txBody>
          <a:bodyPr wrap="square">
            <a:spAutoFit/>
          </a:bodyPr>
          <a:lstStyle/>
          <a:p>
            <a:pPr algn="l"/>
            <a:r>
              <a:rPr sz="1400" b="0">
                <a:solidFill>
                  <a:srgbClr val="C9D6E0"/>
                </a:solidFill>
                <a:latin typeface="Helvetica Neue"/>
              </a:rPr>
              <a:t>Luis Cosio, SL5. Sep 13, 2026</a:t>
            </a:r>
          </a:p>
          <a:p>
            <a:pPr>
              <a:spcBef>
                <a:spcPts val="400"/>
              </a:spcBef>
            </a:pPr>
            <a:r>
              <a:rPr sz="1400" b="0">
                <a:solidFill>
                  <a:srgbClr val="C9D6E0"/>
                </a:solidFill>
                <a:latin typeface="Helvetica Neue"/>
              </a:rPr>
              <a:t>github.com/luiscosio/llama.cpp, pull requests 1, 2 and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THE PROBLEM</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You get tokens back and nothing else</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2</a:t>
            </a:r>
          </a:p>
        </p:txBody>
      </p:sp>
      <p:sp>
        <p:nvSpPr>
          <p:cNvPr id="6" name="TextBox 5"/>
          <p:cNvSpPr txBox="1"/>
          <p:nvPr/>
        </p:nvSpPr>
        <p:spPr>
          <a:xfrm>
            <a:off x="640080" y="1828800"/>
            <a:ext cx="10911535" cy="4297680"/>
          </a:xfrm>
          <a:prstGeom prst="rect">
            <a:avLst/>
          </a:prstGeom>
          <a:noFill/>
        </p:spPr>
        <p:txBody>
          <a:bodyPr wrap="square">
            <a:spAutoFit/>
          </a:bodyPr>
          <a:lstStyle/>
          <a:p>
            <a:r>
              <a:rPr sz="1900">
                <a:solidFill>
                  <a:srgbClr val="1F2328"/>
                </a:solidFill>
                <a:latin typeface="Helvetica Neue"/>
              </a:rPr>
              <a:t>When someone else runs a model for you, you cannot tell which model ran, at which quantization, on which prompt.</a:t>
            </a:r>
          </a:p>
          <a:p>
            <a:pPr>
              <a:spcBef>
                <a:spcPts val="1000"/>
              </a:spcBef>
            </a:pPr>
            <a:r>
              <a:rPr sz="1900" b="0">
                <a:solidFill>
                  <a:srgbClr val="1F2328"/>
                </a:solidFill>
                <a:latin typeface="Helvetica Neue"/>
              </a:rPr>
              <a:t>Re-running everything yourself works, but costs as much as the original run.</a:t>
            </a:r>
          </a:p>
          <a:p>
            <a:pPr>
              <a:spcBef>
                <a:spcPts val="1000"/>
              </a:spcBef>
            </a:pPr>
            <a:r>
              <a:rPr sz="1900" b="0">
                <a:solidFill>
                  <a:srgbClr val="1F2328"/>
                </a:solidFill>
                <a:latin typeface="Helvetica Neue"/>
              </a:rPr>
              <a:t>A zero-knowledge proof would settle it. None exists today for llama.cpp's native arithmetic.</a:t>
            </a:r>
          </a:p>
          <a:p>
            <a:pPr>
              <a:spcBef>
                <a:spcPts val="1000"/>
              </a:spcBef>
            </a:pPr>
            <a:r>
              <a:rPr sz="1900" b="0">
                <a:solidFill>
                  <a:srgbClr val="1F2328"/>
                </a:solidFill>
                <a:latin typeface="Helvetica Neue"/>
              </a:rPr>
              <a:t>So we built the ladder that leads there: a record of exactly what ran, cheap to check, and the pieces a proof system plugs into.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OVERVIEW</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What we built, in one picture</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3</a:t>
            </a:r>
          </a:p>
        </p:txBody>
      </p:sp>
      <p:sp>
        <p:nvSpPr>
          <p:cNvPr id="6" name="Rounded Rectangle 5"/>
          <p:cNvSpPr/>
          <p:nvPr/>
        </p:nvSpPr>
        <p:spPr>
          <a:xfrm>
            <a:off x="640080" y="1965960"/>
            <a:ext cx="2331720" cy="1051560"/>
          </a:xfrm>
          <a:prstGeom prst="roundRect">
            <a:avLst/>
          </a:prstGeom>
          <a:solidFill>
            <a:srgbClr val="DCECF4"/>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500" b="1">
                <a:solidFill>
                  <a:srgbClr val="1F2328"/>
                </a:solidFill>
                <a:latin typeface="Helvetica Neue"/>
              </a:rPr>
              <a:t>llama.cpp prover</a:t>
            </a:r>
          </a:p>
          <a:p>
            <a:pPr algn="ctr">
              <a:spcBef>
                <a:spcPts val="300"/>
              </a:spcBef>
            </a:pPr>
            <a:r>
              <a:rPr sz="1100" b="0">
                <a:solidFill>
                  <a:srgbClr val="5F6770"/>
                </a:solidFill>
                <a:latin typeface="Helvetica Neue"/>
              </a:rPr>
              <a:t>generates, hashes every tensor, writes receipt and trace</a:t>
            </a:r>
          </a:p>
        </p:txBody>
      </p:sp>
      <p:sp>
        <p:nvSpPr>
          <p:cNvPr id="7" name="Rounded Rectangle 6"/>
          <p:cNvSpPr/>
          <p:nvPr/>
        </p:nvSpPr>
        <p:spPr>
          <a:xfrm>
            <a:off x="3383280" y="1965960"/>
            <a:ext cx="2331720" cy="1051560"/>
          </a:xfrm>
          <a:prstGeom prst="roundRect">
            <a:avLst/>
          </a:prstGeom>
          <a:solidFill>
            <a:srgbClr val="FFFFFF"/>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500" b="1">
                <a:solidFill>
                  <a:srgbClr val="1F2328"/>
                </a:solidFill>
                <a:latin typeface="Helvetica Neue"/>
              </a:rPr>
              <a:t>Receipt + trace</a:t>
            </a:r>
          </a:p>
          <a:p>
            <a:pPr algn="ctr">
              <a:spcBef>
                <a:spcPts val="300"/>
              </a:spcBef>
            </a:pPr>
            <a:r>
              <a:rPr sz="1100" b="0">
                <a:solidFill>
                  <a:srgbClr val="5F6770"/>
                </a:solidFill>
                <a:latin typeface="Helvetica Neue"/>
              </a:rPr>
              <a:t>tokens, sampler, model hashes, Merkle root, openings</a:t>
            </a:r>
          </a:p>
        </p:txBody>
      </p:sp>
      <p:sp>
        <p:nvSpPr>
          <p:cNvPr id="8" name="Rounded Rectangle 7"/>
          <p:cNvSpPr/>
          <p:nvPr/>
        </p:nvSpPr>
        <p:spPr>
          <a:xfrm>
            <a:off x="6126480" y="1965960"/>
            <a:ext cx="2331720" cy="1051560"/>
          </a:xfrm>
          <a:prstGeom prst="roundRect">
            <a:avLst/>
          </a:prstGeom>
          <a:solidFill>
            <a:srgbClr val="DCECF4"/>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500" b="1">
                <a:solidFill>
                  <a:srgbClr val="1F2328"/>
                </a:solidFill>
                <a:latin typeface="Helvetica Neue"/>
              </a:rPr>
              <a:t>Trace verifier</a:t>
            </a:r>
          </a:p>
          <a:p>
            <a:pPr algn="ctr">
              <a:spcBef>
                <a:spcPts val="300"/>
              </a:spcBef>
            </a:pPr>
            <a:r>
              <a:rPr sz="1100" b="0">
                <a:solidFill>
                  <a:srgbClr val="5F6770"/>
                </a:solidFill>
                <a:latin typeface="Helvetica Neue"/>
              </a:rPr>
              <a:t>Python, numpy, no model run; pinned graph topology</a:t>
            </a:r>
          </a:p>
        </p:txBody>
      </p:sp>
      <p:sp>
        <p:nvSpPr>
          <p:cNvPr id="9" name="Rounded Rectangle 8"/>
          <p:cNvSpPr/>
          <p:nvPr/>
        </p:nvSpPr>
        <p:spPr>
          <a:xfrm>
            <a:off x="8869680" y="1965960"/>
            <a:ext cx="2331720" cy="1051560"/>
          </a:xfrm>
          <a:prstGeom prst="roundRect">
            <a:avLst/>
          </a:prstGeom>
          <a:solidFill>
            <a:srgbClr val="DCECF4"/>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500" b="1">
                <a:solidFill>
                  <a:srgbClr val="1F2328"/>
                </a:solidFill>
                <a:latin typeface="Helvetica Neue"/>
              </a:rPr>
              <a:t>Replay verifier</a:t>
            </a:r>
          </a:p>
          <a:p>
            <a:pPr algn="ctr">
              <a:spcBef>
                <a:spcPts val="300"/>
              </a:spcBef>
            </a:pPr>
            <a:r>
              <a:rPr sz="1100" b="0">
                <a:solidFill>
                  <a:srgbClr val="5F6770"/>
                </a:solidFill>
                <a:latin typeface="Helvetica Neue"/>
              </a:rPr>
              <a:t>re-runs the model, seeded sampler, two-regime rule</a:t>
            </a:r>
          </a:p>
        </p:txBody>
      </p:sp>
      <p:cxnSp>
        <p:nvCxnSpPr>
          <p:cNvPr id="10" name="Connector 9"/>
          <p:cNvCxnSpPr/>
          <p:nvPr/>
        </p:nvCxnSpPr>
        <p:spPr>
          <a:xfrm>
            <a:off x="2971800" y="2491740"/>
            <a:ext cx="411480"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715000" y="2491740"/>
            <a:ext cx="411480"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458200" y="2491740"/>
            <a:ext cx="411480"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83280" y="4251960"/>
            <a:ext cx="2331720" cy="1051560"/>
          </a:xfrm>
          <a:prstGeom prst="roundRect">
            <a:avLst/>
          </a:prstGeom>
          <a:solidFill>
            <a:srgbClr val="E2F3E4"/>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500" b="1">
                <a:solidFill>
                  <a:srgbClr val="1F2328"/>
                </a:solidFill>
                <a:latin typeface="Helvetica Neue"/>
              </a:rPr>
              <a:t>Lean specification</a:t>
            </a:r>
          </a:p>
          <a:p>
            <a:pPr algn="ctr">
              <a:spcBef>
                <a:spcPts val="300"/>
              </a:spcBef>
            </a:pPr>
            <a:r>
              <a:rPr sz="1100" b="0">
                <a:solidFill>
                  <a:srgbClr val="5F6770"/>
                </a:solidFill>
                <a:latin typeface="Helvetica Neue"/>
              </a:rPr>
              <a:t>formats, arithmetic, protocol; theorems; checker</a:t>
            </a:r>
          </a:p>
        </p:txBody>
      </p:sp>
      <p:sp>
        <p:nvSpPr>
          <p:cNvPr id="14" name="Rounded Rectangle 13"/>
          <p:cNvSpPr/>
          <p:nvPr/>
        </p:nvSpPr>
        <p:spPr>
          <a:xfrm>
            <a:off x="6126480" y="4251960"/>
            <a:ext cx="2331720" cy="1051560"/>
          </a:xfrm>
          <a:prstGeom prst="roundRect">
            <a:avLst/>
          </a:prstGeom>
          <a:solidFill>
            <a:srgbClr val="FBEFD9"/>
          </a:solidFill>
          <a:ln w="15875">
            <a:solidFill>
              <a:srgbClr val="9A6A00"/>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500" b="1">
                <a:solidFill>
                  <a:srgbClr val="1F2328"/>
                </a:solidFill>
                <a:latin typeface="Helvetica Neue"/>
              </a:rPr>
              <a:t>GKR proof of a node</a:t>
            </a:r>
          </a:p>
          <a:p>
            <a:pPr algn="ctr">
              <a:spcBef>
                <a:spcPts val="300"/>
              </a:spcBef>
            </a:pPr>
            <a:r>
              <a:rPr sz="1100" b="0">
                <a:solidFill>
                  <a:srgbClr val="5F6770"/>
                </a:solidFill>
                <a:latin typeface="Helvetica Neue"/>
              </a:rPr>
              <a:t>Expander, M31 field, weights bound to GGUF</a:t>
            </a:r>
          </a:p>
        </p:txBody>
      </p:sp>
      <p:cxnSp>
        <p:nvCxnSpPr>
          <p:cNvPr id="15" name="Connector 14"/>
          <p:cNvCxnSpPr/>
          <p:nvPr/>
        </p:nvCxnSpPr>
        <p:spPr>
          <a:xfrm>
            <a:off x="4549140" y="3017520"/>
            <a:ext cx="0" cy="123444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292340" y="3017520"/>
            <a:ext cx="0" cy="123444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5532120"/>
            <a:ext cx="10911535" cy="731520"/>
          </a:xfrm>
          <a:prstGeom prst="rect">
            <a:avLst/>
          </a:prstGeom>
          <a:noFill/>
        </p:spPr>
        <p:txBody>
          <a:bodyPr wrap="square">
            <a:spAutoFit/>
          </a:bodyPr>
          <a:lstStyle/>
          <a:p>
            <a:pPr algn="l"/>
            <a:r>
              <a:rPr sz="1300" b="0">
                <a:solidFill>
                  <a:srgbClr val="5F6770"/>
                </a:solidFill>
                <a:latin typeface="Helvetica Neue"/>
              </a:rPr>
              <a:t>The receipt is the contract. The trace verifier checks it without the model. The Lean spec says what the receipt means and checks the same artifact independently. The proof replaces re-execution of a node with a cryptographic check of its arithmetic.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RECEIPT</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A receipt records exactly what ran</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4</a:t>
            </a:r>
          </a:p>
        </p:txBody>
      </p:sp>
      <p:sp>
        <p:nvSpPr>
          <p:cNvPr id="6" name="TextBox 5"/>
          <p:cNvSpPr txBox="1"/>
          <p:nvPr/>
        </p:nvSpPr>
        <p:spPr>
          <a:xfrm>
            <a:off x="640080" y="1828800"/>
            <a:ext cx="6583680" cy="4297680"/>
          </a:xfrm>
          <a:prstGeom prst="rect">
            <a:avLst/>
          </a:prstGeom>
          <a:noFill/>
        </p:spPr>
        <p:txBody>
          <a:bodyPr wrap="square">
            <a:spAutoFit/>
          </a:bodyPr>
          <a:lstStyle/>
          <a:p>
            <a:r>
              <a:rPr sz="1700">
                <a:solidFill>
                  <a:srgbClr val="1F2328"/>
                </a:solidFill>
                <a:latin typeface="Helvetica Neue"/>
              </a:rPr>
              <a:t>Model: SHA-256 of the GGUF file and of every tensor, plus a Merkle root over the tensors.</a:t>
            </a:r>
          </a:p>
          <a:p>
            <a:pPr>
              <a:spcBef>
                <a:spcPts val="1000"/>
              </a:spcBef>
            </a:pPr>
            <a:r>
              <a:rPr sz="1700" b="0">
                <a:solidFill>
                  <a:srgbClr val="1F2328"/>
                </a:solidFill>
                <a:latin typeface="Helvetica Neue"/>
              </a:rPr>
              <a:t>Request: prompt text and tokens, temperature, top-k, top-p, seed.</a:t>
            </a:r>
          </a:p>
          <a:p>
            <a:pPr>
              <a:spcBef>
                <a:spcPts val="1000"/>
              </a:spcBef>
            </a:pPr>
            <a:r>
              <a:rPr sz="1700" b="0">
                <a:solidFill>
                  <a:srgbClr val="1F2328"/>
                </a:solidFill>
                <a:latin typeface="Helvetica Neue"/>
              </a:rPr>
              <a:t>Response: tokens, and per position the log-prob, the uniform draw, its distance to the decision boundary, and a hash of the logits.</a:t>
            </a:r>
          </a:p>
          <a:p>
            <a:pPr>
              <a:spcBef>
                <a:spcPts val="1000"/>
              </a:spcBef>
            </a:pPr>
            <a:r>
              <a:rPr sz="1700" b="0">
                <a:solidFill>
                  <a:srgbClr val="1F2328"/>
                </a:solidFill>
                <a:latin typeface="Helvetica Neue"/>
              </a:rPr>
              <a:t>Commitment: SHA-256 over prompt and response tokens.</a:t>
            </a:r>
          </a:p>
          <a:p>
            <a:pPr>
              <a:spcBef>
                <a:spcPts val="1000"/>
              </a:spcBef>
            </a:pPr>
            <a:r>
              <a:rPr sz="1700" b="0">
                <a:solidFill>
                  <a:srgbClr val="1F2328"/>
                </a:solidFill>
                <a:latin typeface="Helvetica Neue"/>
              </a:rPr>
              <a:t>The sampler is replayable by construction:</a:t>
            </a:r>
          </a:p>
        </p:txBody>
      </p:sp>
      <p:sp>
        <p:nvSpPr>
          <p:cNvPr id="7" name="Rounded Rectangle 6"/>
          <p:cNvSpPr/>
          <p:nvPr/>
        </p:nvSpPr>
        <p:spPr>
          <a:xfrm>
            <a:off x="7589520" y="2103120"/>
            <a:ext cx="3931920" cy="1005840"/>
          </a:xfrm>
          <a:prstGeom prst="roundRect">
            <a:avLst/>
          </a:prstGeom>
          <a:solidFill>
            <a:srgbClr val="DCECF4"/>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500" b="1">
                <a:solidFill>
                  <a:srgbClr val="0B6E99"/>
                </a:solidFill>
                <a:latin typeface="Helvetica Neue"/>
              </a:rPr>
              <a:t>u(t) = SHA-256("llama-receipts/u/v1/" || seed || t)</a:t>
            </a:r>
          </a:p>
        </p:txBody>
      </p:sp>
      <p:sp>
        <p:nvSpPr>
          <p:cNvPr id="8" name="TextBox 7"/>
          <p:cNvSpPr txBox="1"/>
          <p:nvPr/>
        </p:nvSpPr>
        <p:spPr>
          <a:xfrm>
            <a:off x="7589520" y="3246120"/>
            <a:ext cx="3931920" cy="2377440"/>
          </a:xfrm>
          <a:prstGeom prst="rect">
            <a:avLst/>
          </a:prstGeom>
          <a:noFill/>
        </p:spPr>
        <p:txBody>
          <a:bodyPr wrap="square">
            <a:spAutoFit/>
          </a:bodyPr>
          <a:lstStyle/>
          <a:p>
            <a:pPr algn="l"/>
            <a:r>
              <a:rPr sz="1400" b="0">
                <a:solidFill>
                  <a:srgbClr val="5F6770"/>
                </a:solidFill>
                <a:latin typeface="Helvetica Neue"/>
              </a:rPr>
              <a:t>Ties break by token id. Top-k and top-p run in double precision. Anyone can reproduce the draw without RNG state, so a receipt shows how far each choice sat from the boundary, not only which token won.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TRACE</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Every computing node becomes a leaf that names its producers</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5</a:t>
            </a:r>
          </a:p>
        </p:txBody>
      </p:sp>
      <p:sp>
        <p:nvSpPr>
          <p:cNvPr id="6" name="Rounded Rectangle 5"/>
          <p:cNvSpPr/>
          <p:nvPr/>
        </p:nvSpPr>
        <p:spPr>
          <a:xfrm>
            <a:off x="640080" y="2011680"/>
            <a:ext cx="2103120" cy="566928"/>
          </a:xfrm>
          <a:prstGeom prst="roundRect">
            <a:avLst/>
          </a:prstGeom>
          <a:solidFill>
            <a:srgbClr val="FFFFFF"/>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300" b="0">
                <a:solidFill>
                  <a:srgbClr val="1F2328"/>
                </a:solidFill>
                <a:latin typeface="Helvetica Neue"/>
              </a:rPr>
              <a:t>token embedding</a:t>
            </a:r>
          </a:p>
        </p:txBody>
      </p:sp>
      <p:cxnSp>
        <p:nvCxnSpPr>
          <p:cNvPr id="7" name="Connector 6"/>
          <p:cNvCxnSpPr/>
          <p:nvPr/>
        </p:nvCxnSpPr>
        <p:spPr>
          <a:xfrm>
            <a:off x="1691640" y="2578608"/>
            <a:ext cx="0" cy="301752"/>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40080" y="2880360"/>
            <a:ext cx="2103120" cy="566928"/>
          </a:xfrm>
          <a:prstGeom prst="roundRect">
            <a:avLst/>
          </a:prstGeom>
          <a:solidFill>
            <a:srgbClr val="FFFFFF"/>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300" b="0">
                <a:solidFill>
                  <a:srgbClr val="1F2328"/>
                </a:solidFill>
                <a:latin typeface="Helvetica Neue"/>
              </a:rPr>
              <a:t>attention block</a:t>
            </a:r>
          </a:p>
        </p:txBody>
      </p:sp>
      <p:cxnSp>
        <p:nvCxnSpPr>
          <p:cNvPr id="9" name="Connector 8"/>
          <p:cNvCxnSpPr/>
          <p:nvPr/>
        </p:nvCxnSpPr>
        <p:spPr>
          <a:xfrm>
            <a:off x="1691640" y="3447288"/>
            <a:ext cx="0" cy="301752"/>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0080" y="3749040"/>
            <a:ext cx="2103120" cy="566928"/>
          </a:xfrm>
          <a:prstGeom prst="roundRect">
            <a:avLst/>
          </a:prstGeom>
          <a:solidFill>
            <a:srgbClr val="FFFFFF"/>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300" b="0">
                <a:solidFill>
                  <a:srgbClr val="1F2328"/>
                </a:solidFill>
                <a:latin typeface="Helvetica Neue"/>
              </a:rPr>
              <a:t>feed-forward block</a:t>
            </a:r>
          </a:p>
        </p:txBody>
      </p:sp>
      <p:cxnSp>
        <p:nvCxnSpPr>
          <p:cNvPr id="11" name="Connector 10"/>
          <p:cNvCxnSpPr/>
          <p:nvPr/>
        </p:nvCxnSpPr>
        <p:spPr>
          <a:xfrm>
            <a:off x="1691640" y="4315968"/>
            <a:ext cx="0" cy="301752"/>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4617720"/>
            <a:ext cx="2103120" cy="566928"/>
          </a:xfrm>
          <a:prstGeom prst="roundRect">
            <a:avLst/>
          </a:prstGeom>
          <a:solidFill>
            <a:srgbClr val="FFFFFF"/>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300" b="0">
                <a:solidFill>
                  <a:srgbClr val="1F2328"/>
                </a:solidFill>
                <a:latin typeface="Helvetica Neue"/>
              </a:rPr>
              <a:t>logits</a:t>
            </a:r>
          </a:p>
        </p:txBody>
      </p:sp>
      <p:sp>
        <p:nvSpPr>
          <p:cNvPr id="13" name="TextBox 12"/>
          <p:cNvSpPr txBox="1"/>
          <p:nvPr/>
        </p:nvSpPr>
        <p:spPr>
          <a:xfrm>
            <a:off x="640080" y="5303520"/>
            <a:ext cx="2103120" cy="548640"/>
          </a:xfrm>
          <a:prstGeom prst="rect">
            <a:avLst/>
          </a:prstGeom>
          <a:noFill/>
        </p:spPr>
        <p:txBody>
          <a:bodyPr wrap="square">
            <a:spAutoFit/>
          </a:bodyPr>
          <a:lstStyle/>
          <a:p>
            <a:pPr algn="ctr"/>
            <a:r>
              <a:rPr sz="1100" b="0">
                <a:solidFill>
                  <a:srgbClr val="5F6770"/>
                </a:solidFill>
                <a:latin typeface="Helvetica Neue"/>
              </a:rPr>
              <a:t>GGML graph, observed through cb_eval</a:t>
            </a:r>
          </a:p>
        </p:txBody>
      </p:sp>
      <p:cxnSp>
        <p:nvCxnSpPr>
          <p:cNvPr id="14" name="Connector 13"/>
          <p:cNvCxnSpPr/>
          <p:nvPr/>
        </p:nvCxnSpPr>
        <p:spPr>
          <a:xfrm>
            <a:off x="2743200" y="3474720"/>
            <a:ext cx="502920"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337560" y="2011680"/>
            <a:ext cx="4069080" cy="3383280"/>
          </a:xfrm>
          <a:prstGeom prst="rect">
            <a:avLst/>
          </a:prstGeom>
          <a:solidFill>
            <a:srgbClr val="FFFFFF"/>
          </a:solidFill>
          <a:ln w="1587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r>
              <a:rPr sz="1200" b="1">
                <a:solidFill>
                  <a:srgbClr val="0B6E99"/>
                </a:solidFill>
                <a:latin typeface="Helvetica Neue"/>
              </a:rPr>
              <a:t>leaf</a:t>
            </a:r>
          </a:p>
          <a:p>
            <a:pPr algn="l">
              <a:spcBef>
                <a:spcPts val="300"/>
              </a:spcBef>
            </a:pPr>
            <a:r>
              <a:rPr sz="1050" b="0">
                <a:solidFill>
                  <a:srgbClr val="1F2328"/>
                </a:solidFill>
                <a:latin typeface="Menlo"/>
              </a:rPr>
              <a:t>graph g, node i, name, op, op params</a:t>
            </a:r>
          </a:p>
          <a:p>
            <a:pPr algn="l">
              <a:spcBef>
                <a:spcPts val="300"/>
              </a:spcBef>
            </a:pPr>
            <a:r>
              <a:rPr sz="1050" b="0">
                <a:solidFill>
                  <a:srgbClr val="1F2328"/>
                </a:solidFill>
                <a:latin typeface="Menlo"/>
              </a:rPr>
              <a:t>out: type, shape, strides, offset,</a:t>
            </a:r>
          </a:p>
          <a:p>
            <a:pPr algn="l">
              <a:spcBef>
                <a:spcPts val="300"/>
              </a:spcBef>
            </a:pPr>
            <a:r>
              <a:rPr sz="1050" b="0">
                <a:solidFill>
                  <a:srgbClr val="1F2328"/>
                </a:solidFill>
                <a:latin typeface="Menlo"/>
              </a:rPr>
              <a:t>     hash of the base tensor</a:t>
            </a:r>
          </a:p>
          <a:p>
            <a:pPr algn="l">
              <a:spcBef>
                <a:spcPts val="300"/>
              </a:spcBef>
            </a:pPr>
            <a:r>
              <a:rPr sz="1050" b="0">
                <a:solidFill>
                  <a:srgbClr val="1F2328"/>
                </a:solidFill>
                <a:latin typeface="Menlo"/>
              </a:rPr>
              <a:t>srcs: weight: name, type, shape, GGUF hash</a:t>
            </a:r>
          </a:p>
          <a:p>
            <a:pPr algn="l">
              <a:spcBef>
                <a:spcPts val="300"/>
              </a:spcBef>
            </a:pPr>
            <a:r>
              <a:rPr sz="1050" b="0">
                <a:solidFill>
                  <a:srgbClr val="1F2328"/>
                </a:solidFill>
                <a:latin typeface="Menlo"/>
              </a:rPr>
              <a:t>      data: shape, offset, base hash,</a:t>
            </a:r>
          </a:p>
          <a:p>
            <a:pPr algn="l">
              <a:spcBef>
                <a:spcPts val="300"/>
              </a:spcBef>
            </a:pPr>
            <a:r>
              <a:rPr sz="1050" b="0">
                <a:solidFill>
                  <a:srgbClr val="1F2328"/>
                </a:solidFill>
                <a:latin typeface="Menlo"/>
              </a:rPr>
              <a:t>            producer = leaf that wrote it</a:t>
            </a:r>
          </a:p>
          <a:p>
            <a:pPr algn="l">
              <a:spcBef>
                <a:spcPts val="300"/>
              </a:spcBef>
            </a:pPr>
            <a:r>
              <a:rPr sz="1050" b="0">
                <a:solidFill>
                  <a:srgbClr val="1F2328"/>
                </a:solidFill>
                <a:latin typeface="Menlo"/>
              </a:rPr>
              <a:t>            (-1 graph input, -2 zeroed KV cache)</a:t>
            </a:r>
          </a:p>
        </p:txBody>
      </p:sp>
      <p:sp>
        <p:nvSpPr>
          <p:cNvPr id="16" name="TextBox 15"/>
          <p:cNvSpPr txBox="1"/>
          <p:nvPr/>
        </p:nvSpPr>
        <p:spPr>
          <a:xfrm>
            <a:off x="3337560" y="5486400"/>
            <a:ext cx="4069080" cy="457200"/>
          </a:xfrm>
          <a:prstGeom prst="rect">
            <a:avLst/>
          </a:prstGeom>
          <a:noFill/>
        </p:spPr>
        <p:txBody>
          <a:bodyPr wrap="square">
            <a:spAutoFit/>
          </a:bodyPr>
          <a:lstStyle/>
          <a:p>
            <a:pPr algn="l"/>
            <a:r>
              <a:rPr sz="1100" b="0">
                <a:solidFill>
                  <a:srgbClr val="5F6770"/>
                </a:solidFill>
                <a:latin typeface="Helvetica Neue"/>
              </a:rPr>
              <a:t>Layout ops (reshape, view, permute) are resolved to what they view. Inputs are hashed over their whole base tensor, so the edge check is a string comparison.</a:t>
            </a:r>
          </a:p>
        </p:txBody>
      </p:sp>
      <p:cxnSp>
        <p:nvCxnSpPr>
          <p:cNvPr id="17" name="Connector 16"/>
          <p:cNvCxnSpPr/>
          <p:nvPr/>
        </p:nvCxnSpPr>
        <p:spPr>
          <a:xfrm>
            <a:off x="7406640" y="3474720"/>
            <a:ext cx="320039"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772400" y="4389120"/>
            <a:ext cx="822960" cy="384048"/>
          </a:xfrm>
          <a:prstGeom prst="roundRect">
            <a:avLst/>
          </a:prstGeom>
          <a:solidFill>
            <a:srgbClr val="DCECF4"/>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000" b="0">
                <a:solidFill>
                  <a:srgbClr val="1F2328"/>
                </a:solidFill>
                <a:latin typeface="Helvetica Neue"/>
              </a:rPr>
              <a:t>leaf 0</a:t>
            </a:r>
          </a:p>
        </p:txBody>
      </p:sp>
      <p:sp>
        <p:nvSpPr>
          <p:cNvPr id="19" name="Rounded Rectangle 18"/>
          <p:cNvSpPr/>
          <p:nvPr/>
        </p:nvSpPr>
        <p:spPr>
          <a:xfrm>
            <a:off x="8759952" y="4389120"/>
            <a:ext cx="822960" cy="384048"/>
          </a:xfrm>
          <a:prstGeom prst="roundRect">
            <a:avLst/>
          </a:prstGeom>
          <a:solidFill>
            <a:srgbClr val="DCECF4"/>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000" b="0">
                <a:solidFill>
                  <a:srgbClr val="1F2328"/>
                </a:solidFill>
                <a:latin typeface="Helvetica Neue"/>
              </a:rPr>
              <a:t>leaf 1</a:t>
            </a:r>
          </a:p>
        </p:txBody>
      </p:sp>
      <p:sp>
        <p:nvSpPr>
          <p:cNvPr id="20" name="Rounded Rectangle 19"/>
          <p:cNvSpPr/>
          <p:nvPr/>
        </p:nvSpPr>
        <p:spPr>
          <a:xfrm>
            <a:off x="9747504" y="4389120"/>
            <a:ext cx="822960" cy="384048"/>
          </a:xfrm>
          <a:prstGeom prst="roundRect">
            <a:avLst/>
          </a:prstGeom>
          <a:solidFill>
            <a:srgbClr val="DCECF4"/>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000" b="0">
                <a:solidFill>
                  <a:srgbClr val="1F2328"/>
                </a:solidFill>
                <a:latin typeface="Helvetica Neue"/>
              </a:rPr>
              <a:t>leaf 2</a:t>
            </a:r>
          </a:p>
        </p:txBody>
      </p:sp>
      <p:sp>
        <p:nvSpPr>
          <p:cNvPr id="21" name="Rounded Rectangle 20"/>
          <p:cNvSpPr/>
          <p:nvPr/>
        </p:nvSpPr>
        <p:spPr>
          <a:xfrm>
            <a:off x="10735056" y="4389120"/>
            <a:ext cx="822960" cy="384048"/>
          </a:xfrm>
          <a:prstGeom prst="roundRect">
            <a:avLst/>
          </a:prstGeom>
          <a:solidFill>
            <a:srgbClr val="DCECF4"/>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000" b="0">
                <a:solidFill>
                  <a:srgbClr val="1F2328"/>
                </a:solidFill>
                <a:latin typeface="Helvetica Neue"/>
              </a:rPr>
              <a:t>leaf 3</a:t>
            </a:r>
          </a:p>
        </p:txBody>
      </p:sp>
      <p:sp>
        <p:nvSpPr>
          <p:cNvPr id="22" name="Rounded Rectangle 21"/>
          <p:cNvSpPr/>
          <p:nvPr/>
        </p:nvSpPr>
        <p:spPr>
          <a:xfrm>
            <a:off x="8266176" y="3520440"/>
            <a:ext cx="822960" cy="384048"/>
          </a:xfrm>
          <a:prstGeom prst="roundRect">
            <a:avLst/>
          </a:prstGeom>
          <a:solidFill>
            <a:srgbClr val="FFFFFF"/>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900" b="0">
                <a:solidFill>
                  <a:srgbClr val="1F2328"/>
                </a:solidFill>
                <a:latin typeface="Helvetica Neue"/>
              </a:rPr>
              <a:t>h(0x01||l||r)</a:t>
            </a:r>
          </a:p>
        </p:txBody>
      </p:sp>
      <p:sp>
        <p:nvSpPr>
          <p:cNvPr id="23" name="Rounded Rectangle 22"/>
          <p:cNvSpPr/>
          <p:nvPr/>
        </p:nvSpPr>
        <p:spPr>
          <a:xfrm>
            <a:off x="10241280" y="3520440"/>
            <a:ext cx="822960" cy="384048"/>
          </a:xfrm>
          <a:prstGeom prst="roundRect">
            <a:avLst/>
          </a:prstGeom>
          <a:solidFill>
            <a:srgbClr val="FFFFFF"/>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900" b="0">
                <a:solidFill>
                  <a:srgbClr val="1F2328"/>
                </a:solidFill>
                <a:latin typeface="Helvetica Neue"/>
              </a:rPr>
              <a:t>h(0x01||l||r)</a:t>
            </a:r>
          </a:p>
        </p:txBody>
      </p:sp>
      <p:cxnSp>
        <p:nvCxnSpPr>
          <p:cNvPr id="24" name="Connector 23"/>
          <p:cNvCxnSpPr/>
          <p:nvPr/>
        </p:nvCxnSpPr>
        <p:spPr>
          <a:xfrm flipV="1">
            <a:off x="8183880" y="3904488"/>
            <a:ext cx="493776" cy="484632"/>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8677656" y="3904488"/>
            <a:ext cx="493776" cy="484632"/>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0158984" y="3904488"/>
            <a:ext cx="493776" cy="484632"/>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0652760" y="3904488"/>
            <a:ext cx="493776" cy="484632"/>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253728" y="2651760"/>
            <a:ext cx="822960" cy="384048"/>
          </a:xfrm>
          <a:prstGeom prst="roundRect">
            <a:avLst/>
          </a:prstGeom>
          <a:solidFill>
            <a:srgbClr val="0B6E99"/>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100" b="1">
                <a:solidFill>
                  <a:srgbClr val="FFFFFF"/>
                </a:solidFill>
                <a:latin typeface="Helvetica Neue"/>
              </a:rPr>
              <a:t>root</a:t>
            </a:r>
          </a:p>
        </p:txBody>
      </p:sp>
      <p:cxnSp>
        <p:nvCxnSpPr>
          <p:cNvPr id="29" name="Connector 28"/>
          <p:cNvCxnSpPr/>
          <p:nvPr/>
        </p:nvCxnSpPr>
        <p:spPr>
          <a:xfrm flipV="1">
            <a:off x="8677656" y="3035808"/>
            <a:ext cx="987552" cy="484632"/>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9665208" y="3035808"/>
            <a:ext cx="987552" cy="484632"/>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680960" y="4892040"/>
            <a:ext cx="4023360" cy="1371600"/>
          </a:xfrm>
          <a:prstGeom prst="rect">
            <a:avLst/>
          </a:prstGeom>
          <a:noFill/>
        </p:spPr>
        <p:txBody>
          <a:bodyPr wrap="square">
            <a:spAutoFit/>
          </a:bodyPr>
          <a:lstStyle/>
          <a:p>
            <a:pPr algn="l"/>
            <a:r>
              <a:rPr sz="1100" b="0">
                <a:solidFill>
                  <a:srgbClr val="5F6770"/>
                </a:solidFill>
                <a:latin typeface="Helvetica Neue"/>
              </a:rPr>
              <a:t>The root goes into the receipt. A second pass replays the same tokens, reproduces the root bit for bit, and captures the bytes of a Fiat-Shamir sample of nodes: the openings.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VERIFIER</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Trace verifier checks without model execution</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6</a:t>
            </a:r>
          </a:p>
        </p:txBody>
      </p:sp>
      <p:graphicFrame>
        <p:nvGraphicFramePr>
          <p:cNvPr id="6" name="Table 5"/>
          <p:cNvGraphicFramePr>
            <a:graphicFrameLocks noGrp="1"/>
          </p:cNvGraphicFramePr>
          <p:nvPr/>
        </p:nvGraphicFramePr>
        <p:xfrm>
          <a:off x="640080" y="1874519"/>
          <a:ext cx="10911534" cy="4023360"/>
        </p:xfrm>
        <a:graphic>
          <a:graphicData uri="http://schemas.openxmlformats.org/drawingml/2006/table">
            <a:tbl>
              <a:tblPr firstRow="1" bandRow="1">
                <a:tableStyleId>{5C22544A-7EE6-4342-B048-85BDC9FD1C3A}</a:tableStyleId>
              </a:tblPr>
              <a:tblGrid>
                <a:gridCol w="1952590"/>
                <a:gridCol w="7121212"/>
                <a:gridCol w="1837732"/>
              </a:tblGrid>
              <a:tr h="502920">
                <a:tc>
                  <a:txBody>
                    <a:bodyPr wrap="square"/>
                    <a:lstStyle/>
                    <a:p>
                      <a:r>
                        <a:rPr sz="1300" b="1">
                          <a:solidFill>
                            <a:srgbClr val="1F2328"/>
                          </a:solidFill>
                          <a:latin typeface="Helvetica Neue"/>
                        </a:rPr>
                        <a:t>Check</a:t>
                      </a:r>
                    </a:p>
                  </a:txBody>
                  <a:tcPr marL="73152" marR="73152" marT="36576" marB="36576" anchor="ctr">
                    <a:solidFill>
                      <a:srgbClr val="DCECF4"/>
                    </a:solidFill>
                  </a:tcPr>
                </a:tc>
                <a:tc>
                  <a:txBody>
                    <a:bodyPr wrap="square"/>
                    <a:lstStyle/>
                    <a:p>
                      <a:r>
                        <a:rPr sz="1300" b="1">
                          <a:solidFill>
                            <a:srgbClr val="1F2328"/>
                          </a:solidFill>
                          <a:latin typeface="Helvetica Neue"/>
                        </a:rPr>
                        <a:t>What it establishes</a:t>
                      </a:r>
                    </a:p>
                  </a:txBody>
                  <a:tcPr marL="73152" marR="73152" marT="36576" marB="36576" anchor="ctr">
                    <a:solidFill>
                      <a:srgbClr val="DCECF4"/>
                    </a:solidFill>
                  </a:tcPr>
                </a:tc>
                <a:tc>
                  <a:txBody>
                    <a:bodyPr wrap="square"/>
                    <a:lstStyle/>
                    <a:p>
                      <a:r>
                        <a:rPr sz="1300" b="1">
                          <a:solidFill>
                            <a:srgbClr val="1F2328"/>
                          </a:solidFill>
                          <a:latin typeface="Helvetica Neue"/>
                        </a:rPr>
                        <a:t>Needs tensor bytes</a:t>
                      </a:r>
                    </a:p>
                  </a:txBody>
                  <a:tcPr marL="73152" marR="73152" marT="36576" marB="36576" anchor="ctr">
                    <a:solidFill>
                      <a:srgbClr val="DCECF4"/>
                    </a:solidFill>
                  </a:tcPr>
                </a:tc>
              </a:tr>
              <a:tr h="502920">
                <a:tc>
                  <a:txBody>
                    <a:bodyPr wrap="square"/>
                    <a:lstStyle/>
                    <a:p>
                      <a:r>
                        <a:rPr sz="1300" b="0">
                          <a:solidFill>
                            <a:srgbClr val="1F2328"/>
                          </a:solidFill>
                          <a:latin typeface="Helvetica Neue"/>
                        </a:rPr>
                        <a:t>1. Root + content</a:t>
                      </a:r>
                    </a:p>
                  </a:txBody>
                  <a:tcPr marL="73152" marR="73152" marT="36576" marB="36576" anchor="ctr">
                    <a:solidFill>
                      <a:srgbClr val="FFFFFF"/>
                    </a:solidFill>
                  </a:tcPr>
                </a:tc>
                <a:tc>
                  <a:txBody>
                    <a:bodyPr wrap="square"/>
                    <a:lstStyle/>
                    <a:p>
                      <a:r>
                        <a:rPr sz="1300" b="0">
                          <a:solidFill>
                            <a:srgbClr val="1F2328"/>
                          </a:solidFill>
                          <a:latin typeface="Helvetica Neue"/>
                        </a:rPr>
                        <a:t>Leaves, token arrays and displayed text match their commitments</a:t>
                      </a:r>
                    </a:p>
                  </a:txBody>
                  <a:tcPr marL="73152" marR="73152" marT="36576" marB="36576" anchor="ctr">
                    <a:solidFill>
                      <a:srgbClr val="FFFFFF"/>
                    </a:solidFill>
                  </a:tcPr>
                </a:tc>
                <a:tc>
                  <a:txBody>
                    <a:bodyPr wrap="square"/>
                    <a:lstStyle/>
                    <a:p>
                      <a:r>
                        <a:rPr sz="1300" b="0">
                          <a:solidFill>
                            <a:srgbClr val="1F2328"/>
                          </a:solidFill>
                          <a:latin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rPr>
                        <a:t>2. Topology + challenge</a:t>
                      </a:r>
                    </a:p>
                  </a:txBody>
                  <a:tcPr marL="73152" marR="73152" marT="36576" marB="36576" anchor="ctr">
                    <a:solidFill>
                      <a:srgbClr val="FFFFFF"/>
                    </a:solidFill>
                  </a:tcPr>
                </a:tc>
                <a:tc>
                  <a:txBody>
                    <a:bodyPr wrap="square"/>
                    <a:lstStyle/>
                    <a:p>
                      <a:r>
                        <a:rPr sz="1300" b="0">
                          <a:solidFill>
                            <a:srgbClr val="1F2328"/>
                          </a:solidFill>
                          <a:latin typeface="Helvetica Neue"/>
                        </a:rPr>
                        <a:t>Graph structure matches verifier policy; openings are unpredictable and meet its minimum</a:t>
                      </a:r>
                    </a:p>
                  </a:txBody>
                  <a:tcPr marL="73152" marR="73152" marT="36576" marB="36576" anchor="ctr">
                    <a:solidFill>
                      <a:srgbClr val="FFFFFF"/>
                    </a:solidFill>
                  </a:tcPr>
                </a:tc>
                <a:tc>
                  <a:txBody>
                    <a:bodyPr wrap="square"/>
                    <a:lstStyle/>
                    <a:p>
                      <a:r>
                        <a:rPr sz="1300" b="0">
                          <a:solidFill>
                            <a:srgbClr val="1F2328"/>
                          </a:solidFill>
                          <a:latin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rPr>
                        <a:t>3. Structure</a:t>
                      </a:r>
                    </a:p>
                  </a:txBody>
                  <a:tcPr marL="73152" marR="73152" marT="36576" marB="36576" anchor="ctr">
                    <a:solidFill>
                      <a:srgbClr val="FFFFFF"/>
                    </a:solidFill>
                  </a:tcPr>
                </a:tc>
                <a:tc>
                  <a:txBody>
                    <a:bodyPr wrap="square"/>
                    <a:lstStyle/>
                    <a:p>
                      <a:r>
                        <a:rPr sz="1300" b="0">
                          <a:solidFill>
                            <a:srgbClr val="1F2328"/>
                          </a:solidFill>
                          <a:latin typeface="Helvetica Neue"/>
                        </a:rPr>
                        <a:t>One graph per token, prefill included</a:t>
                      </a:r>
                    </a:p>
                  </a:txBody>
                  <a:tcPr marL="73152" marR="73152" marT="36576" marB="36576" anchor="ctr">
                    <a:solidFill>
                      <a:srgbClr val="FFFFFF"/>
                    </a:solidFill>
                  </a:tcPr>
                </a:tc>
                <a:tc>
                  <a:txBody>
                    <a:bodyPr wrap="square"/>
                    <a:lstStyle/>
                    <a:p>
                      <a:r>
                        <a:rPr sz="1300" b="0">
                          <a:solidFill>
                            <a:srgbClr val="1F2328"/>
                          </a:solidFill>
                          <a:latin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rPr>
                        <a:t>4. Inputs</a:t>
                      </a:r>
                    </a:p>
                  </a:txBody>
                  <a:tcPr marL="73152" marR="73152" marT="36576" marB="36576" anchor="ctr">
                    <a:solidFill>
                      <a:srgbClr val="FFFFFF"/>
                    </a:solidFill>
                  </a:tcPr>
                </a:tc>
                <a:tc>
                  <a:txBody>
                    <a:bodyPr wrap="square"/>
                    <a:lstStyle/>
                    <a:p>
                      <a:r>
                        <a:rPr sz="1300" b="0">
                          <a:solidFill>
                            <a:srgbClr val="1F2328"/>
                          </a:solidFill>
                          <a:latin typeface="Helvetica Neue"/>
                        </a:rPr>
                        <a:t>Token, position, row-selection, KV-cell and mask inputs hash to what the receipt claims</a:t>
                      </a:r>
                    </a:p>
                  </a:txBody>
                  <a:tcPr marL="73152" marR="73152" marT="36576" marB="36576" anchor="ctr">
                    <a:solidFill>
                      <a:srgbClr val="FFFFFF"/>
                    </a:solidFill>
                  </a:tcPr>
                </a:tc>
                <a:tc>
                  <a:txBody>
                    <a:bodyPr wrap="square"/>
                    <a:lstStyle/>
                    <a:p>
                      <a:r>
                        <a:rPr sz="1300" b="0">
                          <a:solidFill>
                            <a:srgbClr val="1F2328"/>
                          </a:solidFill>
                          <a:latin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rPr>
                        <a:t>5. Edges</a:t>
                      </a:r>
                    </a:p>
                  </a:txBody>
                  <a:tcPr marL="73152" marR="73152" marT="36576" marB="36576" anchor="ctr">
                    <a:solidFill>
                      <a:srgbClr val="FFFFFF"/>
                    </a:solidFill>
                  </a:tcPr>
                </a:tc>
                <a:tc>
                  <a:txBody>
                    <a:bodyPr wrap="square"/>
                    <a:lstStyle/>
                    <a:p>
                      <a:r>
                        <a:rPr sz="1300" b="0">
                          <a:solidFill>
                            <a:srgbClr val="1F2328"/>
                          </a:solidFill>
                          <a:latin typeface="Helvetica Neue"/>
                        </a:rPr>
                        <a:t>Every input equals its producer's output; the KV cache started as zeros</a:t>
                      </a:r>
                    </a:p>
                  </a:txBody>
                  <a:tcPr marL="73152" marR="73152" marT="36576" marB="36576" anchor="ctr">
                    <a:solidFill>
                      <a:srgbClr val="FFFFFF"/>
                    </a:solidFill>
                  </a:tcPr>
                </a:tc>
                <a:tc>
                  <a:txBody>
                    <a:bodyPr wrap="square"/>
                    <a:lstStyle/>
                    <a:p>
                      <a:r>
                        <a:rPr sz="1300" b="0">
                          <a:solidFill>
                            <a:srgbClr val="1F2328"/>
                          </a:solidFill>
                          <a:latin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rPr>
                        <a:t>6. Logits binding</a:t>
                      </a:r>
                    </a:p>
                  </a:txBody>
                  <a:tcPr marL="73152" marR="73152" marT="36576" marB="36576" anchor="ctr">
                    <a:solidFill>
                      <a:srgbClr val="FFFFFF"/>
                    </a:solidFill>
                  </a:tcPr>
                </a:tc>
                <a:tc>
                  <a:txBody>
                    <a:bodyPr wrap="square"/>
                    <a:lstStyle/>
                    <a:p>
                      <a:r>
                        <a:rPr sz="1300" b="0">
                          <a:solidFill>
                            <a:srgbClr val="1F2328"/>
                          </a:solidFill>
                          <a:latin typeface="Helvetica Neue"/>
                        </a:rPr>
                        <a:t>Each graph's logits hash equals the receipt's per-token logits hash</a:t>
                      </a:r>
                    </a:p>
                  </a:txBody>
                  <a:tcPr marL="73152" marR="73152" marT="36576" marB="36576" anchor="ctr">
                    <a:solidFill>
                      <a:srgbClr val="FFFFFF"/>
                    </a:solidFill>
                  </a:tcPr>
                </a:tc>
                <a:tc>
                  <a:txBody>
                    <a:bodyPr wrap="square"/>
                    <a:lstStyle/>
                    <a:p>
                      <a:r>
                        <a:rPr sz="1300" b="0">
                          <a:solidFill>
                            <a:srgbClr val="1F2328"/>
                          </a:solidFill>
                          <a:latin typeface="Helvetica Neue"/>
                        </a:rPr>
                        <a:t>no</a:t>
                      </a:r>
                    </a:p>
                  </a:txBody>
                  <a:tcPr marL="73152" marR="73152" marT="36576" marB="36576" anchor="ctr">
                    <a:solidFill>
                      <a:srgbClr val="FFFFFF"/>
                    </a:solidFill>
                  </a:tcPr>
                </a:tc>
              </a:tr>
              <a:tr h="502920">
                <a:tc>
                  <a:txBody>
                    <a:bodyPr wrap="square"/>
                    <a:lstStyle/>
                    <a:p>
                      <a:r>
                        <a:rPr sz="1300" b="0">
                          <a:solidFill>
                            <a:srgbClr val="1F2328"/>
                          </a:solidFill>
                          <a:latin typeface="Helvetica Neue"/>
                        </a:rPr>
                        <a:t>7. Openings</a:t>
                      </a:r>
                    </a:p>
                  </a:txBody>
                  <a:tcPr marL="73152" marR="73152" marT="36576" marB="36576" anchor="ctr">
                    <a:solidFill>
                      <a:srgbClr val="FFFFFF"/>
                    </a:solidFill>
                  </a:tcPr>
                </a:tc>
                <a:tc>
                  <a:txBody>
                    <a:bodyPr wrap="square"/>
                    <a:lstStyle/>
                    <a:p>
                      <a:r>
                        <a:rPr sz="1300" b="0">
                          <a:solidFill>
                            <a:srgbClr val="1F2328"/>
                          </a:solidFill>
                          <a:latin typeface="Helvetica Neue"/>
                        </a:rPr>
                        <a:t>Path to root, bytes hash to the leaf, weights match the verifier's GGUF, numpy re-execution within tolerance</a:t>
                      </a:r>
                    </a:p>
                  </a:txBody>
                  <a:tcPr marL="73152" marR="73152" marT="36576" marB="36576" anchor="ctr">
                    <a:solidFill>
                      <a:srgbClr val="FFFFFF"/>
                    </a:solidFill>
                  </a:tcPr>
                </a:tc>
                <a:tc>
                  <a:txBody>
                    <a:bodyPr wrap="square"/>
                    <a:lstStyle/>
                    <a:p>
                      <a:r>
                        <a:rPr sz="1300" b="0">
                          <a:solidFill>
                            <a:srgbClr val="1F2328"/>
                          </a:solidFill>
                          <a:latin typeface="Helvetica Neue"/>
                        </a:rPr>
                        <a:t>yes, for k nodes</a:t>
                      </a:r>
                    </a:p>
                  </a:txBody>
                  <a:tcPr marL="73152" marR="73152" marT="36576" marB="36576"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VERIFIER</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Re-execution matches the kernel that ran</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7</a:t>
            </a:r>
          </a:p>
        </p:txBody>
      </p:sp>
      <p:sp>
        <p:nvSpPr>
          <p:cNvPr id="6" name="TextBox 5"/>
          <p:cNvSpPr txBox="1"/>
          <p:nvPr/>
        </p:nvSpPr>
        <p:spPr>
          <a:xfrm>
            <a:off x="640080" y="1828800"/>
            <a:ext cx="6035040" cy="4297680"/>
          </a:xfrm>
          <a:prstGeom prst="rect">
            <a:avLst/>
          </a:prstGeom>
          <a:noFill/>
        </p:spPr>
        <p:txBody>
          <a:bodyPr wrap="square">
            <a:spAutoFit/>
          </a:bodyPr>
          <a:lstStyle/>
          <a:p>
            <a:r>
              <a:rPr sz="1600">
                <a:solidFill>
                  <a:srgbClr val="1F2328"/>
                </a:solidFill>
                <a:latin typeface="Helvetica Neue"/>
              </a:rPr>
              <a:t>Matmuls are judged against three references and the closest one counts:</a:t>
            </a:r>
          </a:p>
          <a:p>
            <a:pPr lvl="1">
              <a:spcBef>
                <a:spcPts val="300"/>
              </a:spcBef>
            </a:pPr>
            <a:r>
              <a:rPr sz="1300" b="0">
                <a:solidFill>
                  <a:srgbClr val="5F6770"/>
                </a:solidFill>
                <a:latin typeface="Helvetica Neue"/>
              </a:rPr>
              <a:t>f32: dequantized weight times float32 activation. Metal decode kernels.</a:t>
            </a:r>
          </a:p>
          <a:p>
            <a:pPr lvl="1">
              <a:spcBef>
                <a:spcPts val="300"/>
              </a:spcBef>
            </a:pPr>
            <a:r>
              <a:rPr sz="1300" b="0">
                <a:solidFill>
                  <a:srgbClr val="5F6770"/>
                </a:solidFill>
                <a:latin typeface="Helvetica Neue"/>
              </a:rPr>
              <a:t>f16: both operands rounded to half. Metal prefill kernels.</a:t>
            </a:r>
          </a:p>
          <a:p>
            <a:pPr lvl="1">
              <a:spcBef>
                <a:spcPts val="300"/>
              </a:spcBef>
            </a:pPr>
            <a:r>
              <a:rPr sz="1300" b="0">
                <a:solidFill>
                  <a:srgbClr val="5F6770"/>
                </a:solidFill>
                <a:latin typeface="Helvetica Neue"/>
              </a:rPr>
              <a:t>q8k: ggml's CPU path. Activation quantized to Q8_K, then an integer dot product with the 4-bit or 6-bit weight blocks and per-sub-block scales. Reproduced exactly.</a:t>
            </a:r>
          </a:p>
          <a:p>
            <a:pPr>
              <a:spcBef>
                <a:spcPts val="1000"/>
              </a:spcBef>
            </a:pPr>
            <a:r>
              <a:rPr sz="1600" b="0">
                <a:solidFill>
                  <a:srgbClr val="1F2328"/>
                </a:solidFill>
                <a:latin typeface="Helvetica Neue"/>
              </a:rPr>
              <a:t>The q8k path is the statement a proof system constrains, and it is what the Lean spec and the GKR circuit use.</a:t>
            </a:r>
          </a:p>
        </p:txBody>
      </p:sp>
      <p:graphicFrame>
        <p:nvGraphicFramePr>
          <p:cNvPr id="7" name="Table 6"/>
          <p:cNvGraphicFramePr>
            <a:graphicFrameLocks noGrp="1"/>
          </p:cNvGraphicFramePr>
          <p:nvPr/>
        </p:nvGraphicFramePr>
        <p:xfrm>
          <a:off x="6949440" y="1874519"/>
          <a:ext cx="4617718" cy="2688336"/>
        </p:xfrm>
        <a:graphic>
          <a:graphicData uri="http://schemas.openxmlformats.org/drawingml/2006/table">
            <a:tbl>
              <a:tblPr firstRow="1" bandRow="1">
                <a:tableStyleId>{5C22544A-7EE6-4342-B048-85BDC9FD1C3A}</a:tableStyleId>
              </a:tblPr>
              <a:tblGrid>
                <a:gridCol w="1936463"/>
                <a:gridCol w="968231"/>
                <a:gridCol w="968231"/>
                <a:gridCol w="744793"/>
              </a:tblGrid>
              <a:tr h="384048">
                <a:tc>
                  <a:txBody>
                    <a:bodyPr wrap="square"/>
                    <a:lstStyle/>
                    <a:p>
                      <a:r>
                        <a:rPr sz="1100" b="1">
                          <a:solidFill>
                            <a:srgbClr val="1F2328"/>
                          </a:solidFill>
                          <a:latin typeface="Helvetica Neue"/>
                        </a:rPr>
                        <a:t>Op</a:t>
                      </a:r>
                    </a:p>
                  </a:txBody>
                  <a:tcPr marL="73152" marR="73152" marT="36576" marB="36576" anchor="ctr">
                    <a:solidFill>
                      <a:srgbClr val="DCECF4"/>
                    </a:solidFill>
                  </a:tcPr>
                </a:tc>
                <a:tc>
                  <a:txBody>
                    <a:bodyPr wrap="square"/>
                    <a:lstStyle/>
                    <a:p>
                      <a:r>
                        <a:rPr sz="1100" b="1">
                          <a:solidFill>
                            <a:srgbClr val="1F2328"/>
                          </a:solidFill>
                          <a:latin typeface="Helvetica Neue"/>
                        </a:rPr>
                        <a:t>Metal</a:t>
                      </a:r>
                    </a:p>
                  </a:txBody>
                  <a:tcPr marL="73152" marR="73152" marT="36576" marB="36576" anchor="ctr">
                    <a:solidFill>
                      <a:srgbClr val="DCECF4"/>
                    </a:solidFill>
                  </a:tcPr>
                </a:tc>
                <a:tc>
                  <a:txBody>
                    <a:bodyPr wrap="square"/>
                    <a:lstStyle/>
                    <a:p>
                      <a:r>
                        <a:rPr sz="1100" b="1">
                          <a:solidFill>
                            <a:srgbClr val="1F2328"/>
                          </a:solidFill>
                          <a:latin typeface="Helvetica Neue"/>
                        </a:rPr>
                        <a:t>CPU</a:t>
                      </a:r>
                    </a:p>
                  </a:txBody>
                  <a:tcPr marL="73152" marR="73152" marT="36576" marB="36576" anchor="ctr">
                    <a:solidFill>
                      <a:srgbClr val="DCECF4"/>
                    </a:solidFill>
                  </a:tcPr>
                </a:tc>
                <a:tc>
                  <a:txBody>
                    <a:bodyPr wrap="square"/>
                    <a:lstStyle/>
                    <a:p>
                      <a:r>
                        <a:rPr sz="1100" b="1">
                          <a:solidFill>
                            <a:srgbClr val="1F2328"/>
                          </a:solidFill>
                          <a:latin typeface="Helvetica Neue"/>
                        </a:rPr>
                        <a:t>Limit</a:t>
                      </a:r>
                    </a:p>
                  </a:txBody>
                  <a:tcPr marL="73152" marR="73152" marT="36576" marB="36576" anchor="ctr">
                    <a:solidFill>
                      <a:srgbClr val="DCECF4"/>
                    </a:solidFill>
                  </a:tcPr>
                </a:tc>
              </a:tr>
              <a:tr h="384048">
                <a:tc>
                  <a:txBody>
                    <a:bodyPr wrap="square"/>
                    <a:lstStyle/>
                    <a:p>
                      <a:r>
                        <a:rPr sz="1100" b="0">
                          <a:solidFill>
                            <a:srgbClr val="1F2328"/>
                          </a:solidFill>
                          <a:latin typeface="Helvetica Neue"/>
                        </a:rPr>
                        <a:t>ADD, MUL, RMS_NORM, SWIGLU</a:t>
                      </a:r>
                    </a:p>
                  </a:txBody>
                  <a:tcPr marL="73152" marR="73152" marT="36576" marB="36576" anchor="ctr">
                    <a:solidFill>
                      <a:srgbClr val="FFFFFF"/>
                    </a:solidFill>
                  </a:tcPr>
                </a:tc>
                <a:tc>
                  <a:txBody>
                    <a:bodyPr wrap="square"/>
                    <a:lstStyle/>
                    <a:p>
                      <a:r>
                        <a:rPr sz="1100" b="0">
                          <a:solidFill>
                            <a:srgbClr val="1F2328"/>
                          </a:solidFill>
                          <a:latin typeface="Helvetica Neue"/>
                        </a:rPr>
                        <a:t>1e-7</a:t>
                      </a:r>
                    </a:p>
                  </a:txBody>
                  <a:tcPr marL="73152" marR="73152" marT="36576" marB="36576" anchor="ctr">
                    <a:solidFill>
                      <a:srgbClr val="FFFFFF"/>
                    </a:solidFill>
                  </a:tcPr>
                </a:tc>
                <a:tc>
                  <a:txBody>
                    <a:bodyPr wrap="square"/>
                    <a:lstStyle/>
                    <a:p>
                      <a:r>
                        <a:rPr sz="1100" b="0">
                          <a:solidFill>
                            <a:srgbClr val="1F2328"/>
                          </a:solidFill>
                          <a:latin typeface="Helvetica Neue"/>
                        </a:rPr>
                        <a:t>1e-7</a:t>
                      </a:r>
                    </a:p>
                  </a:txBody>
                  <a:tcPr marL="73152" marR="73152" marT="36576" marB="36576" anchor="ctr">
                    <a:solidFill>
                      <a:srgbClr val="FFFFFF"/>
                    </a:solidFill>
                  </a:tcPr>
                </a:tc>
                <a:tc>
                  <a:txBody>
                    <a:bodyPr wrap="square"/>
                    <a:lstStyle/>
                    <a:p>
                      <a:r>
                        <a:rPr sz="1100" b="0">
                          <a:solidFill>
                            <a:srgbClr val="1F2328"/>
                          </a:solidFill>
                          <a:latin typeface="Helvetica Neue"/>
                        </a:rPr>
                        <a:t>1e-5</a:t>
                      </a:r>
                    </a:p>
                  </a:txBody>
                  <a:tcPr marL="73152" marR="73152" marT="36576" marB="36576" anchor="ctr">
                    <a:solidFill>
                      <a:srgbClr val="FFFFFF"/>
                    </a:solidFill>
                  </a:tcPr>
                </a:tc>
              </a:tr>
              <a:tr h="384048">
                <a:tc>
                  <a:txBody>
                    <a:bodyPr wrap="square"/>
                    <a:lstStyle/>
                    <a:p>
                      <a:r>
                        <a:rPr sz="1100" b="0">
                          <a:solidFill>
                            <a:srgbClr val="1F2328"/>
                          </a:solidFill>
                          <a:latin typeface="Helvetica Neue"/>
                        </a:rPr>
                        <a:t>ROPE</a:t>
                      </a:r>
                    </a:p>
                  </a:txBody>
                  <a:tcPr marL="73152" marR="73152" marT="36576" marB="36576" anchor="ctr">
                    <a:solidFill>
                      <a:srgbClr val="FFFFFF"/>
                    </a:solidFill>
                  </a:tcPr>
                </a:tc>
                <a:tc>
                  <a:txBody>
                    <a:bodyPr wrap="square"/>
                    <a:lstStyle/>
                    <a:p>
                      <a:r>
                        <a:rPr sz="1100" b="0">
                          <a:solidFill>
                            <a:srgbClr val="1F2328"/>
                          </a:solidFill>
                          <a:latin typeface="Helvetica Neue"/>
                        </a:rPr>
                        <a:t>4e-7</a:t>
                      </a:r>
                    </a:p>
                  </a:txBody>
                  <a:tcPr marL="73152" marR="73152" marT="36576" marB="36576" anchor="ctr">
                    <a:solidFill>
                      <a:srgbClr val="FFFFFF"/>
                    </a:solidFill>
                  </a:tcPr>
                </a:tc>
                <a:tc>
                  <a:txBody>
                    <a:bodyPr wrap="square"/>
                    <a:lstStyle/>
                    <a:p>
                      <a:r>
                        <a:rPr sz="1100" b="0">
                          <a:solidFill>
                            <a:srgbClr val="1F2328"/>
                          </a:solidFill>
                          <a:latin typeface="Helvetica Neue"/>
                        </a:rPr>
                        <a:t>7e-7</a:t>
                      </a:r>
                    </a:p>
                  </a:txBody>
                  <a:tcPr marL="73152" marR="73152" marT="36576" marB="36576" anchor="ctr">
                    <a:solidFill>
                      <a:srgbClr val="FFFFFF"/>
                    </a:solidFill>
                  </a:tcPr>
                </a:tc>
                <a:tc>
                  <a:txBody>
                    <a:bodyPr wrap="square"/>
                    <a:lstStyle/>
                    <a:p>
                      <a:r>
                        <a:rPr sz="1100" b="0">
                          <a:solidFill>
                            <a:srgbClr val="1F2328"/>
                          </a:solidFill>
                          <a:latin typeface="Helvetica Neue"/>
                        </a:rPr>
                        <a:t>5e-5</a:t>
                      </a:r>
                    </a:p>
                  </a:txBody>
                  <a:tcPr marL="73152" marR="73152" marT="36576" marB="36576" anchor="ctr">
                    <a:solidFill>
                      <a:srgbClr val="FFFFFF"/>
                    </a:solidFill>
                  </a:tcPr>
                </a:tc>
              </a:tr>
              <a:tr h="384048">
                <a:tc>
                  <a:txBody>
                    <a:bodyPr wrap="square"/>
                    <a:lstStyle/>
                    <a:p>
                      <a:r>
                        <a:rPr sz="1100" b="0">
                          <a:solidFill>
                            <a:srgbClr val="1F2328"/>
                          </a:solidFill>
                          <a:latin typeface="Helvetica Neue"/>
                        </a:rPr>
                        <a:t>GET_ROWS, CONT, SET_ROWS</a:t>
                      </a:r>
                    </a:p>
                  </a:txBody>
                  <a:tcPr marL="73152" marR="73152" marT="36576" marB="36576" anchor="ctr">
                    <a:solidFill>
                      <a:srgbClr val="FFFFFF"/>
                    </a:solidFill>
                  </a:tcPr>
                </a:tc>
                <a:tc>
                  <a:txBody>
                    <a:bodyPr wrap="square"/>
                    <a:lstStyle/>
                    <a:p>
                      <a:r>
                        <a:rPr sz="1100" b="0">
                          <a:solidFill>
                            <a:srgbClr val="1F2328"/>
                          </a:solidFill>
                          <a:latin typeface="Helvetica Neue"/>
                        </a:rPr>
                        <a:t>exact</a:t>
                      </a:r>
                    </a:p>
                  </a:txBody>
                  <a:tcPr marL="73152" marR="73152" marT="36576" marB="36576" anchor="ctr">
                    <a:solidFill>
                      <a:srgbClr val="FFFFFF"/>
                    </a:solidFill>
                  </a:tcPr>
                </a:tc>
                <a:tc>
                  <a:txBody>
                    <a:bodyPr wrap="square"/>
                    <a:lstStyle/>
                    <a:p>
                      <a:r>
                        <a:rPr sz="1100" b="0">
                          <a:solidFill>
                            <a:srgbClr val="1F2328"/>
                          </a:solidFill>
                          <a:latin typeface="Helvetica Neue"/>
                        </a:rPr>
                        <a:t>exact</a:t>
                      </a:r>
                    </a:p>
                  </a:txBody>
                  <a:tcPr marL="73152" marR="73152" marT="36576" marB="36576" anchor="ctr">
                    <a:solidFill>
                      <a:srgbClr val="FFFFFF"/>
                    </a:solidFill>
                  </a:tcPr>
                </a:tc>
                <a:tc>
                  <a:txBody>
                    <a:bodyPr wrap="square"/>
                    <a:lstStyle/>
                    <a:p>
                      <a:r>
                        <a:rPr sz="1100" b="0">
                          <a:solidFill>
                            <a:srgbClr val="1F2328"/>
                          </a:solidFill>
                          <a:latin typeface="Helvetica Neue"/>
                        </a:rPr>
                        <a:t>exact</a:t>
                      </a:r>
                    </a:p>
                  </a:txBody>
                  <a:tcPr marL="73152" marR="73152" marT="36576" marB="36576" anchor="ctr">
                    <a:solidFill>
                      <a:srgbClr val="FFFFFF"/>
                    </a:solidFill>
                  </a:tcPr>
                </a:tc>
              </a:tr>
              <a:tr h="384048">
                <a:tc>
                  <a:txBody>
                    <a:bodyPr wrap="square"/>
                    <a:lstStyle/>
                    <a:p>
                      <a:r>
                        <a:rPr sz="1100" b="0">
                          <a:solidFill>
                            <a:srgbClr val="1F2328"/>
                          </a:solidFill>
                          <a:latin typeface="Helvetica Neue"/>
                        </a:rPr>
                        <a:t>MUL_MAT, decode</a:t>
                      </a:r>
                    </a:p>
                  </a:txBody>
                  <a:tcPr marL="73152" marR="73152" marT="36576" marB="36576" anchor="ctr">
                    <a:solidFill>
                      <a:srgbClr val="FFFFFF"/>
                    </a:solidFill>
                  </a:tcPr>
                </a:tc>
                <a:tc>
                  <a:txBody>
                    <a:bodyPr wrap="square"/>
                    <a:lstStyle/>
                    <a:p>
                      <a:r>
                        <a:rPr sz="1100" b="0">
                          <a:solidFill>
                            <a:srgbClr val="1F2328"/>
                          </a:solidFill>
                          <a:latin typeface="Helvetica Neue"/>
                        </a:rPr>
                        <a:t>4e-7 (f32)</a:t>
                      </a:r>
                    </a:p>
                  </a:txBody>
                  <a:tcPr marL="73152" marR="73152" marT="36576" marB="36576" anchor="ctr">
                    <a:solidFill>
                      <a:srgbClr val="FFFFFF"/>
                    </a:solidFill>
                  </a:tcPr>
                </a:tc>
                <a:tc>
                  <a:txBody>
                    <a:bodyPr wrap="square"/>
                    <a:lstStyle/>
                    <a:p>
                      <a:r>
                        <a:rPr sz="1100" b="0">
                          <a:solidFill>
                            <a:srgbClr val="1F2328"/>
                          </a:solidFill>
                          <a:latin typeface="Helvetica Neue"/>
                        </a:rPr>
                        <a:t>8e-7 (q8k)</a:t>
                      </a:r>
                    </a:p>
                  </a:txBody>
                  <a:tcPr marL="73152" marR="73152" marT="36576" marB="36576" anchor="ctr">
                    <a:solidFill>
                      <a:srgbClr val="FFFFFF"/>
                    </a:solidFill>
                  </a:tcPr>
                </a:tc>
                <a:tc>
                  <a:txBody>
                    <a:bodyPr wrap="square"/>
                    <a:lstStyle/>
                    <a:p>
                      <a:r>
                        <a:rPr sz="1100" b="0">
                          <a:solidFill>
                            <a:srgbClr val="1F2328"/>
                          </a:solidFill>
                          <a:latin typeface="Helvetica Neue"/>
                        </a:rPr>
                        <a:t>8e-3</a:t>
                      </a:r>
                    </a:p>
                  </a:txBody>
                  <a:tcPr marL="73152" marR="73152" marT="36576" marB="36576" anchor="ctr">
                    <a:solidFill>
                      <a:srgbClr val="FFFFFF"/>
                    </a:solidFill>
                  </a:tcPr>
                </a:tc>
              </a:tr>
              <a:tr h="384048">
                <a:tc>
                  <a:txBody>
                    <a:bodyPr wrap="square"/>
                    <a:lstStyle/>
                    <a:p>
                      <a:r>
                        <a:rPr sz="1100" b="0">
                          <a:solidFill>
                            <a:srgbClr val="1F2328"/>
                          </a:solidFill>
                          <a:latin typeface="Helvetica Neue"/>
                        </a:rPr>
                        <a:t>MUL_MAT, prefill</a:t>
                      </a:r>
                    </a:p>
                  </a:txBody>
                  <a:tcPr marL="73152" marR="73152" marT="36576" marB="36576" anchor="ctr">
                    <a:solidFill>
                      <a:srgbClr val="FFFFFF"/>
                    </a:solidFill>
                  </a:tcPr>
                </a:tc>
                <a:tc>
                  <a:txBody>
                    <a:bodyPr wrap="square"/>
                    <a:lstStyle/>
                    <a:p>
                      <a:r>
                        <a:rPr sz="1100" b="0">
                          <a:solidFill>
                            <a:srgbClr val="1F2328"/>
                          </a:solidFill>
                          <a:latin typeface="Helvetica Neue"/>
                        </a:rPr>
                        <a:t>2.2e-3 (f16)</a:t>
                      </a:r>
                    </a:p>
                  </a:txBody>
                  <a:tcPr marL="73152" marR="73152" marT="36576" marB="36576" anchor="ctr">
                    <a:solidFill>
                      <a:srgbClr val="FFFFFF"/>
                    </a:solidFill>
                  </a:tcPr>
                </a:tc>
                <a:tc>
                  <a:txBody>
                    <a:bodyPr wrap="square"/>
                    <a:lstStyle/>
                    <a:p>
                      <a:r>
                        <a:rPr sz="1100" b="0">
                          <a:solidFill>
                            <a:srgbClr val="1F2328"/>
                          </a:solidFill>
                          <a:latin typeface="Helvetica Neue"/>
                        </a:rPr>
                        <a:t>1e-7 (q8k)</a:t>
                      </a:r>
                    </a:p>
                  </a:txBody>
                  <a:tcPr marL="73152" marR="73152" marT="36576" marB="36576" anchor="ctr">
                    <a:solidFill>
                      <a:srgbClr val="FFFFFF"/>
                    </a:solidFill>
                  </a:tcPr>
                </a:tc>
                <a:tc>
                  <a:txBody>
                    <a:bodyPr wrap="square"/>
                    <a:lstStyle/>
                    <a:p>
                      <a:r>
                        <a:rPr sz="1100" b="0">
                          <a:solidFill>
                            <a:srgbClr val="1F2328"/>
                          </a:solidFill>
                          <a:latin typeface="Helvetica Neue"/>
                        </a:rPr>
                        <a:t>8e-3</a:t>
                      </a:r>
                    </a:p>
                  </a:txBody>
                  <a:tcPr marL="73152" marR="73152" marT="36576" marB="36576" anchor="ctr">
                    <a:solidFill>
                      <a:srgbClr val="FFFFFF"/>
                    </a:solidFill>
                  </a:tcPr>
                </a:tc>
              </a:tr>
              <a:tr h="384048">
                <a:tc>
                  <a:txBody>
                    <a:bodyPr wrap="square"/>
                    <a:lstStyle/>
                    <a:p>
                      <a:r>
                        <a:rPr sz="1100" b="0">
                          <a:solidFill>
                            <a:srgbClr val="1F2328"/>
                          </a:solidFill>
                          <a:latin typeface="Helvetica Neue"/>
                        </a:rPr>
                        <a:t>FLASH_ATTN_EXT</a:t>
                      </a:r>
                    </a:p>
                  </a:txBody>
                  <a:tcPr marL="73152" marR="73152" marT="36576" marB="36576" anchor="ctr">
                    <a:solidFill>
                      <a:srgbClr val="FFFFFF"/>
                    </a:solidFill>
                  </a:tcPr>
                </a:tc>
                <a:tc>
                  <a:txBody>
                    <a:bodyPr wrap="square"/>
                    <a:lstStyle/>
                    <a:p>
                      <a:r>
                        <a:rPr sz="1100" b="0">
                          <a:solidFill>
                            <a:srgbClr val="1F2328"/>
                          </a:solidFill>
                          <a:latin typeface="Helvetica Neue"/>
                        </a:rPr>
                        <a:t>1.9e-3</a:t>
                      </a:r>
                    </a:p>
                  </a:txBody>
                  <a:tcPr marL="73152" marR="73152" marT="36576" marB="36576" anchor="ctr">
                    <a:solidFill>
                      <a:srgbClr val="FFFFFF"/>
                    </a:solidFill>
                  </a:tcPr>
                </a:tc>
                <a:tc>
                  <a:txBody>
                    <a:bodyPr wrap="square"/>
                    <a:lstStyle/>
                    <a:p>
                      <a:r>
                        <a:rPr sz="1100" b="0">
                          <a:solidFill>
                            <a:srgbClr val="1F2328"/>
                          </a:solidFill>
                          <a:latin typeface="Helvetica Neue"/>
                        </a:rPr>
                        <a:t>7.5e-3</a:t>
                      </a:r>
                    </a:p>
                  </a:txBody>
                  <a:tcPr marL="73152" marR="73152" marT="36576" marB="36576" anchor="ctr">
                    <a:solidFill>
                      <a:srgbClr val="FFFFFF"/>
                    </a:solidFill>
                  </a:tcPr>
                </a:tc>
                <a:tc>
                  <a:txBody>
                    <a:bodyPr wrap="square"/>
                    <a:lstStyle/>
                    <a:p>
                      <a:r>
                        <a:rPr sz="1100" b="0">
                          <a:solidFill>
                            <a:srgbClr val="1F2328"/>
                          </a:solidFill>
                          <a:latin typeface="Helvetica Neue"/>
                        </a:rPr>
                        <a:t>2e-2</a:t>
                      </a:r>
                    </a:p>
                  </a:txBody>
                  <a:tcPr marL="73152" marR="73152" marT="36576" marB="36576" anchor="ctr">
                    <a:solidFill>
                      <a:srgbClr val="FFFFFF"/>
                    </a:solidFill>
                  </a:tcPr>
                </a:tc>
              </a:tr>
            </a:tbl>
          </a:graphicData>
        </a:graphic>
      </p:graphicFrame>
      <p:sp>
        <p:nvSpPr>
          <p:cNvPr id="8" name="TextBox 7"/>
          <p:cNvSpPr txBox="1"/>
          <p:nvPr/>
        </p:nvSpPr>
        <p:spPr>
          <a:xfrm>
            <a:off x="6949440" y="4663440"/>
            <a:ext cx="4617720" cy="914400"/>
          </a:xfrm>
          <a:prstGeom prst="rect">
            <a:avLst/>
          </a:prstGeom>
          <a:noFill/>
        </p:spPr>
        <p:txBody>
          <a:bodyPr wrap="square">
            <a:spAutoFit/>
          </a:bodyPr>
          <a:lstStyle/>
          <a:p>
            <a:pPr algn="l"/>
            <a:r>
              <a:rPr sz="1100" b="0">
                <a:solidFill>
                  <a:srgbClr val="5F6770"/>
                </a:solidFill>
                <a:latin typeface="Helvetica Neue"/>
              </a:rPr>
              <a:t>Normalized error, max|out - ref| / max|ref|, qwen2.5 1.5B Q4_K_M on an Apple M5, several hundred openings per backend.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RESULTS</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Results with the native tool</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8</a:t>
            </a:r>
          </a:p>
        </p:txBody>
      </p:sp>
      <p:graphicFrame>
        <p:nvGraphicFramePr>
          <p:cNvPr id="6" name="Table 5"/>
          <p:cNvGraphicFramePr>
            <a:graphicFrameLocks noGrp="1"/>
          </p:cNvGraphicFramePr>
          <p:nvPr/>
        </p:nvGraphicFramePr>
        <p:xfrm>
          <a:off x="640080" y="1874519"/>
          <a:ext cx="10911534" cy="3703320"/>
        </p:xfrm>
        <a:graphic>
          <a:graphicData uri="http://schemas.openxmlformats.org/drawingml/2006/table">
            <a:tbl>
              <a:tblPr firstRow="1" bandRow="1">
                <a:tableStyleId>{5C22544A-7EE6-4342-B048-85BDC9FD1C3A}</a:tableStyleId>
              </a:tblPr>
              <a:tblGrid>
                <a:gridCol w="4134897"/>
                <a:gridCol w="1033724"/>
                <a:gridCol w="5742913"/>
              </a:tblGrid>
              <a:tr h="411480">
                <a:tc>
                  <a:txBody>
                    <a:bodyPr wrap="square"/>
                    <a:lstStyle/>
                    <a:p>
                      <a:r>
                        <a:rPr sz="1200" b="1">
                          <a:solidFill>
                            <a:srgbClr val="1F2328"/>
                          </a:solidFill>
                          <a:latin typeface="Helvetica Neue"/>
                        </a:rPr>
                        <a:t>Case</a:t>
                      </a:r>
                    </a:p>
                  </a:txBody>
                  <a:tcPr marL="73152" marR="73152" marT="36576" marB="36576" anchor="ctr">
                    <a:solidFill>
                      <a:srgbClr val="DCECF4"/>
                    </a:solidFill>
                  </a:tcPr>
                </a:tc>
                <a:tc>
                  <a:txBody>
                    <a:bodyPr wrap="square"/>
                    <a:lstStyle/>
                    <a:p>
                      <a:r>
                        <a:rPr sz="1200" b="1">
                          <a:solidFill>
                            <a:srgbClr val="1F2328"/>
                          </a:solidFill>
                          <a:latin typeface="Helvetica Neue"/>
                        </a:rPr>
                        <a:t>Verdict</a:t>
                      </a:r>
                    </a:p>
                  </a:txBody>
                  <a:tcPr marL="73152" marR="73152" marT="36576" marB="36576" anchor="ctr">
                    <a:solidFill>
                      <a:srgbClr val="DCECF4"/>
                    </a:solidFill>
                  </a:tcPr>
                </a:tc>
                <a:tc>
                  <a:txBody>
                    <a:bodyPr wrap="square"/>
                    <a:lstStyle/>
                    <a:p>
                      <a:r>
                        <a:rPr sz="1200" b="1">
                          <a:solidFill>
                            <a:srgbClr val="1F2328"/>
                          </a:solidFill>
                          <a:latin typeface="Helvetica Neue"/>
                        </a:rPr>
                        <a:t>What decided it</a:t>
                      </a:r>
                    </a:p>
                  </a:txBody>
                  <a:tcPr marL="73152" marR="73152" marT="36576" marB="36576" anchor="ctr">
                    <a:solidFill>
                      <a:srgbClr val="DCECF4"/>
                    </a:solidFill>
                  </a:tcPr>
                </a:tc>
              </a:tr>
              <a:tr h="411480">
                <a:tc>
                  <a:txBody>
                    <a:bodyPr wrap="square"/>
                    <a:lstStyle/>
                    <a:p>
                      <a:r>
                        <a:rPr sz="1200" b="0">
                          <a:solidFill>
                            <a:srgbClr val="1F2328"/>
                          </a:solidFill>
                          <a:latin typeface="Helvetica Neue"/>
                        </a:rPr>
                        <a:t>Honest, Metal, flash attention on</a:t>
                      </a:r>
                    </a:p>
                  </a:txBody>
                  <a:tcPr marL="73152" marR="73152" marT="36576" marB="36576" anchor="ctr">
                    <a:solidFill>
                      <a:srgbClr val="FFFFFF"/>
                    </a:solidFill>
                  </a:tcPr>
                </a:tc>
                <a:tc>
                  <a:txBody>
                    <a:bodyPr wrap="square"/>
                    <a:lstStyle/>
                    <a:p>
                      <a:r>
                        <a:rPr sz="1200" b="1">
                          <a:solidFill>
                            <a:srgbClr val="2E7D32"/>
                          </a:solidFill>
                          <a:latin typeface="Helvetica Neue"/>
                        </a:rPr>
                        <a:t>accept</a:t>
                      </a:r>
                    </a:p>
                  </a:txBody>
                  <a:tcPr marL="73152" marR="73152" marT="36576" marB="36576" anchor="ctr">
                    <a:solidFill>
                      <a:srgbClr val="FFFFFF"/>
                    </a:solidFill>
                  </a:tcPr>
                </a:tc>
                <a:tc>
                  <a:txBody>
                    <a:bodyPr wrap="square"/>
                    <a:lstStyle/>
                    <a:p>
                      <a:r>
                        <a:rPr sz="1200" b="0">
                          <a:solidFill>
                            <a:srgbClr val="1F2328"/>
                          </a:solidFill>
                          <a:latin typeface="Helvetica Neue"/>
                        </a:rPr>
                        <a:t>all checks pass, worst matmul error 1.2e-3</a:t>
                      </a:r>
                    </a:p>
                  </a:txBody>
                  <a:tcPr marL="73152" marR="73152" marT="36576" marB="36576" anchor="ctr">
                    <a:solidFill>
                      <a:srgbClr val="FFFFFF"/>
                    </a:solidFill>
                  </a:tcPr>
                </a:tc>
              </a:tr>
              <a:tr h="411480">
                <a:tc>
                  <a:txBody>
                    <a:bodyPr wrap="square"/>
                    <a:lstStyle/>
                    <a:p>
                      <a:r>
                        <a:rPr sz="1200" b="0">
                          <a:solidFill>
                            <a:srgbClr val="1F2328"/>
                          </a:solidFill>
                          <a:latin typeface="Helvetica Neue"/>
                        </a:rPr>
                        <a:t>Honest, CPU, 8 threads</a:t>
                      </a:r>
                    </a:p>
                  </a:txBody>
                  <a:tcPr marL="73152" marR="73152" marT="36576" marB="36576" anchor="ctr">
                    <a:solidFill>
                      <a:srgbClr val="FFFFFF"/>
                    </a:solidFill>
                  </a:tcPr>
                </a:tc>
                <a:tc>
                  <a:txBody>
                    <a:bodyPr wrap="square"/>
                    <a:lstStyle/>
                    <a:p>
                      <a:r>
                        <a:rPr sz="1200" b="1">
                          <a:solidFill>
                            <a:srgbClr val="2E7D32"/>
                          </a:solidFill>
                          <a:latin typeface="Helvetica Neue"/>
                        </a:rPr>
                        <a:t>accept</a:t>
                      </a:r>
                    </a:p>
                  </a:txBody>
                  <a:tcPr marL="73152" marR="73152" marT="36576" marB="36576" anchor="ctr">
                    <a:solidFill>
                      <a:srgbClr val="FFFFFF"/>
                    </a:solidFill>
                  </a:tcPr>
                </a:tc>
                <a:tc>
                  <a:txBody>
                    <a:bodyPr wrap="square"/>
                    <a:lstStyle/>
                    <a:p>
                      <a:r>
                        <a:rPr sz="1200" b="0">
                          <a:solidFill>
                            <a:srgbClr val="1F2328"/>
                          </a:solidFill>
                          <a:latin typeface="Helvetica Neue"/>
                        </a:rPr>
                        <a:t>matmuls match the integer reference to 5e-7</a:t>
                      </a:r>
                    </a:p>
                  </a:txBody>
                  <a:tcPr marL="73152" marR="73152" marT="36576" marB="36576" anchor="ctr">
                    <a:solidFill>
                      <a:srgbClr val="FFFFFF"/>
                    </a:solidFill>
                  </a:tcPr>
                </a:tc>
              </a:tr>
              <a:tr h="411480">
                <a:tc>
                  <a:txBody>
                    <a:bodyPr wrap="square"/>
                    <a:lstStyle/>
                    <a:p>
                      <a:r>
                        <a:rPr sz="1200" b="0">
                          <a:solidFill>
                            <a:srgbClr val="1F2328"/>
                          </a:solidFill>
                          <a:latin typeface="Helvetica Neue"/>
                        </a:rPr>
                        <a:t>Replay of the Metal receipt on Metal</a:t>
                      </a:r>
                    </a:p>
                  </a:txBody>
                  <a:tcPr marL="73152" marR="73152" marT="36576" marB="36576" anchor="ctr">
                    <a:solidFill>
                      <a:srgbClr val="FFFFFF"/>
                    </a:solidFill>
                  </a:tcPr>
                </a:tc>
                <a:tc>
                  <a:txBody>
                    <a:bodyPr wrap="square"/>
                    <a:lstStyle/>
                    <a:p>
                      <a:r>
                        <a:rPr sz="1200" b="1">
                          <a:solidFill>
                            <a:srgbClr val="2E7D32"/>
                          </a:solidFill>
                          <a:latin typeface="Helvetica Neue"/>
                        </a:rPr>
                        <a:t>accept</a:t>
                      </a:r>
                    </a:p>
                  </a:txBody>
                  <a:tcPr marL="73152" marR="73152" marT="36576" marB="36576" anchor="ctr">
                    <a:solidFill>
                      <a:srgbClr val="FFFFFF"/>
                    </a:solidFill>
                  </a:tcPr>
                </a:tc>
                <a:tc>
                  <a:txBody>
                    <a:bodyPr wrap="square"/>
                    <a:lstStyle/>
                    <a:p>
                      <a:r>
                        <a:rPr sz="1200" b="0">
                          <a:solidFill>
                            <a:srgbClr val="1F2328"/>
                          </a:solidFill>
                          <a:latin typeface="Helvetica Neue"/>
                        </a:rPr>
                        <a:t>bit-exact, every logits hash matches</a:t>
                      </a:r>
                    </a:p>
                  </a:txBody>
                  <a:tcPr marL="73152" marR="73152" marT="36576" marB="36576" anchor="ctr">
                    <a:solidFill>
                      <a:srgbClr val="FFFFFF"/>
                    </a:solidFill>
                  </a:tcPr>
                </a:tc>
              </a:tr>
              <a:tr h="411480">
                <a:tc>
                  <a:txBody>
                    <a:bodyPr wrap="square"/>
                    <a:lstStyle/>
                    <a:p>
                      <a:r>
                        <a:rPr sz="1200" b="0">
                          <a:solidFill>
                            <a:srgbClr val="1F2328"/>
                          </a:solidFill>
                          <a:latin typeface="Helvetica Neue"/>
                        </a:rPr>
                        <a:t>Replay of the Metal receipt on CPU</a:t>
                      </a:r>
                    </a:p>
                  </a:txBody>
                  <a:tcPr marL="73152" marR="73152" marT="36576" marB="36576" anchor="ctr">
                    <a:solidFill>
                      <a:srgbClr val="FFFFFF"/>
                    </a:solidFill>
                  </a:tcPr>
                </a:tc>
                <a:tc>
                  <a:txBody>
                    <a:bodyPr wrap="square"/>
                    <a:lstStyle/>
                    <a:p>
                      <a:r>
                        <a:rPr sz="1200" b="1">
                          <a:solidFill>
                            <a:srgbClr val="2E7D32"/>
                          </a:solidFill>
                          <a:latin typeface="Helvetica Neue"/>
                        </a:rPr>
                        <a:t>accept</a:t>
                      </a:r>
                    </a:p>
                  </a:txBody>
                  <a:tcPr marL="73152" marR="73152" marT="36576" marB="36576" anchor="ctr">
                    <a:solidFill>
                      <a:srgbClr val="FFFFFF"/>
                    </a:solidFill>
                  </a:tcPr>
                </a:tc>
                <a:tc>
                  <a:txBody>
                    <a:bodyPr wrap="square"/>
                    <a:lstStyle/>
                    <a:p>
                      <a:r>
                        <a:rPr sz="1200" b="0">
                          <a:solidFill>
                            <a:srgbClr val="1F2328"/>
                          </a:solidFill>
                          <a:latin typeface="Helvetica Neue"/>
                        </a:rPr>
                        <a:t>drift regime, token match 0.75, largest draw gap 0.08</a:t>
                      </a:r>
                    </a:p>
                  </a:txBody>
                  <a:tcPr marL="73152" marR="73152" marT="36576" marB="36576" anchor="ctr">
                    <a:solidFill>
                      <a:srgbClr val="FFFFFF"/>
                    </a:solidFill>
                  </a:tcPr>
                </a:tc>
              </a:tr>
              <a:tr h="411480">
                <a:tc>
                  <a:txBody>
                    <a:bodyPr wrap="square"/>
                    <a:lstStyle/>
                    <a:p>
                      <a:r>
                        <a:rPr sz="1200" b="0">
                          <a:solidFill>
                            <a:srgbClr val="1F2328"/>
                          </a:solidFill>
                          <a:latin typeface="Helvetica Neue"/>
                        </a:rPr>
                        <a:t>Q2_K model served, receipt claims Q4_K_M</a:t>
                      </a:r>
                    </a:p>
                  </a:txBody>
                  <a:tcPr marL="73152" marR="73152" marT="36576" marB="36576" anchor="ctr">
                    <a:solidFill>
                      <a:srgbClr val="FFFFFF"/>
                    </a:solidFill>
                  </a:tcPr>
                </a:tc>
                <a:tc>
                  <a:txBody>
                    <a:bodyPr wrap="square"/>
                    <a:lstStyle/>
                    <a:p>
                      <a:r>
                        <a:rPr sz="1200" b="1">
                          <a:solidFill>
                            <a:srgbClr val="B02A2A"/>
                          </a:solidFill>
                          <a:latin typeface="Helvetica Neue"/>
                        </a:rPr>
                        <a:t>reject</a:t>
                      </a:r>
                    </a:p>
                  </a:txBody>
                  <a:tcPr marL="73152" marR="73152" marT="36576" marB="36576" anchor="ctr">
                    <a:solidFill>
                      <a:srgbClr val="FFFFFF"/>
                    </a:solidFill>
                  </a:tcPr>
                </a:tc>
                <a:tc>
                  <a:txBody>
                    <a:bodyPr wrap="square"/>
                    <a:lstStyle/>
                    <a:p>
                      <a:r>
                        <a:rPr sz="1200" b="0">
                          <a:solidFill>
                            <a:srgbClr val="1F2328"/>
                          </a:solidFill>
                          <a:latin typeface="Helvetica Neue"/>
                        </a:rPr>
                        <a:t>8 of 8 sampled weight matmuls fail, errors 0.2 to 0.4</a:t>
                      </a:r>
                    </a:p>
                  </a:txBody>
                  <a:tcPr marL="73152" marR="73152" marT="36576" marB="36576" anchor="ctr">
                    <a:solidFill>
                      <a:srgbClr val="FFFFFF"/>
                    </a:solidFill>
                  </a:tcPr>
                </a:tc>
              </a:tr>
              <a:tr h="411480">
                <a:tc>
                  <a:txBody>
                    <a:bodyPr wrap="square"/>
                    <a:lstStyle/>
                    <a:p>
                      <a:r>
                        <a:rPr sz="1200" b="0">
                          <a:solidFill>
                            <a:srgbClr val="1F2328"/>
                          </a:solidFill>
                          <a:latin typeface="Helvetica Neue"/>
                        </a:rPr>
                        <a:t>Honest receipt checked against the wrong file</a:t>
                      </a:r>
                    </a:p>
                  </a:txBody>
                  <a:tcPr marL="73152" marR="73152" marT="36576" marB="36576" anchor="ctr">
                    <a:solidFill>
                      <a:srgbClr val="FFFFFF"/>
                    </a:solidFill>
                  </a:tcPr>
                </a:tc>
                <a:tc>
                  <a:txBody>
                    <a:bodyPr wrap="square"/>
                    <a:lstStyle/>
                    <a:p>
                      <a:r>
                        <a:rPr sz="1200" b="1">
                          <a:solidFill>
                            <a:srgbClr val="B02A2A"/>
                          </a:solidFill>
                          <a:latin typeface="Helvetica Neue"/>
                        </a:rPr>
                        <a:t>reject</a:t>
                      </a:r>
                    </a:p>
                  </a:txBody>
                  <a:tcPr marL="73152" marR="73152" marT="36576" marB="36576" anchor="ctr">
                    <a:solidFill>
                      <a:srgbClr val="FFFFFF"/>
                    </a:solidFill>
                  </a:tcPr>
                </a:tc>
                <a:tc>
                  <a:txBody>
                    <a:bodyPr wrap="square"/>
                    <a:lstStyle/>
                    <a:p>
                      <a:r>
                        <a:rPr sz="1200" b="0">
                          <a:solidFill>
                            <a:srgbClr val="1F2328"/>
                          </a:solidFill>
                          <a:latin typeface="Helvetica Neue"/>
                        </a:rPr>
                        <a:t>model file hash, then weight bindings</a:t>
                      </a:r>
                    </a:p>
                  </a:txBody>
                  <a:tcPr marL="73152" marR="73152" marT="36576" marB="36576" anchor="ctr">
                    <a:solidFill>
                      <a:srgbClr val="FFFFFF"/>
                    </a:solidFill>
                  </a:tcPr>
                </a:tc>
              </a:tr>
              <a:tr h="411480">
                <a:tc>
                  <a:txBody>
                    <a:bodyPr wrap="square"/>
                    <a:lstStyle/>
                    <a:p>
                      <a:r>
                        <a:rPr sz="1200" b="0">
                          <a:solidFill>
                            <a:srgbClr val="1F2328"/>
                          </a:solidFill>
                          <a:latin typeface="Helvetica Neue"/>
                        </a:rPr>
                        <a:t>One response token edited, commitments refreshed</a:t>
                      </a:r>
                    </a:p>
                  </a:txBody>
                  <a:tcPr marL="73152" marR="73152" marT="36576" marB="36576" anchor="ctr">
                    <a:solidFill>
                      <a:srgbClr val="FFFFFF"/>
                    </a:solidFill>
                  </a:tcPr>
                </a:tc>
                <a:tc>
                  <a:txBody>
                    <a:bodyPr wrap="square"/>
                    <a:lstStyle/>
                    <a:p>
                      <a:r>
                        <a:rPr sz="1200" b="1">
                          <a:solidFill>
                            <a:srgbClr val="B02A2A"/>
                          </a:solidFill>
                          <a:latin typeface="Helvetica Neue"/>
                        </a:rPr>
                        <a:t>reject</a:t>
                      </a:r>
                    </a:p>
                  </a:txBody>
                  <a:tcPr marL="73152" marR="73152" marT="36576" marB="36576" anchor="ctr">
                    <a:solidFill>
                      <a:srgbClr val="FFFFFF"/>
                    </a:solidFill>
                  </a:tcPr>
                </a:tc>
                <a:tc>
                  <a:txBody>
                    <a:bodyPr wrap="square"/>
                    <a:lstStyle/>
                    <a:p>
                      <a:r>
                        <a:rPr sz="1200" b="0">
                          <a:solidFill>
                            <a:srgbClr val="1F2328"/>
                          </a:solidFill>
                          <a:latin typeface="Helvetica Neue"/>
                        </a:rPr>
                        <a:t>challenge indices differ, token input mismatches</a:t>
                      </a:r>
                    </a:p>
                  </a:txBody>
                  <a:tcPr marL="73152" marR="73152" marT="36576" marB="36576" anchor="ctr">
                    <a:solidFill>
                      <a:srgbClr val="FFFFFF"/>
                    </a:solidFill>
                  </a:tcPr>
                </a:tc>
              </a:tr>
              <a:tr h="411480">
                <a:tc>
                  <a:txBody>
                    <a:bodyPr wrap="square"/>
                    <a:lstStyle/>
                    <a:p>
                      <a:r>
                        <a:rPr sz="1200" b="0">
                          <a:solidFill>
                            <a:srgbClr val="1F2328"/>
                          </a:solidFill>
                          <a:latin typeface="Helvetica Neue"/>
                        </a:rPr>
                        <a:t>Interactive seed, wrong seed given to the verifier</a:t>
                      </a:r>
                    </a:p>
                  </a:txBody>
                  <a:tcPr marL="73152" marR="73152" marT="36576" marB="36576" anchor="ctr">
                    <a:solidFill>
                      <a:srgbClr val="FFFFFF"/>
                    </a:solidFill>
                  </a:tcPr>
                </a:tc>
                <a:tc>
                  <a:txBody>
                    <a:bodyPr wrap="square"/>
                    <a:lstStyle/>
                    <a:p>
                      <a:r>
                        <a:rPr sz="1200" b="1">
                          <a:solidFill>
                            <a:srgbClr val="B02A2A"/>
                          </a:solidFill>
                          <a:latin typeface="Helvetica Neue"/>
                        </a:rPr>
                        <a:t>reject</a:t>
                      </a:r>
                    </a:p>
                  </a:txBody>
                  <a:tcPr marL="73152" marR="73152" marT="36576" marB="36576" anchor="ctr">
                    <a:solidFill>
                      <a:srgbClr val="FFFFFF"/>
                    </a:solidFill>
                  </a:tcPr>
                </a:tc>
                <a:tc>
                  <a:txBody>
                    <a:bodyPr wrap="square"/>
                    <a:lstStyle/>
                    <a:p>
                      <a:r>
                        <a:rPr sz="1200" b="0">
                          <a:solidFill>
                            <a:srgbClr val="1F2328"/>
                          </a:solidFill>
                          <a:latin typeface="Helvetica Neue"/>
                        </a:rPr>
                        <a:t>recorded seed is not the verifier's</a:t>
                      </a:r>
                    </a:p>
                  </a:txBody>
                  <a:tcPr marL="73152" marR="73152" marT="36576" marB="36576" anchor="ctr">
                    <a:solidFill>
                      <a:srgbClr val="FFFFFF"/>
                    </a:solidFill>
                  </a:tcPr>
                </a:tc>
              </a:tr>
            </a:tbl>
          </a:graphicData>
        </a:graphic>
      </p:graphicFrame>
      <p:sp>
        <p:nvSpPr>
          <p:cNvPr id="7" name="TextBox 6"/>
          <p:cNvSpPr txBox="1"/>
          <p:nvPr/>
        </p:nvSpPr>
        <p:spPr>
          <a:xfrm>
            <a:off x="640080" y="5669280"/>
            <a:ext cx="10911535" cy="457200"/>
          </a:xfrm>
          <a:prstGeom prst="rect">
            <a:avLst/>
          </a:prstGeom>
          <a:noFill/>
        </p:spPr>
        <p:txBody>
          <a:bodyPr wrap="square">
            <a:spAutoFit/>
          </a:bodyPr>
          <a:lstStyle/>
          <a:p>
            <a:pPr algn="l"/>
            <a:r>
              <a:rPr sz="1200" b="0">
                <a:solidFill>
                  <a:srgbClr val="5F6770"/>
                </a:solidFill>
                <a:latin typeface="Helvetica Neue"/>
              </a:rPr>
              <a:t>Python prototype on the same kernels, 4 prompts, 32 tokens, 32 openings: 28 of 28 verdicts correct.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SCREENSHOTS</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How it looks: proving with a trace, then replaying it</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9</a:t>
            </a:r>
          </a:p>
        </p:txBody>
      </p:sp>
      <p:pic>
        <p:nvPicPr>
          <p:cNvPr id="6" name="Picture 5" descr="prove.png"/>
          <p:cNvPicPr>
            <a:picLocks noChangeAspect="1"/>
          </p:cNvPicPr>
          <p:nvPr/>
        </p:nvPicPr>
        <p:blipFill>
          <a:blip r:embed="rId2"/>
          <a:stretch>
            <a:fillRect/>
          </a:stretch>
        </p:blipFill>
        <p:spPr>
          <a:xfrm>
            <a:off x="1303112" y="1783080"/>
            <a:ext cx="9585470" cy="2514600"/>
          </a:xfrm>
          <a:prstGeom prst="rect">
            <a:avLst/>
          </a:prstGeom>
        </p:spPr>
      </p:pic>
      <p:pic>
        <p:nvPicPr>
          <p:cNvPr id="7" name="Picture 6" descr="replay.png"/>
          <p:cNvPicPr>
            <a:picLocks noChangeAspect="1"/>
          </p:cNvPicPr>
          <p:nvPr/>
        </p:nvPicPr>
        <p:blipFill>
          <a:blip r:embed="rId3"/>
          <a:stretch>
            <a:fillRect/>
          </a:stretch>
        </p:blipFill>
        <p:spPr>
          <a:xfrm>
            <a:off x="2797816" y="4526280"/>
            <a:ext cx="6596062" cy="1143000"/>
          </a:xfrm>
          <a:prstGeom prst="rect">
            <a:avLst/>
          </a:prstGeom>
        </p:spPr>
      </p:pic>
      <p:sp>
        <p:nvSpPr>
          <p:cNvPr id="8" name="TextBox 7"/>
          <p:cNvSpPr txBox="1"/>
          <p:nvPr/>
        </p:nvSpPr>
        <p:spPr>
          <a:xfrm>
            <a:off x="640080" y="5806440"/>
            <a:ext cx="10911535" cy="548640"/>
          </a:xfrm>
          <a:prstGeom prst="rect">
            <a:avLst/>
          </a:prstGeom>
          <a:noFill/>
        </p:spPr>
        <p:txBody>
          <a:bodyPr wrap="square">
            <a:spAutoFit/>
          </a:bodyPr>
          <a:lstStyle/>
          <a:p>
            <a:pPr algn="l"/>
            <a:r>
              <a:rPr sz="1200" b="0">
                <a:solidFill>
                  <a:srgbClr val="5F6770"/>
                </a:solidFill>
                <a:latin typeface="Helvetica Neue"/>
              </a:rPr>
              <a:t>Top: the prover generates, hashes every tensor, writes the receipt, replays once for the openings and writes the trace. Bottom: replay verification on the same backend is bit-exact.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SCREENSHOTS</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How it looks: verifying</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10</a:t>
            </a:r>
          </a:p>
        </p:txBody>
      </p:sp>
      <p:pic>
        <p:nvPicPr>
          <p:cNvPr id="6" name="Picture 5" descr="verify.png"/>
          <p:cNvPicPr>
            <a:picLocks noChangeAspect="1"/>
          </p:cNvPicPr>
          <p:nvPr/>
        </p:nvPicPr>
        <p:blipFill>
          <a:blip r:embed="rId2"/>
          <a:stretch>
            <a:fillRect/>
          </a:stretch>
        </p:blipFill>
        <p:spPr>
          <a:xfrm>
            <a:off x="2063576" y="1783080"/>
            <a:ext cx="8064541" cy="3931920"/>
          </a:xfrm>
          <a:prstGeom prst="rect">
            <a:avLst/>
          </a:prstGeom>
        </p:spPr>
      </p:pic>
      <p:sp>
        <p:nvSpPr>
          <p:cNvPr id="7" name="TextBox 6"/>
          <p:cNvSpPr txBox="1"/>
          <p:nvPr/>
        </p:nvSpPr>
        <p:spPr>
          <a:xfrm>
            <a:off x="640080" y="5806440"/>
            <a:ext cx="10911535" cy="548640"/>
          </a:xfrm>
          <a:prstGeom prst="rect">
            <a:avLst/>
          </a:prstGeom>
          <a:noFill/>
        </p:spPr>
        <p:txBody>
          <a:bodyPr wrap="square">
            <a:spAutoFit/>
          </a:bodyPr>
          <a:lstStyle/>
          <a:p>
            <a:pPr algn="l"/>
            <a:r>
              <a:rPr sz="1200" b="0">
                <a:solidFill>
                  <a:srgbClr val="5F6770"/>
                </a:solidFill>
                <a:latin typeface="Helvetica Neue"/>
              </a:rPr>
              <a:t>The trace verifier: no model execution, nineteen checks, every one passing, about four seconds on a laptop.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FORMAL SPEC</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The specification in Lean 4: readable, provable, runnable</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11</a:t>
            </a:r>
          </a:p>
        </p:txBody>
      </p:sp>
      <p:sp>
        <p:nvSpPr>
          <p:cNvPr id="6" name="TextBox 5"/>
          <p:cNvSpPr txBox="1"/>
          <p:nvPr/>
        </p:nvSpPr>
        <p:spPr>
          <a:xfrm>
            <a:off x="640080" y="1828800"/>
            <a:ext cx="6126480" cy="4297680"/>
          </a:xfrm>
          <a:prstGeom prst="rect">
            <a:avLst/>
          </a:prstGeom>
          <a:noFill/>
        </p:spPr>
        <p:txBody>
          <a:bodyPr wrap="square">
            <a:spAutoFit/>
          </a:bodyPr>
          <a:lstStyle/>
          <a:p>
            <a:r>
              <a:rPr sz="1500">
                <a:solidFill>
                  <a:srgbClr val="1F2328"/>
                </a:solidFill>
                <a:latin typeface="Helvetica Neue"/>
              </a:rPr>
              <a:t>Specified, as executable definitions:</a:t>
            </a:r>
          </a:p>
          <a:p>
            <a:pPr lvl="1">
              <a:spcBef>
                <a:spcPts val="300"/>
              </a:spcBef>
            </a:pPr>
            <a:r>
              <a:rPr sz="1200" b="0">
                <a:solidFill>
                  <a:srgbClr val="5F6770"/>
                </a:solidFill>
                <a:latin typeface="Helvetica Neue"/>
              </a:rPr>
              <a:t>Byte-exact Q4_K, Q6_K and Q8_K block formats and the nibble order the kernels read.</a:t>
            </a:r>
          </a:p>
          <a:p>
            <a:pPr lvl="1">
              <a:spcBef>
                <a:spcPts val="300"/>
              </a:spcBef>
            </a:pPr>
            <a:r>
              <a:rPr sz="1200" b="0">
                <a:solidFill>
                  <a:srgbClr val="5F6770"/>
                </a:solidFill>
                <a:latin typeface="Helvetica Neue"/>
              </a:rPr>
              <a:t>ggml's Q8_K activation quantization in Float32, step for step.</a:t>
            </a:r>
          </a:p>
          <a:p>
            <a:pPr lvl="1">
              <a:spcBef>
                <a:spcPts val="300"/>
              </a:spcBef>
            </a:pPr>
            <a:r>
              <a:rPr sz="1200" b="0">
                <a:solidFill>
                  <a:srgbClr val="5F6770"/>
                </a:solidFill>
                <a:latin typeface="Helvetica Neue"/>
              </a:rPr>
              <a:t>The integer core s1, s2 and the Q6_K dot; the per-block float combination.</a:t>
            </a:r>
          </a:p>
          <a:p>
            <a:pPr lvl="1">
              <a:spcBef>
                <a:spcPts val="300"/>
              </a:spcBef>
            </a:pPr>
            <a:r>
              <a:rPr sz="1200" b="0">
                <a:solidFill>
                  <a:srgbClr val="5F6770"/>
                </a:solidFill>
                <a:latin typeface="Helvetica Neue"/>
              </a:rPr>
              <a:t>Merkle tree, audit paths, Fiat-Shamir sample, canonical leaf bytes, edge and input checks. SHA-256 included.</a:t>
            </a:r>
          </a:p>
          <a:p>
            <a:pPr>
              <a:spcBef>
                <a:spcPts val="1000"/>
              </a:spcBef>
            </a:pPr>
            <a:r>
              <a:rPr sz="1500" b="0">
                <a:solidFill>
                  <a:srgbClr val="1F2328"/>
                </a:solidFill>
                <a:latin typeface="Helvetica Neue"/>
              </a:rPr>
              <a:t>Proved, without Mathlib or sorry:</a:t>
            </a:r>
          </a:p>
          <a:p>
            <a:pPr lvl="1">
              <a:spcBef>
                <a:spcPts val="300"/>
              </a:spcBef>
            </a:pPr>
            <a:r>
              <a:rPr sz="1200" b="0">
                <a:solidFill>
                  <a:srgbClr val="5F6770"/>
                </a:solidFill>
                <a:latin typeface="Helvetica Neue"/>
              </a:rPr>
              <a:t>Every decoded bit field is in range. Every s1 is below 2^25 and every s2 below 2,048,256, so the M31 circuit never wraps.</a:t>
            </a:r>
          </a:p>
          <a:p>
            <a:pPr lvl="1">
              <a:spcBef>
                <a:spcPts val="300"/>
              </a:spcBef>
            </a:pPr>
            <a:r>
              <a:rPr sz="1200" b="0">
                <a:solidFill>
                  <a:srgbClr val="5F6770"/>
                </a:solidFill>
                <a:latin typeface="Helvetica Neue"/>
              </a:rPr>
              <a:t>Roots and audit paths for one- and two-leaf trees. Sampled indices are valid and never repeat.</a:t>
            </a:r>
          </a:p>
        </p:txBody>
      </p:sp>
      <p:graphicFrame>
        <p:nvGraphicFramePr>
          <p:cNvPr id="7" name="Table 6"/>
          <p:cNvGraphicFramePr>
            <a:graphicFrameLocks noGrp="1"/>
          </p:cNvGraphicFramePr>
          <p:nvPr/>
        </p:nvGraphicFramePr>
        <p:xfrm>
          <a:off x="7040880" y="1874519"/>
          <a:ext cx="4526279" cy="3072384"/>
        </p:xfrm>
        <a:graphic>
          <a:graphicData uri="http://schemas.openxmlformats.org/drawingml/2006/table">
            <a:tbl>
              <a:tblPr firstRow="1" bandRow="1">
                <a:tableStyleId>{5C22544A-7EE6-4342-B048-85BDC9FD1C3A}</a:tableStyleId>
              </a:tblPr>
              <a:tblGrid>
                <a:gridCol w="3345511"/>
                <a:gridCol w="1180768"/>
              </a:tblGrid>
              <a:tr h="384048">
                <a:tc>
                  <a:txBody>
                    <a:bodyPr wrap="square"/>
                    <a:lstStyle/>
                    <a:p>
                      <a:r>
                        <a:rPr sz="1200" b="1">
                          <a:solidFill>
                            <a:srgbClr val="1F2328"/>
                          </a:solidFill>
                          <a:latin typeface="Helvetica Neue"/>
                        </a:rPr>
                        <a:t>spec-check on a real CPU receipt</a:t>
                      </a:r>
                    </a:p>
                  </a:txBody>
                  <a:tcPr marL="73152" marR="73152" marT="36576" marB="36576" anchor="ctr">
                    <a:solidFill>
                      <a:srgbClr val="DCECF4"/>
                    </a:solidFill>
                  </a:tcPr>
                </a:tc>
                <a:tc>
                  <a:txBody>
                    <a:bodyPr wrap="square"/>
                    <a:lstStyle/>
                    <a:p>
                      <a:r>
                        <a:rPr sz="1200" b="1">
                          <a:solidFill>
                            <a:srgbClr val="1F2328"/>
                          </a:solidFill>
                          <a:latin typeface="Helvetica Neue"/>
                        </a:rPr>
                        <a:t>Result</a:t>
                      </a:r>
                    </a:p>
                  </a:txBody>
                  <a:tcPr marL="73152" marR="73152" marT="36576" marB="36576" anchor="ctr">
                    <a:solidFill>
                      <a:srgbClr val="DCECF4"/>
                    </a:solidFill>
                  </a:tcPr>
                </a:tc>
              </a:tr>
              <a:tr h="384048">
                <a:tc>
                  <a:txBody>
                    <a:bodyPr wrap="square"/>
                    <a:lstStyle/>
                    <a:p>
                      <a:r>
                        <a:rPr sz="1200" b="0">
                          <a:solidFill>
                            <a:srgbClr val="1F2328"/>
                          </a:solidFill>
                          <a:latin typeface="Helvetica Neue"/>
                        </a:rPr>
                        <a:t>Merkle root over 8,086 leaves</a:t>
                      </a:r>
                    </a:p>
                  </a:txBody>
                  <a:tcPr marL="73152" marR="73152" marT="36576" marB="36576" anchor="ctr">
                    <a:solidFill>
                      <a:srgbClr val="FFFFFF"/>
                    </a:solidFill>
                  </a:tcPr>
                </a:tc>
                <a:tc>
                  <a:txBody>
                    <a:bodyPr wrap="square"/>
                    <a:lstStyle/>
                    <a:p>
                      <a:r>
                        <a:rPr sz="1200" b="1">
                          <a:solidFill>
                            <a:srgbClr val="2E7D32"/>
                          </a:solidFill>
                          <a:latin typeface="Helvetica Neue"/>
                        </a:rPr>
                        <a:t>checked</a:t>
                      </a:r>
                    </a:p>
                  </a:txBody>
                  <a:tcPr marL="73152" marR="73152" marT="36576" marB="36576" anchor="ctr">
                    <a:solidFill>
                      <a:srgbClr val="FFFFFF"/>
                    </a:solidFill>
                  </a:tcPr>
                </a:tc>
              </a:tr>
              <a:tr h="384048">
                <a:tc>
                  <a:txBody>
                    <a:bodyPr wrap="square"/>
                    <a:lstStyle/>
                    <a:p>
                      <a:r>
                        <a:rPr sz="1200" b="0">
                          <a:solidFill>
                            <a:srgbClr val="1F2328"/>
                          </a:solidFill>
                          <a:latin typeface="Helvetica Neue"/>
                        </a:rPr>
                        <a:t>Pinned topology and content commitments</a:t>
                      </a:r>
                    </a:p>
                  </a:txBody>
                  <a:tcPr marL="73152" marR="73152" marT="36576" marB="36576" anchor="ctr">
                    <a:solidFill>
                      <a:srgbClr val="FFFFFF"/>
                    </a:solidFill>
                  </a:tcPr>
                </a:tc>
                <a:tc>
                  <a:txBody>
                    <a:bodyPr wrap="square"/>
                    <a:lstStyle/>
                    <a:p>
                      <a:r>
                        <a:rPr sz="1200" b="1">
                          <a:solidFill>
                            <a:srgbClr val="2E7D32"/>
                          </a:solidFill>
                          <a:latin typeface="Helvetica Neue"/>
                        </a:rPr>
                        <a:t>checked</a:t>
                      </a:r>
                    </a:p>
                  </a:txBody>
                  <a:tcPr marL="73152" marR="73152" marT="36576" marB="36576" anchor="ctr">
                    <a:solidFill>
                      <a:srgbClr val="FFFFFF"/>
                    </a:solidFill>
                  </a:tcPr>
                </a:tc>
              </a:tr>
              <a:tr h="384048">
                <a:tc>
                  <a:txBody>
                    <a:bodyPr wrap="square"/>
                    <a:lstStyle/>
                    <a:p>
                      <a:r>
                        <a:rPr sz="1200" b="0">
                          <a:solidFill>
                            <a:srgbClr val="1F2328"/>
                          </a:solidFill>
                          <a:latin typeface="Helvetica Neue"/>
                        </a:rPr>
                        <a:t>Fiat-Shamir sample, 32 openings</a:t>
                      </a:r>
                    </a:p>
                  </a:txBody>
                  <a:tcPr marL="73152" marR="73152" marT="36576" marB="36576" anchor="ctr">
                    <a:solidFill>
                      <a:srgbClr val="FFFFFF"/>
                    </a:solidFill>
                  </a:tcPr>
                </a:tc>
                <a:tc>
                  <a:txBody>
                    <a:bodyPr wrap="square"/>
                    <a:lstStyle/>
                    <a:p>
                      <a:r>
                        <a:rPr sz="1200" b="1">
                          <a:solidFill>
                            <a:srgbClr val="2E7D32"/>
                          </a:solidFill>
                          <a:latin typeface="Helvetica Neue"/>
                        </a:rPr>
                        <a:t>checked</a:t>
                      </a:r>
                    </a:p>
                  </a:txBody>
                  <a:tcPr marL="73152" marR="73152" marT="36576" marB="36576" anchor="ctr">
                    <a:solidFill>
                      <a:srgbClr val="FFFFFF"/>
                    </a:solidFill>
                  </a:tcPr>
                </a:tc>
              </a:tr>
              <a:tr h="384048">
                <a:tc>
                  <a:txBody>
                    <a:bodyPr wrap="square"/>
                    <a:lstStyle/>
                    <a:p>
                      <a:r>
                        <a:rPr sz="1200" b="0">
                          <a:solidFill>
                            <a:srgbClr val="1F2328"/>
                          </a:solidFill>
                          <a:latin typeface="Helvetica Neue"/>
                        </a:rPr>
                        <a:t>Data edges, 10,621</a:t>
                      </a:r>
                    </a:p>
                  </a:txBody>
                  <a:tcPr marL="73152" marR="73152" marT="36576" marB="36576" anchor="ctr">
                    <a:solidFill>
                      <a:srgbClr val="FFFFFF"/>
                    </a:solidFill>
                  </a:tcPr>
                </a:tc>
                <a:tc>
                  <a:txBody>
                    <a:bodyPr wrap="square"/>
                    <a:lstStyle/>
                    <a:p>
                      <a:r>
                        <a:rPr sz="1200" b="1">
                          <a:solidFill>
                            <a:srgbClr val="2E7D32"/>
                          </a:solidFill>
                          <a:latin typeface="Helvetica Neue"/>
                        </a:rPr>
                        <a:t>checked</a:t>
                      </a:r>
                    </a:p>
                  </a:txBody>
                  <a:tcPr marL="73152" marR="73152" marT="36576" marB="36576" anchor="ctr">
                    <a:solidFill>
                      <a:srgbClr val="FFFFFF"/>
                    </a:solidFill>
                  </a:tcPr>
                </a:tc>
              </a:tr>
              <a:tr h="384048">
                <a:tc>
                  <a:txBody>
                    <a:bodyPr wrap="square"/>
                    <a:lstStyle/>
                    <a:p>
                      <a:r>
                        <a:rPr sz="1200" b="0">
                          <a:solidFill>
                            <a:srgbClr val="1F2328"/>
                          </a:solidFill>
                          <a:latin typeface="Helvetica Neue"/>
                        </a:rPr>
                        <a:t>Token and position inputs, 13 and 728</a:t>
                      </a:r>
                    </a:p>
                  </a:txBody>
                  <a:tcPr marL="73152" marR="73152" marT="36576" marB="36576" anchor="ctr">
                    <a:solidFill>
                      <a:srgbClr val="FFFFFF"/>
                    </a:solidFill>
                  </a:tcPr>
                </a:tc>
                <a:tc>
                  <a:txBody>
                    <a:bodyPr wrap="square"/>
                    <a:lstStyle/>
                    <a:p>
                      <a:r>
                        <a:rPr sz="1200" b="1">
                          <a:solidFill>
                            <a:srgbClr val="2E7D32"/>
                          </a:solidFill>
                          <a:latin typeface="Helvetica Neue"/>
                        </a:rPr>
                        <a:t>checked</a:t>
                      </a:r>
                    </a:p>
                  </a:txBody>
                  <a:tcPr marL="73152" marR="73152" marT="36576" marB="36576" anchor="ctr">
                    <a:solidFill>
                      <a:srgbClr val="FFFFFF"/>
                    </a:solidFill>
                  </a:tcPr>
                </a:tc>
              </a:tr>
              <a:tr h="384048">
                <a:tc>
                  <a:txBody>
                    <a:bodyPr wrap="square"/>
                    <a:lstStyle/>
                    <a:p>
                      <a:r>
                        <a:rPr sz="1200" b="0">
                          <a:solidFill>
                            <a:srgbClr val="1F2328"/>
                          </a:solidFill>
                          <a:latin typeface="Helvetica Neue"/>
                        </a:rPr>
                        <a:t>Q8_K quants, scale bits, s1, s2, Q6_K dot</a:t>
                      </a:r>
                    </a:p>
                  </a:txBody>
                  <a:tcPr marL="73152" marR="73152" marT="36576" marB="36576" anchor="ctr">
                    <a:solidFill>
                      <a:srgbClr val="FFFFFF"/>
                    </a:solidFill>
                  </a:tcPr>
                </a:tc>
                <a:tc>
                  <a:txBody>
                    <a:bodyPr wrap="square"/>
                    <a:lstStyle/>
                    <a:p>
                      <a:r>
                        <a:rPr sz="1200" b="1">
                          <a:solidFill>
                            <a:srgbClr val="2E7D32"/>
                          </a:solidFill>
                          <a:latin typeface="Helvetica Neue"/>
                        </a:rPr>
                        <a:t>checked</a:t>
                      </a:r>
                    </a:p>
                  </a:txBody>
                  <a:tcPr marL="73152" marR="73152" marT="36576" marB="36576" anchor="ctr">
                    <a:solidFill>
                      <a:srgbClr val="FFFFFF"/>
                    </a:solidFill>
                  </a:tcPr>
                </a:tc>
              </a:tr>
              <a:tr h="384048">
                <a:tc>
                  <a:txBody>
                    <a:bodyPr wrap="square"/>
                    <a:lstStyle/>
                    <a:p>
                      <a:r>
                        <a:rPr sz="1200" b="0">
                          <a:solidFill>
                            <a:srgbClr val="1F2328"/>
                          </a:solidFill>
                          <a:latin typeface="Helvetica Neue"/>
                        </a:rPr>
                        <a:t>Row value in Float vs float64 reference</a:t>
                      </a:r>
                    </a:p>
                  </a:txBody>
                  <a:tcPr marL="73152" marR="73152" marT="36576" marB="36576" anchor="ctr">
                    <a:solidFill>
                      <a:srgbClr val="FFFFFF"/>
                    </a:solidFill>
                  </a:tcPr>
                </a:tc>
                <a:tc>
                  <a:txBody>
                    <a:bodyPr wrap="square"/>
                    <a:lstStyle/>
                    <a:p>
                      <a:r>
                        <a:rPr sz="1200" b="1">
                          <a:solidFill>
                            <a:srgbClr val="2E7D32"/>
                          </a:solidFill>
                          <a:latin typeface="Helvetica Neue"/>
                        </a:rPr>
                        <a:t>checked</a:t>
                      </a:r>
                    </a:p>
                  </a:txBody>
                  <a:tcPr marL="73152" marR="73152" marT="36576" marB="36576" anchor="ctr">
                    <a:solidFill>
                      <a:srgbClr val="FFFFFF"/>
                    </a:solidFill>
                  </a:tcPr>
                </a:tc>
              </a:tr>
            </a:tbl>
          </a:graphicData>
        </a:graphic>
      </p:graphicFrame>
      <p:sp>
        <p:nvSpPr>
          <p:cNvPr id="8" name="TextBox 7"/>
          <p:cNvSpPr txBox="1"/>
          <p:nvPr/>
        </p:nvSpPr>
        <p:spPr>
          <a:xfrm>
            <a:off x="7040880" y="4709160"/>
            <a:ext cx="4526280" cy="914400"/>
          </a:xfrm>
          <a:prstGeom prst="rect">
            <a:avLst/>
          </a:prstGeom>
          <a:noFill/>
        </p:spPr>
        <p:txBody>
          <a:bodyPr wrap="square">
            <a:spAutoFit/>
          </a:bodyPr>
          <a:lstStyle/>
          <a:p>
            <a:pPr algn="l"/>
            <a:r>
              <a:rPr sz="1100" b="0">
                <a:solidFill>
                  <a:srgbClr val="5F6770"/>
                </a:solidFill>
                <a:latin typeface="Helvetica Neue"/>
              </a:rPr>
              <a:t>The checker recomputes a real trace in under half a second and agrees with the C++ prover exactly. Stated as the next target: the (1 - f)^k sampling bound.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SCREENSHOTS</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How it looks: the specification in Lean</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12</a:t>
            </a:r>
          </a:p>
        </p:txBody>
      </p:sp>
      <p:pic>
        <p:nvPicPr>
          <p:cNvPr id="6" name="Picture 5" descr="lean.png"/>
          <p:cNvPicPr>
            <a:picLocks noChangeAspect="1"/>
          </p:cNvPicPr>
          <p:nvPr/>
        </p:nvPicPr>
        <p:blipFill>
          <a:blip r:embed="rId2"/>
          <a:stretch>
            <a:fillRect/>
          </a:stretch>
        </p:blipFill>
        <p:spPr>
          <a:xfrm>
            <a:off x="1267398" y="1783080"/>
            <a:ext cx="9656897" cy="3931920"/>
          </a:xfrm>
          <a:prstGeom prst="rect">
            <a:avLst/>
          </a:prstGeom>
        </p:spPr>
      </p:pic>
      <p:sp>
        <p:nvSpPr>
          <p:cNvPr id="7" name="TextBox 6"/>
          <p:cNvSpPr txBox="1"/>
          <p:nvPr/>
        </p:nvSpPr>
        <p:spPr>
          <a:xfrm>
            <a:off x="640080" y="5806440"/>
            <a:ext cx="10911535" cy="548640"/>
          </a:xfrm>
          <a:prstGeom prst="rect">
            <a:avLst/>
          </a:prstGeom>
          <a:noFill/>
        </p:spPr>
        <p:txBody>
          <a:bodyPr wrap="square">
            <a:spAutoFit/>
          </a:bodyPr>
          <a:lstStyle/>
          <a:p>
            <a:pPr algn="l"/>
            <a:r>
              <a:rPr sz="1200" b="0">
                <a:solidFill>
                  <a:srgbClr val="5F6770"/>
                </a:solidFill>
                <a:latin typeface="Helvetica Neue"/>
              </a:rPr>
              <a:t>The integer sum s1 as Lean defines it, and the machine-checked theorem that every s1 stays below 2^25 in magnitude, which is what lets the proof circuit use Mersenne-31 field arithmetic as plain integers.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SCREENSHOTS</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How it looks: the spec checked against a real trace</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13</a:t>
            </a:r>
          </a:p>
        </p:txBody>
      </p:sp>
      <p:pic>
        <p:nvPicPr>
          <p:cNvPr id="6" name="Picture 5" descr="spec.png"/>
          <p:cNvPicPr>
            <a:picLocks noChangeAspect="1"/>
          </p:cNvPicPr>
          <p:nvPr/>
        </p:nvPicPr>
        <p:blipFill>
          <a:blip r:embed="rId2"/>
          <a:stretch>
            <a:fillRect/>
          </a:stretch>
        </p:blipFill>
        <p:spPr>
          <a:xfrm>
            <a:off x="2831308" y="1783080"/>
            <a:ext cx="6529077" cy="3931920"/>
          </a:xfrm>
          <a:prstGeom prst="rect">
            <a:avLst/>
          </a:prstGeom>
        </p:spPr>
      </p:pic>
      <p:sp>
        <p:nvSpPr>
          <p:cNvPr id="7" name="TextBox 6"/>
          <p:cNvSpPr txBox="1"/>
          <p:nvPr/>
        </p:nvSpPr>
        <p:spPr>
          <a:xfrm>
            <a:off x="640080" y="5806440"/>
            <a:ext cx="10911535" cy="548640"/>
          </a:xfrm>
          <a:prstGeom prst="rect">
            <a:avLst/>
          </a:prstGeom>
          <a:noFill/>
        </p:spPr>
        <p:txBody>
          <a:bodyPr wrap="square">
            <a:spAutoFit/>
          </a:bodyPr>
          <a:lstStyle/>
          <a:p>
            <a:pPr algn="l"/>
            <a:r>
              <a:rPr sz="1200" b="0">
                <a:solidFill>
                  <a:srgbClr val="5F6770"/>
                </a:solidFill>
                <a:latin typeface="Helvetica Neue"/>
              </a:rPr>
              <a:t>The Lean checker recomputes the root, the topology digest, the content commitments, the challenge, all edges and the token and position inputs of a real trace, then reproduces the Q8_K quants, scales, integer sums, row values and canonical JSON bytes on vectors from the GGUF and from Python.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PROOF</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Proofs of one node: integrity with Expander, zero knowledge with Groth16</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14</a:t>
            </a:r>
          </a:p>
        </p:txBody>
      </p:sp>
      <p:sp>
        <p:nvSpPr>
          <p:cNvPr id="6" name="Rounded Rectangle 5"/>
          <p:cNvSpPr/>
          <p:nvPr/>
        </p:nvSpPr>
        <p:spPr>
          <a:xfrm>
            <a:off x="640080" y="1920240"/>
            <a:ext cx="2148840" cy="1143000"/>
          </a:xfrm>
          <a:prstGeom prst="roundRect">
            <a:avLst/>
          </a:prstGeom>
          <a:solidFill>
            <a:srgbClr val="FFFFFF"/>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400" b="1">
                <a:solidFill>
                  <a:srgbClr val="1F2328"/>
                </a:solidFill>
                <a:latin typeface="Helvetica Neue"/>
              </a:rPr>
              <a:t>opened node</a:t>
            </a:r>
          </a:p>
          <a:p>
            <a:pPr algn="ctr">
              <a:spcBef>
                <a:spcPts val="300"/>
              </a:spcBef>
            </a:pPr>
            <a:r>
              <a:rPr sz="1100" b="0">
                <a:solidFill>
                  <a:srgbClr val="5F6770"/>
                </a:solidFill>
                <a:latin typeface="Helvetica Neue"/>
              </a:rPr>
              <a:t>weight bytes from the GGUF, activation bytes from the trace</a:t>
            </a:r>
          </a:p>
        </p:txBody>
      </p:sp>
      <p:sp>
        <p:nvSpPr>
          <p:cNvPr id="7" name="Rounded Rectangle 6"/>
          <p:cNvSpPr/>
          <p:nvPr/>
        </p:nvSpPr>
        <p:spPr>
          <a:xfrm>
            <a:off x="3108960" y="1920240"/>
            <a:ext cx="2148840" cy="1143000"/>
          </a:xfrm>
          <a:prstGeom prst="roundRect">
            <a:avLst/>
          </a:prstGeom>
          <a:solidFill>
            <a:srgbClr val="FFFFFF"/>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400" b="1">
                <a:solidFill>
                  <a:srgbClr val="1F2328"/>
                </a:solidFill>
                <a:latin typeface="Helvetica Neue"/>
              </a:rPr>
              <a:t>witness</a:t>
            </a:r>
          </a:p>
          <a:p>
            <a:pPr algn="ctr">
              <a:spcBef>
                <a:spcPts val="300"/>
              </a:spcBef>
            </a:pPr>
            <a:r>
              <a:rPr sz="1100" b="0">
                <a:solidFill>
                  <a:srgbClr val="5F6770"/>
                </a:solidFill>
                <a:latin typeface="Helvetica Neue"/>
              </a:rPr>
              <a:t>private: q4, scales, mins, under a registered commitment
public: q8, s1, s2</a:t>
            </a:r>
          </a:p>
        </p:txBody>
      </p:sp>
      <p:sp>
        <p:nvSpPr>
          <p:cNvPr id="8" name="Rounded Rectangle 7"/>
          <p:cNvSpPr/>
          <p:nvPr/>
        </p:nvSpPr>
        <p:spPr>
          <a:xfrm>
            <a:off x="5577840" y="1920240"/>
            <a:ext cx="2148840" cy="1143000"/>
          </a:xfrm>
          <a:prstGeom prst="roundRect">
            <a:avLst/>
          </a:prstGeom>
          <a:solidFill>
            <a:srgbClr val="FBEFD9"/>
          </a:solidFill>
          <a:ln w="15875">
            <a:solidFill>
              <a:srgbClr val="9A6A00"/>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400" b="1">
                <a:solidFill>
                  <a:srgbClr val="1F2328"/>
                </a:solidFill>
                <a:latin typeface="Helvetica Neue"/>
              </a:rPr>
              <a:t>GKR circuit, M31</a:t>
            </a:r>
          </a:p>
          <a:p>
            <a:pPr algn="ctr">
              <a:spcBef>
                <a:spcPts val="300"/>
              </a:spcBef>
            </a:pPr>
            <a:r>
              <a:rPr sz="1100" b="0">
                <a:solidFill>
                  <a:srgbClr val="5F6770"/>
                </a:solidFill>
                <a:latin typeface="Helvetica Neue"/>
              </a:rPr>
              <a:t>s1 = Σ sc·Σ q4·q8
s2 = Σ bsums·mn</a:t>
            </a:r>
          </a:p>
        </p:txBody>
      </p:sp>
      <p:sp>
        <p:nvSpPr>
          <p:cNvPr id="9" name="Rounded Rectangle 8"/>
          <p:cNvSpPr/>
          <p:nvPr/>
        </p:nvSpPr>
        <p:spPr>
          <a:xfrm>
            <a:off x="8046720" y="1920240"/>
            <a:ext cx="2148840" cy="1143000"/>
          </a:xfrm>
          <a:prstGeom prst="roundRect">
            <a:avLst/>
          </a:prstGeom>
          <a:solidFill>
            <a:srgbClr val="FBEFD9"/>
          </a:solidFill>
          <a:ln w="15875">
            <a:solidFill>
              <a:srgbClr val="9A6A00"/>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400" b="1">
                <a:solidFill>
                  <a:srgbClr val="1F2328"/>
                </a:solidFill>
                <a:latin typeface="Helvetica Neue"/>
              </a:rPr>
              <a:t>proof + commitment</a:t>
            </a:r>
          </a:p>
          <a:p>
            <a:pPr algn="ctr">
              <a:spcBef>
                <a:spcPts val="300"/>
              </a:spcBef>
            </a:pPr>
            <a:r>
              <a:rPr sz="1100" b="0">
                <a:solidFill>
                  <a:srgbClr val="5F6770"/>
                </a:solidFill>
                <a:latin typeface="Helvetica Neue"/>
              </a:rPr>
              <a:t>the proof opens with the commitment to the private weights</a:t>
            </a:r>
          </a:p>
        </p:txBody>
      </p:sp>
      <p:cxnSp>
        <p:nvCxnSpPr>
          <p:cNvPr id="10" name="Connector 9"/>
          <p:cNvCxnSpPr/>
          <p:nvPr/>
        </p:nvCxnSpPr>
        <p:spPr>
          <a:xfrm>
            <a:off x="2788920" y="2491740"/>
            <a:ext cx="320040"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257800" y="2491740"/>
            <a:ext cx="320040"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26680" y="2491740"/>
            <a:ext cx="320040"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611880"/>
            <a:ext cx="2148840" cy="1143000"/>
          </a:xfrm>
          <a:prstGeom prst="roundRect">
            <a:avLst/>
          </a:prstGeom>
          <a:solidFill>
            <a:srgbClr val="E2F3E4"/>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400" b="1">
                <a:solidFill>
                  <a:srgbClr val="1F2328"/>
                </a:solidFill>
                <a:latin typeface="Helvetica Neue"/>
              </a:rPr>
              <a:t>verify proof</a:t>
            </a:r>
          </a:p>
          <a:p>
            <a:pPr algn="ctr">
              <a:spcBef>
                <a:spcPts val="300"/>
              </a:spcBef>
            </a:pPr>
            <a:r>
              <a:rPr sz="1100" b="0">
                <a:solidFill>
                  <a:srgbClr val="5F6770"/>
                </a:solidFill>
                <a:latin typeface="Helvetica Neue"/>
              </a:rPr>
              <a:t>holds no weights; compares the proof's commitment with the registered one</a:t>
            </a:r>
          </a:p>
        </p:txBody>
      </p:sp>
      <p:sp>
        <p:nvSpPr>
          <p:cNvPr id="14" name="Rounded Rectangle 13"/>
          <p:cNvSpPr/>
          <p:nvPr/>
        </p:nvSpPr>
        <p:spPr>
          <a:xfrm>
            <a:off x="8046720" y="3611880"/>
            <a:ext cx="2148840" cy="1143000"/>
          </a:xfrm>
          <a:prstGeom prst="roundRect">
            <a:avLst/>
          </a:prstGeom>
          <a:solidFill>
            <a:srgbClr val="E2F3E4"/>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400" b="1">
                <a:solidFill>
                  <a:srgbClr val="1F2328"/>
                </a:solidFill>
                <a:latin typeface="Helvetica Neue"/>
              </a:rPr>
              <a:t>float step</a:t>
            </a:r>
          </a:p>
          <a:p>
            <a:pPr algn="ctr">
              <a:spcBef>
                <a:spcPts val="300"/>
              </a:spcBef>
            </a:pPr>
            <a:r>
              <a:rPr sz="1100" b="0">
                <a:solidFill>
                  <a:srgbClr val="5F6770"/>
                </a:solidFill>
                <a:latin typeface="Helvetica Neue"/>
              </a:rPr>
              <a:t>Σ d_a·(d·s1 − dmin·s2), compare to the opened output</a:t>
            </a:r>
          </a:p>
        </p:txBody>
      </p:sp>
      <p:cxnSp>
        <p:nvCxnSpPr>
          <p:cNvPr id="15" name="Connector 14"/>
          <p:cNvCxnSpPr/>
          <p:nvPr/>
        </p:nvCxnSpPr>
        <p:spPr>
          <a:xfrm>
            <a:off x="9121140" y="3063240"/>
            <a:ext cx="0" cy="54864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7726680" y="4183380"/>
            <a:ext cx="320040"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640080" y="5074920"/>
          <a:ext cx="10911531" cy="932688"/>
        </p:xfrm>
        <a:graphic>
          <a:graphicData uri="http://schemas.openxmlformats.org/drawingml/2006/table">
            <a:tbl>
              <a:tblPr firstRow="1" bandRow="1">
                <a:tableStyleId>{5C22544A-7EE6-4342-B048-85BDC9FD1C3A}</a:tableStyleId>
              </a:tblPr>
              <a:tblGrid>
                <a:gridCol w="1636730"/>
                <a:gridCol w="2400537"/>
                <a:gridCol w="1309384"/>
                <a:gridCol w="1200268"/>
                <a:gridCol w="982038"/>
                <a:gridCol w="1091153"/>
                <a:gridCol w="1091153"/>
                <a:gridCol w="1200268"/>
              </a:tblGrid>
              <a:tr h="310896">
                <a:tc>
                  <a:txBody>
                    <a:bodyPr wrap="square"/>
                    <a:lstStyle/>
                    <a:p>
                      <a:r>
                        <a:rPr sz="1000" b="1">
                          <a:solidFill>
                            <a:srgbClr val="1F2328"/>
                          </a:solidFill>
                          <a:latin typeface="Helvetica Neue"/>
                        </a:rPr>
                        <a:t>Prover</a:t>
                      </a:r>
                    </a:p>
                  </a:txBody>
                  <a:tcPr marL="73152" marR="73152" marT="36576" marB="36576" anchor="ctr">
                    <a:solidFill>
                      <a:srgbClr val="DCECF4"/>
                    </a:solidFill>
                  </a:tcPr>
                </a:tc>
                <a:tc>
                  <a:txBody>
                    <a:bodyPr wrap="square"/>
                    <a:lstStyle/>
                    <a:p>
                      <a:r>
                        <a:rPr sz="1000" b="1">
                          <a:solidFill>
                            <a:srgbClr val="1F2328"/>
                          </a:solidFill>
                          <a:latin typeface="Helvetica Neue"/>
                        </a:rPr>
                        <a:t>Node</a:t>
                      </a:r>
                    </a:p>
                  </a:txBody>
                  <a:tcPr marL="73152" marR="73152" marT="36576" marB="36576" anchor="ctr">
                    <a:solidFill>
                      <a:srgbClr val="DCECF4"/>
                    </a:solidFill>
                  </a:tcPr>
                </a:tc>
                <a:tc>
                  <a:txBody>
                    <a:bodyPr wrap="square"/>
                    <a:lstStyle/>
                    <a:p>
                      <a:r>
                        <a:rPr sz="1000" b="1">
                          <a:solidFill>
                            <a:srgbClr val="1F2328"/>
                          </a:solidFill>
                          <a:latin typeface="Helvetica Neue"/>
                        </a:rPr>
                        <a:t>Private inputs</a:t>
                      </a:r>
                    </a:p>
                  </a:txBody>
                  <a:tcPr marL="73152" marR="73152" marT="36576" marB="36576" anchor="ctr">
                    <a:solidFill>
                      <a:srgbClr val="DCECF4"/>
                    </a:solidFill>
                  </a:tcPr>
                </a:tc>
                <a:tc>
                  <a:txBody>
                    <a:bodyPr wrap="square"/>
                    <a:lstStyle/>
                    <a:p>
                      <a:r>
                        <a:rPr sz="1000" b="1">
                          <a:solidFill>
                            <a:srgbClr val="1F2328"/>
                          </a:solidFill>
                          <a:latin typeface="Helvetica Neue"/>
                        </a:rPr>
                        <a:t>Register</a:t>
                      </a:r>
                    </a:p>
                  </a:txBody>
                  <a:tcPr marL="73152" marR="73152" marT="36576" marB="36576" anchor="ctr">
                    <a:solidFill>
                      <a:srgbClr val="DCECF4"/>
                    </a:solidFill>
                  </a:tcPr>
                </a:tc>
                <a:tc>
                  <a:txBody>
                    <a:bodyPr wrap="square"/>
                    <a:lstStyle/>
                    <a:p>
                      <a:r>
                        <a:rPr sz="1000" b="1">
                          <a:solidFill>
                            <a:srgbClr val="1F2328"/>
                          </a:solidFill>
                          <a:latin typeface="Helvetica Neue"/>
                        </a:rPr>
                        <a:t>Prove</a:t>
                      </a:r>
                    </a:p>
                  </a:txBody>
                  <a:tcPr marL="73152" marR="73152" marT="36576" marB="36576" anchor="ctr">
                    <a:solidFill>
                      <a:srgbClr val="DCECF4"/>
                    </a:solidFill>
                  </a:tcPr>
                </a:tc>
                <a:tc>
                  <a:txBody>
                    <a:bodyPr wrap="square"/>
                    <a:lstStyle/>
                    <a:p>
                      <a:r>
                        <a:rPr sz="1000" b="1">
                          <a:solidFill>
                            <a:srgbClr val="1F2328"/>
                          </a:solidFill>
                          <a:latin typeface="Helvetica Neue"/>
                        </a:rPr>
                        <a:t>Proof</a:t>
                      </a:r>
                    </a:p>
                  </a:txBody>
                  <a:tcPr marL="73152" marR="73152" marT="36576" marB="36576" anchor="ctr">
                    <a:solidFill>
                      <a:srgbClr val="DCECF4"/>
                    </a:solidFill>
                  </a:tcPr>
                </a:tc>
                <a:tc>
                  <a:txBody>
                    <a:bodyPr wrap="square"/>
                    <a:lstStyle/>
                    <a:p>
                      <a:r>
                        <a:rPr sz="1000" b="1">
                          <a:solidFill>
                            <a:srgbClr val="1F2328"/>
                          </a:solidFill>
                          <a:latin typeface="Helvetica Neue"/>
                        </a:rPr>
                        <a:t>Verify</a:t>
                      </a:r>
                    </a:p>
                  </a:txBody>
                  <a:tcPr marL="73152" marR="73152" marT="36576" marB="36576" anchor="ctr">
                    <a:solidFill>
                      <a:srgbClr val="DCECF4"/>
                    </a:solidFill>
                  </a:tcPr>
                </a:tc>
                <a:tc>
                  <a:txBody>
                    <a:bodyPr wrap="square"/>
                    <a:lstStyle/>
                    <a:p>
                      <a:r>
                        <a:rPr sz="1000" b="1">
                          <a:solidFill>
                            <a:srgbClr val="1F2328"/>
                          </a:solidFill>
                          <a:latin typeface="Helvetica Neue"/>
                        </a:rPr>
                        <a:t>Zero knowledge</a:t>
                      </a:r>
                    </a:p>
                  </a:txBody>
                  <a:tcPr marL="73152" marR="73152" marT="36576" marB="36576" anchor="ctr">
                    <a:solidFill>
                      <a:srgbClr val="DCECF4"/>
                    </a:solidFill>
                  </a:tcPr>
                </a:tc>
              </a:tr>
              <a:tr h="310896">
                <a:tc>
                  <a:txBody>
                    <a:bodyPr wrap="square"/>
                    <a:lstStyle/>
                    <a:p>
                      <a:r>
                        <a:rPr sz="1000" b="0">
                          <a:solidFill>
                            <a:srgbClr val="1F2328"/>
                          </a:solidFill>
                          <a:latin typeface="Helvetica Neue"/>
                        </a:rPr>
                        <a:t>Expander GKR, M31</a:t>
                      </a:r>
                    </a:p>
                  </a:txBody>
                  <a:tcPr marL="73152" marR="73152" marT="36576" marB="36576" anchor="ctr">
                    <a:solidFill>
                      <a:srgbClr val="FFFFFF"/>
                    </a:solidFill>
                  </a:tcPr>
                </a:tc>
                <a:tc>
                  <a:txBody>
                    <a:bodyPr wrap="square"/>
                    <a:lstStyle/>
                    <a:p>
                      <a:r>
                        <a:rPr sz="1000" b="0">
                          <a:solidFill>
                            <a:srgbClr val="1F2328"/>
                          </a:solidFill>
                          <a:latin typeface="Helvetica Neue"/>
                        </a:rPr>
                        <a:t>Vcur-22, 256 x 1536, whole node</a:t>
                      </a:r>
                    </a:p>
                  </a:txBody>
                  <a:tcPr marL="73152" marR="73152" marT="36576" marB="36576" anchor="ctr">
                    <a:solidFill>
                      <a:srgbClr val="FFFFFF"/>
                    </a:solidFill>
                  </a:tcPr>
                </a:tc>
                <a:tc>
                  <a:txBody>
                    <a:bodyPr wrap="square"/>
                    <a:lstStyle/>
                    <a:p>
                      <a:r>
                        <a:rPr sz="1000" b="0">
                          <a:solidFill>
                            <a:srgbClr val="1F2328"/>
                          </a:solidFill>
                          <a:latin typeface="Helvetica Neue"/>
                        </a:rPr>
                        <a:t>417,792</a:t>
                      </a:r>
                    </a:p>
                  </a:txBody>
                  <a:tcPr marL="73152" marR="73152" marT="36576" marB="36576" anchor="ctr">
                    <a:solidFill>
                      <a:srgbClr val="FFFFFF"/>
                    </a:solidFill>
                  </a:tcPr>
                </a:tc>
                <a:tc>
                  <a:txBody>
                    <a:bodyPr wrap="square"/>
                    <a:lstStyle/>
                    <a:p>
                      <a:r>
                        <a:rPr sz="1000" b="0">
                          <a:solidFill>
                            <a:srgbClr val="1F2328"/>
                          </a:solidFill>
                          <a:latin typeface="Helvetica Neue"/>
                        </a:rPr>
                        <a:t>2.0 s</a:t>
                      </a:r>
                    </a:p>
                  </a:txBody>
                  <a:tcPr marL="73152" marR="73152" marT="36576" marB="36576" anchor="ctr">
                    <a:solidFill>
                      <a:srgbClr val="FFFFFF"/>
                    </a:solidFill>
                  </a:tcPr>
                </a:tc>
                <a:tc>
                  <a:txBody>
                    <a:bodyPr wrap="square"/>
                    <a:lstStyle/>
                    <a:p>
                      <a:r>
                        <a:rPr sz="1000" b="0">
                          <a:solidFill>
                            <a:srgbClr val="1F2328"/>
                          </a:solidFill>
                          <a:latin typeface="Helvetica Neue"/>
                        </a:rPr>
                        <a:t>0.28 s</a:t>
                      </a:r>
                    </a:p>
                  </a:txBody>
                  <a:tcPr marL="73152" marR="73152" marT="36576" marB="36576" anchor="ctr">
                    <a:solidFill>
                      <a:srgbClr val="FFFFFF"/>
                    </a:solidFill>
                  </a:tcPr>
                </a:tc>
                <a:tc>
                  <a:txBody>
                    <a:bodyPr wrap="square"/>
                    <a:lstStyle/>
                    <a:p>
                      <a:r>
                        <a:rPr sz="1000" b="0">
                          <a:solidFill>
                            <a:srgbClr val="1F2328"/>
                          </a:solidFill>
                          <a:latin typeface="Helvetica Neue"/>
                        </a:rPr>
                        <a:t>6.5 MB</a:t>
                      </a:r>
                    </a:p>
                  </a:txBody>
                  <a:tcPr marL="73152" marR="73152" marT="36576" marB="36576" anchor="ctr">
                    <a:solidFill>
                      <a:srgbClr val="FFFFFF"/>
                    </a:solidFill>
                  </a:tcPr>
                </a:tc>
                <a:tc>
                  <a:txBody>
                    <a:bodyPr wrap="square"/>
                    <a:lstStyle/>
                    <a:p>
                      <a:r>
                        <a:rPr sz="1000" b="0">
                          <a:solidFill>
                            <a:srgbClr val="1F2328"/>
                          </a:solidFill>
                          <a:latin typeface="Helvetica Neue"/>
                        </a:rPr>
                        <a:t>0.04 s</a:t>
                      </a:r>
                    </a:p>
                  </a:txBody>
                  <a:tcPr marL="73152" marR="73152" marT="36576" marB="36576" anchor="ctr">
                    <a:solidFill>
                      <a:srgbClr val="FFFFFF"/>
                    </a:solidFill>
                  </a:tcPr>
                </a:tc>
                <a:tc>
                  <a:txBody>
                    <a:bodyPr wrap="square"/>
                    <a:lstStyle/>
                    <a:p>
                      <a:r>
                        <a:rPr sz="1000" b="0">
                          <a:solidFill>
                            <a:srgbClr val="1F2328"/>
                          </a:solidFill>
                          <a:latin typeface="Helvetica Neue"/>
                        </a:rPr>
                        <a:t>no: binding only</a:t>
                      </a:r>
                    </a:p>
                  </a:txBody>
                  <a:tcPr marL="73152" marR="73152" marT="36576" marB="36576" anchor="ctr">
                    <a:solidFill>
                      <a:srgbClr val="FFFFFF"/>
                    </a:solidFill>
                  </a:tcPr>
                </a:tc>
              </a:tr>
              <a:tr h="310896">
                <a:tc>
                  <a:txBody>
                    <a:bodyPr wrap="square"/>
                    <a:lstStyle/>
                    <a:p>
                      <a:r>
                        <a:rPr sz="1000" b="0">
                          <a:solidFill>
                            <a:srgbClr val="1F2328"/>
                          </a:solidFill>
                          <a:latin typeface="Helvetica Neue"/>
                        </a:rPr>
                        <a:t>Groth16, BN254</a:t>
                      </a:r>
                    </a:p>
                  </a:txBody>
                  <a:tcPr marL="73152" marR="73152" marT="36576" marB="36576" anchor="ctr">
                    <a:solidFill>
                      <a:srgbClr val="FFFFFF"/>
                    </a:solidFill>
                  </a:tcPr>
                </a:tc>
                <a:tc>
                  <a:txBody>
                    <a:bodyPr wrap="square"/>
                    <a:lstStyle/>
                    <a:p>
                      <a:r>
                        <a:rPr sz="1000" b="0">
                          <a:solidFill>
                            <a:srgbClr val="1F2328"/>
                          </a:solidFill>
                          <a:latin typeface="Helvetica Neue"/>
                        </a:rPr>
                        <a:t>Vcur-22, 16 groups of 16 rows</a:t>
                      </a:r>
                    </a:p>
                  </a:txBody>
                  <a:tcPr marL="73152" marR="73152" marT="36576" marB="36576" anchor="ctr">
                    <a:solidFill>
                      <a:srgbClr val="FFFFFF"/>
                    </a:solidFill>
                  </a:tcPr>
                </a:tc>
                <a:tc>
                  <a:txBody>
                    <a:bodyPr wrap="square"/>
                    <a:lstStyle/>
                    <a:p>
                      <a:r>
                        <a:rPr sz="1000" b="0">
                          <a:solidFill>
                            <a:srgbClr val="1F2328"/>
                          </a:solidFill>
                          <a:latin typeface="Helvetica Neue"/>
                        </a:rPr>
                        <a:t>26,112 per group</a:t>
                      </a:r>
                    </a:p>
                  </a:txBody>
                  <a:tcPr marL="73152" marR="73152" marT="36576" marB="36576" anchor="ctr">
                    <a:solidFill>
                      <a:srgbClr val="FFFFFF"/>
                    </a:solidFill>
                  </a:tcPr>
                </a:tc>
                <a:tc>
                  <a:txBody>
                    <a:bodyPr wrap="square"/>
                    <a:lstStyle/>
                    <a:p>
                      <a:r>
                        <a:rPr sz="1000" b="0">
                          <a:solidFill>
                            <a:srgbClr val="1F2328"/>
                          </a:solidFill>
                          <a:latin typeface="Helvetica Neue"/>
                        </a:rPr>
                        <a:t>Poseidon, 0.1 s</a:t>
                      </a:r>
                    </a:p>
                  </a:txBody>
                  <a:tcPr marL="73152" marR="73152" marT="36576" marB="36576" anchor="ctr">
                    <a:solidFill>
                      <a:srgbClr val="FFFFFF"/>
                    </a:solidFill>
                  </a:tcPr>
                </a:tc>
                <a:tc>
                  <a:txBody>
                    <a:bodyPr wrap="square"/>
                    <a:lstStyle/>
                    <a:p>
                      <a:r>
                        <a:rPr sz="1000" b="0">
                          <a:solidFill>
                            <a:srgbClr val="1F2328"/>
                          </a:solidFill>
                          <a:latin typeface="Helvetica Neue"/>
                        </a:rPr>
                        <a:t>3 s per group</a:t>
                      </a:r>
                    </a:p>
                  </a:txBody>
                  <a:tcPr marL="73152" marR="73152" marT="36576" marB="36576" anchor="ctr">
                    <a:solidFill>
                      <a:srgbClr val="FFFFFF"/>
                    </a:solidFill>
                  </a:tcPr>
                </a:tc>
                <a:tc>
                  <a:txBody>
                    <a:bodyPr wrap="square"/>
                    <a:lstStyle/>
                    <a:p>
                      <a:r>
                        <a:rPr sz="1000" b="0">
                          <a:solidFill>
                            <a:srgbClr val="1F2328"/>
                          </a:solidFill>
                          <a:latin typeface="Helvetica Neue"/>
                        </a:rPr>
                        <a:t>805 B per group</a:t>
                      </a:r>
                    </a:p>
                  </a:txBody>
                  <a:tcPr marL="73152" marR="73152" marT="36576" marB="36576" anchor="ctr">
                    <a:solidFill>
                      <a:srgbClr val="FFFFFF"/>
                    </a:solidFill>
                  </a:tcPr>
                </a:tc>
                <a:tc>
                  <a:txBody>
                    <a:bodyPr wrap="square"/>
                    <a:lstStyle/>
                    <a:p>
                      <a:r>
                        <a:rPr sz="1000" b="0">
                          <a:solidFill>
                            <a:srgbClr val="1F2328"/>
                          </a:solidFill>
                          <a:latin typeface="Helvetica Neue"/>
                        </a:rPr>
                        <a:t>0.16 s per group</a:t>
                      </a:r>
                    </a:p>
                  </a:txBody>
                  <a:tcPr marL="73152" marR="73152" marT="36576" marB="36576" anchor="ctr">
                    <a:solidFill>
                      <a:srgbClr val="FFFFFF"/>
                    </a:solidFill>
                  </a:tcPr>
                </a:tc>
                <a:tc>
                  <a:txBody>
                    <a:bodyPr wrap="square"/>
                    <a:lstStyle/>
                    <a:p>
                      <a:r>
                        <a:rPr sz="1000" b="0">
                          <a:solidFill>
                            <a:srgbClr val="1F2328"/>
                          </a:solidFill>
                          <a:latin typeface="Helvetica Neue"/>
                        </a:rPr>
                        <a:t>yes</a:t>
                      </a:r>
                    </a:p>
                  </a:txBody>
                  <a:tcPr marL="73152" marR="73152" marT="36576" marB="36576"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SCREENSHOTS</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How it looks: proving one node</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15</a:t>
            </a:r>
          </a:p>
        </p:txBody>
      </p:sp>
      <p:pic>
        <p:nvPicPr>
          <p:cNvPr id="6" name="Picture 5" descr="zk.png"/>
          <p:cNvPicPr>
            <a:picLocks noChangeAspect="1"/>
          </p:cNvPicPr>
          <p:nvPr/>
        </p:nvPicPr>
        <p:blipFill>
          <a:blip r:embed="rId2"/>
          <a:stretch>
            <a:fillRect/>
          </a:stretch>
        </p:blipFill>
        <p:spPr>
          <a:xfrm>
            <a:off x="2798748" y="1783080"/>
            <a:ext cx="6594198" cy="3931920"/>
          </a:xfrm>
          <a:prstGeom prst="rect">
            <a:avLst/>
          </a:prstGeom>
        </p:spPr>
      </p:pic>
      <p:sp>
        <p:nvSpPr>
          <p:cNvPr id="7" name="TextBox 6"/>
          <p:cNvSpPr txBox="1"/>
          <p:nvPr/>
        </p:nvSpPr>
        <p:spPr>
          <a:xfrm>
            <a:off x="640080" y="5806440"/>
            <a:ext cx="10911535" cy="548640"/>
          </a:xfrm>
          <a:prstGeom prst="rect">
            <a:avLst/>
          </a:prstGeom>
          <a:noFill/>
        </p:spPr>
        <p:txBody>
          <a:bodyPr wrap="square">
            <a:spAutoFit/>
          </a:bodyPr>
          <a:lstStyle/>
          <a:p>
            <a:pPr algn="l"/>
            <a:r>
              <a:rPr sz="1200" b="0">
                <a:solidFill>
                  <a:srgbClr val="5F6770"/>
                </a:solidFill>
                <a:latin typeface="Helvetica Neue"/>
              </a:rPr>
              <a:t>A 256 by 1536 value projection: the commitment registered from the GGUF, a proof carrying the same commitment, verification without weights in 0.04 seconds, three negative cases rejected, float step within 4e-7.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CODE</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Where it lives: one fork, three stacked pull requests</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16</a:t>
            </a:r>
          </a:p>
        </p:txBody>
      </p:sp>
      <p:sp>
        <p:nvSpPr>
          <p:cNvPr id="6" name="Rounded Rectangle 5"/>
          <p:cNvSpPr/>
          <p:nvPr/>
        </p:nvSpPr>
        <p:spPr>
          <a:xfrm>
            <a:off x="640080" y="2103120"/>
            <a:ext cx="2468880" cy="822960"/>
          </a:xfrm>
          <a:prstGeom prst="roundRect">
            <a:avLst/>
          </a:prstGeom>
          <a:solidFill>
            <a:srgbClr val="F4F6F8"/>
          </a:solidFill>
          <a:ln w="1587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300" b="1">
                <a:solidFill>
                  <a:srgbClr val="1F2328"/>
                </a:solidFill>
                <a:latin typeface="Helvetica Neue"/>
              </a:rPr>
              <a:t>ggml-org/llama.cpp master</a:t>
            </a:r>
          </a:p>
        </p:txBody>
      </p:sp>
      <p:sp>
        <p:nvSpPr>
          <p:cNvPr id="7" name="Rounded Rectangle 6"/>
          <p:cNvSpPr/>
          <p:nvPr/>
        </p:nvSpPr>
        <p:spPr>
          <a:xfrm>
            <a:off x="3566160" y="2103120"/>
            <a:ext cx="2468880" cy="822960"/>
          </a:xfrm>
          <a:prstGeom prst="roundRect">
            <a:avLst/>
          </a:prstGeom>
          <a:solidFill>
            <a:srgbClr val="DCECF4"/>
          </a:solidFill>
          <a:ln w="15875">
            <a:solidFill>
              <a:srgbClr val="0B6E99"/>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300" b="1">
                <a:solidFill>
                  <a:srgbClr val="1F2328"/>
                </a:solidFill>
                <a:latin typeface="Helvetica Neue"/>
              </a:rPr>
              <a:t>PR 1: receipts-trace</a:t>
            </a:r>
          </a:p>
          <a:p>
            <a:pPr algn="ctr">
              <a:spcBef>
                <a:spcPts val="300"/>
              </a:spcBef>
            </a:pPr>
            <a:r>
              <a:rPr sz="1100" b="0">
                <a:solidFill>
                  <a:srgbClr val="5F6770"/>
                </a:solidFill>
                <a:latin typeface="Helvetica Neue"/>
              </a:rPr>
              <a:t>llama-receipts, verify_trace.py</a:t>
            </a:r>
          </a:p>
        </p:txBody>
      </p:sp>
      <p:sp>
        <p:nvSpPr>
          <p:cNvPr id="8" name="Rounded Rectangle 7"/>
          <p:cNvSpPr/>
          <p:nvPr/>
        </p:nvSpPr>
        <p:spPr>
          <a:xfrm>
            <a:off x="6492240" y="1417320"/>
            <a:ext cx="2468880" cy="822960"/>
          </a:xfrm>
          <a:prstGeom prst="roundRect">
            <a:avLst/>
          </a:prstGeom>
          <a:solidFill>
            <a:srgbClr val="E2F3E4"/>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300" b="1">
                <a:solidFill>
                  <a:srgbClr val="1F2328"/>
                </a:solidFill>
                <a:latin typeface="Helvetica Neue"/>
              </a:rPr>
              <a:t>PR 2: receipts-lean-spec</a:t>
            </a:r>
          </a:p>
          <a:p>
            <a:pPr algn="ctr">
              <a:spcBef>
                <a:spcPts val="300"/>
              </a:spcBef>
            </a:pPr>
            <a:r>
              <a:rPr sz="1100" b="0">
                <a:solidFill>
                  <a:srgbClr val="5F6770"/>
                </a:solidFill>
                <a:latin typeface="Helvetica Neue"/>
              </a:rPr>
              <a:t>spec/, Lean 4</a:t>
            </a:r>
          </a:p>
        </p:txBody>
      </p:sp>
      <p:sp>
        <p:nvSpPr>
          <p:cNvPr id="9" name="Rounded Rectangle 8"/>
          <p:cNvSpPr/>
          <p:nvPr/>
        </p:nvSpPr>
        <p:spPr>
          <a:xfrm>
            <a:off x="6492240" y="2788920"/>
            <a:ext cx="2468880" cy="822960"/>
          </a:xfrm>
          <a:prstGeom prst="roundRect">
            <a:avLst/>
          </a:prstGeom>
          <a:solidFill>
            <a:srgbClr val="FBEFD9"/>
          </a:solidFill>
          <a:ln w="15875">
            <a:solidFill>
              <a:srgbClr val="9A6A00"/>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300" b="1">
                <a:solidFill>
                  <a:srgbClr val="1F2328"/>
                </a:solidFill>
                <a:latin typeface="Helvetica Neue"/>
              </a:rPr>
              <a:t>PR 3: receipts-zk-poc</a:t>
            </a:r>
          </a:p>
          <a:p>
            <a:pPr algn="ctr">
              <a:spcBef>
                <a:spcPts val="300"/>
              </a:spcBef>
            </a:pPr>
            <a:r>
              <a:rPr sz="1100" b="0">
                <a:solidFill>
                  <a:srgbClr val="5F6770"/>
                </a:solidFill>
                <a:latin typeface="Helvetica Neue"/>
              </a:rPr>
              <a:t>zk/, Rust on Expander</a:t>
            </a:r>
          </a:p>
        </p:txBody>
      </p:sp>
      <p:cxnSp>
        <p:nvCxnSpPr>
          <p:cNvPr id="10" name="Connector 9"/>
          <p:cNvCxnSpPr/>
          <p:nvPr/>
        </p:nvCxnSpPr>
        <p:spPr>
          <a:xfrm>
            <a:off x="3108960" y="2514600"/>
            <a:ext cx="457200"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035040" y="1828800"/>
            <a:ext cx="457200" cy="68580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35040" y="2514600"/>
            <a:ext cx="457200" cy="68580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4023360"/>
            <a:ext cx="10911535" cy="640080"/>
          </a:xfrm>
          <a:prstGeom prst="rect">
            <a:avLst/>
          </a:prstGeom>
          <a:noFill/>
        </p:spPr>
        <p:txBody>
          <a:bodyPr wrap="square">
            <a:spAutoFit/>
          </a:bodyPr>
          <a:lstStyle/>
          <a:p>
            <a:pPr algn="l"/>
            <a:r>
              <a:rPr sz="1300" b="0">
                <a:solidFill>
                  <a:srgbClr val="5F6770"/>
                </a:solidFill>
                <a:latin typeface="Helvetica Neue"/>
              </a:rPr>
              <a:t>Fork luiscosio/llama.cpp, level with upstream master. All three are drafts inside the fork. Expander is used through a fork with two small macOS build fixes.</a:t>
            </a:r>
          </a:p>
        </p:txBody>
      </p:sp>
      <p:sp>
        <p:nvSpPr>
          <p:cNvPr id="14" name="Rectangle 13"/>
          <p:cNvSpPr/>
          <p:nvPr/>
        </p:nvSpPr>
        <p:spPr>
          <a:xfrm>
            <a:off x="640080" y="4663440"/>
            <a:ext cx="10911535" cy="1371600"/>
          </a:xfrm>
          <a:prstGeom prst="rect">
            <a:avLst/>
          </a:prstGeom>
          <a:solidFill>
            <a:srgbClr val="F4F6F8"/>
          </a:solidFill>
          <a:ln w="1587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l"/>
            <a:r>
              <a:rPr sz="1100" b="0">
                <a:solidFill>
                  <a:srgbClr val="1F2328"/>
                </a:solidFill>
                <a:latin typeface="Menlo"/>
              </a:rPr>
              <a:t>llama-receipts -m model.gguf -p "..." -n 32 --seed 42 --trace --out receipt.json        # prove, trace</a:t>
            </a:r>
          </a:p>
          <a:p>
            <a:pPr algn="l">
              <a:spcBef>
                <a:spcPts val="200"/>
              </a:spcBef>
            </a:pPr>
            <a:r>
              <a:rPr sz="1100" b="0">
                <a:solidFill>
                  <a:srgbClr val="1F2328"/>
                </a:solidFill>
                <a:latin typeface="Menlo"/>
              </a:rPr>
              <a:t>python3 verify_trace.py receipt.json --model model.gguf --expected-topology-sha256 HASH  # verify</a:t>
            </a:r>
          </a:p>
          <a:p>
            <a:pPr algn="l">
              <a:spcBef>
                <a:spcPts val="200"/>
              </a:spcBef>
            </a:pPr>
            <a:r>
              <a:rPr sz="1100" b="0">
                <a:solidFill>
                  <a:srgbClr val="1F2328"/>
                </a:solidFill>
                <a:latin typeface="Menlo"/>
              </a:rPr>
              <a:t>lake build &amp;&amp; spec-check trace receipt.json receipt.trace.json HASH                      # Lean checker</a:t>
            </a:r>
          </a:p>
          <a:p>
            <a:pPr algn="l">
              <a:spcBef>
                <a:spcPts val="200"/>
              </a:spcBef>
            </a:pPr>
            <a:r>
              <a:rPr sz="1100" b="0">
                <a:solidFill>
                  <a:srgbClr val="1F2328"/>
                </a:solidFill>
                <a:latin typeface="Menlo"/>
              </a:rPr>
              <a:t>python3 zk_node.py receipt.json --model model.gguf                                       # prove one node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47472"/>
            <a:ext cx="10911535" cy="320040"/>
          </a:xfrm>
          <a:prstGeom prst="rect">
            <a:avLst/>
          </a:prstGeom>
          <a:noFill/>
        </p:spPr>
        <p:txBody>
          <a:bodyPr wrap="square">
            <a:spAutoFit/>
          </a:bodyPr>
          <a:lstStyle/>
          <a:p>
            <a:pPr algn="l"/>
            <a:r>
              <a:rPr sz="1100" b="1">
                <a:solidFill>
                  <a:srgbClr val="0B6E99"/>
                </a:solidFill>
                <a:latin typeface="Helvetica Neue"/>
              </a:rPr>
              <a:t>NEXT</a:t>
            </a:r>
          </a:p>
        </p:txBody>
      </p:sp>
      <p:sp>
        <p:nvSpPr>
          <p:cNvPr id="3" name="TextBox 2"/>
          <p:cNvSpPr txBox="1"/>
          <p:nvPr/>
        </p:nvSpPr>
        <p:spPr>
          <a:xfrm>
            <a:off x="640080" y="640080"/>
            <a:ext cx="10911535" cy="914400"/>
          </a:xfrm>
          <a:prstGeom prst="rect">
            <a:avLst/>
          </a:prstGeom>
          <a:noFill/>
        </p:spPr>
        <p:txBody>
          <a:bodyPr wrap="square">
            <a:spAutoFit/>
          </a:bodyPr>
          <a:lstStyle/>
          <a:p>
            <a:pPr algn="l"/>
            <a:r>
              <a:rPr sz="2800" b="1">
                <a:solidFill>
                  <a:srgbClr val="1F2328"/>
                </a:solidFill>
                <a:latin typeface="Helvetica Neue"/>
              </a:rPr>
              <a:t>From one node to a proof of the whole forward pass</a:t>
            </a:r>
          </a:p>
        </p:txBody>
      </p:sp>
      <p:sp>
        <p:nvSpPr>
          <p:cNvPr id="4" name="Rectangle 3"/>
          <p:cNvSpPr/>
          <p:nvPr/>
        </p:nvSpPr>
        <p:spPr>
          <a:xfrm>
            <a:off x="640080" y="1572768"/>
            <a:ext cx="10911535" cy="12700"/>
          </a:xfrm>
          <a:prstGeom prst="rect">
            <a:avLst/>
          </a:prstGeom>
          <a:solidFill>
            <a:srgbClr val="D9D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10911535" cy="274320"/>
          </a:xfrm>
          <a:prstGeom prst="rect">
            <a:avLst/>
          </a:prstGeom>
          <a:noFill/>
        </p:spPr>
        <p:txBody>
          <a:bodyPr wrap="square">
            <a:spAutoFit/>
          </a:bodyPr>
          <a:lstStyle/>
          <a:p>
            <a:pPr algn="l"/>
            <a:r>
              <a:rPr sz="1000" b="0">
                <a:solidFill>
                  <a:srgbClr val="5F6770"/>
                </a:solidFill>
                <a:latin typeface="Helvetica Neue"/>
              </a:rPr>
              <a:t>llama-receipts, Sep 13, 2026</a:t>
            </a:r>
            <a:r>
              <a:rPr sz="1000">
                <a:solidFill>
                  <a:srgbClr val="5F6770"/>
                </a:solidFill>
                <a:latin typeface="Helvetica Neue"/>
              </a:rPr>
              <a:t>     17</a:t>
            </a:r>
          </a:p>
        </p:txBody>
      </p:sp>
      <p:sp>
        <p:nvSpPr>
          <p:cNvPr id="6" name="Rounded Rectangle 5"/>
          <p:cNvSpPr/>
          <p:nvPr/>
        </p:nvSpPr>
        <p:spPr>
          <a:xfrm>
            <a:off x="640080" y="1965960"/>
            <a:ext cx="2514600" cy="1371600"/>
          </a:xfrm>
          <a:prstGeom prst="roundRect">
            <a:avLst/>
          </a:prstGeom>
          <a:solidFill>
            <a:srgbClr val="E2F3E4"/>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600" b="1">
                <a:solidFill>
                  <a:srgbClr val="1F2328"/>
                </a:solidFill>
                <a:latin typeface="Helvetica Neue"/>
              </a:rPr>
              <a:t>Stage 1, done</a:t>
            </a:r>
          </a:p>
          <a:p>
            <a:pPr algn="ctr">
              <a:spcBef>
                <a:spcPts val="300"/>
              </a:spcBef>
            </a:pPr>
            <a:r>
              <a:rPr sz="1200" b="0">
                <a:solidFill>
                  <a:srgbClr val="1F2328"/>
                </a:solidFill>
                <a:latin typeface="Helvetica Neue"/>
              </a:rPr>
              <a:t>statement frozen, backend decided, budgets set, circuit checked against the Lean spec, weights bound to a registered commitment</a:t>
            </a:r>
          </a:p>
        </p:txBody>
      </p:sp>
      <p:cxnSp>
        <p:nvCxnSpPr>
          <p:cNvPr id="7" name="Connector 6"/>
          <p:cNvCxnSpPr/>
          <p:nvPr/>
        </p:nvCxnSpPr>
        <p:spPr>
          <a:xfrm>
            <a:off x="3154680" y="2651760"/>
            <a:ext cx="301752"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56432" y="1965960"/>
            <a:ext cx="2514600" cy="1371600"/>
          </a:xfrm>
          <a:prstGeom prst="roundRect">
            <a:avLst/>
          </a:prstGeom>
          <a:solidFill>
            <a:srgbClr val="E2F3E4"/>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600" b="1">
                <a:solidFill>
                  <a:srgbClr val="1F2328"/>
                </a:solidFill>
                <a:latin typeface="Helvetica Neue"/>
              </a:rPr>
              <a:t>Stage 2, done</a:t>
            </a:r>
          </a:p>
          <a:p>
            <a:pPr algn="ctr">
              <a:spcBef>
                <a:spcPts val="300"/>
              </a:spcBef>
            </a:pPr>
            <a:r>
              <a:rPr sz="1200" b="0">
                <a:solidFill>
                  <a:srgbClr val="1F2328"/>
                </a:solidFill>
                <a:latin typeface="Helvetica Neue"/>
              </a:rPr>
              <a:t>registration manifest: digests, tensor table, tokenizer, execution spec, Orion and Poseidon commitments; Qwen3-0.6B registered</a:t>
            </a:r>
          </a:p>
        </p:txBody>
      </p:sp>
      <p:cxnSp>
        <p:nvCxnSpPr>
          <p:cNvPr id="9" name="Connector 8"/>
          <p:cNvCxnSpPr/>
          <p:nvPr/>
        </p:nvCxnSpPr>
        <p:spPr>
          <a:xfrm>
            <a:off x="5971032" y="2651760"/>
            <a:ext cx="301752"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72784" y="1965960"/>
            <a:ext cx="2514600" cy="1371600"/>
          </a:xfrm>
          <a:prstGeom prst="roundRect">
            <a:avLst/>
          </a:prstGeom>
          <a:solidFill>
            <a:srgbClr val="E2F3E4"/>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600" b="1">
                <a:solidFill>
                  <a:srgbClr val="1F2328"/>
                </a:solidFill>
                <a:latin typeface="Helvetica Neue"/>
              </a:rPr>
              <a:t>Stage 3, done</a:t>
            </a:r>
          </a:p>
          <a:p>
            <a:pPr algn="ctr">
              <a:spcBef>
                <a:spcPts val="300"/>
              </a:spcBef>
            </a:pPr>
            <a:r>
              <a:rPr sz="1200" b="0">
                <a:solidFill>
                  <a:srgbClr val="1F2328"/>
                </a:solidFill>
                <a:latin typeface="Helvetica Neue"/>
              </a:rPr>
              <a:t>zero-knowledge proof of one node with Groth16: private weights under a Poseidon commitment, 805-byte proofs, verified in a browser</a:t>
            </a:r>
          </a:p>
        </p:txBody>
      </p:sp>
      <p:cxnSp>
        <p:nvCxnSpPr>
          <p:cNvPr id="11" name="Connector 10"/>
          <p:cNvCxnSpPr/>
          <p:nvPr/>
        </p:nvCxnSpPr>
        <p:spPr>
          <a:xfrm>
            <a:off x="8787384" y="2651760"/>
            <a:ext cx="301752" cy="0"/>
          </a:xfrm>
          <a:prstGeom prst="line">
            <a:avLst/>
          </a:prstGeom>
          <a:ln w="19050">
            <a:solidFill>
              <a:srgbClr val="5F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089136" y="1965960"/>
            <a:ext cx="2514600" cy="1371600"/>
          </a:xfrm>
          <a:prstGeom prst="roundRect">
            <a:avLst/>
          </a:prstGeom>
          <a:solidFill>
            <a:srgbClr val="FBEFD9"/>
          </a:solidFill>
          <a:ln w="15875">
            <a:solidFill>
              <a:srgbClr val="9A6A00"/>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1600" b="1">
                <a:solidFill>
                  <a:srgbClr val="1F2328"/>
                </a:solidFill>
                <a:latin typeface="Helvetica Neue"/>
              </a:rPr>
              <a:t>Stages 4 to 6</a:t>
            </a:r>
          </a:p>
          <a:p>
            <a:pPr algn="ctr">
              <a:spcBef>
                <a:spcPts val="300"/>
              </a:spcBef>
            </a:pPr>
            <a:r>
              <a:rPr sz="1200" b="0">
                <a:solidFill>
                  <a:srgbClr val="1F2328"/>
                </a:solidFill>
                <a:latin typeface="Helvetica Neue"/>
              </a:rPr>
              <a:t>fixed-point mode: 20 of 20 tokens agree; isolation and adversarial tests run; registry and verify page live as a preview. Not built: the whole-token prover</a:t>
            </a:r>
          </a:p>
        </p:txBody>
      </p:sp>
      <p:sp>
        <p:nvSpPr>
          <p:cNvPr id="13" name="TextBox 12"/>
          <p:cNvSpPr txBox="1"/>
          <p:nvPr/>
        </p:nvSpPr>
        <p:spPr>
          <a:xfrm>
            <a:off x="640080" y="3794760"/>
            <a:ext cx="10911535" cy="2331720"/>
          </a:xfrm>
          <a:prstGeom prst="rect">
            <a:avLst/>
          </a:prstGeom>
          <a:noFill/>
        </p:spPr>
        <p:txBody>
          <a:bodyPr wrap="square">
            <a:spAutoFit/>
          </a:bodyPr>
          <a:lstStyle/>
          <a:p>
            <a:r>
              <a:rPr sz="1500">
                <a:solidFill>
                  <a:srgbClr val="1F2328"/>
                </a:solidFill>
                <a:latin typeface="Helvetica Neue"/>
              </a:rPr>
              <a:t>Plan and records: PLAN.md and TODO.md, docs/stage1 to stage5. First model: Qwen3-0.6B requantized to Q4_K_M, every matmul a multiple of the 256-block.</a:t>
            </a:r>
          </a:p>
          <a:p>
            <a:pPr>
              <a:spcBef>
                <a:spcPts val="1000"/>
              </a:spcBef>
            </a:pPr>
            <a:r>
              <a:rPr sz="1500" b="0">
                <a:solidFill>
                  <a:srgbClr val="1F2328"/>
                </a:solidFill>
                <a:latin typeface="Helvetica Neue"/>
              </a:rPr>
              <a:t>A whole token is 322 million weight nibbles: 1.6 billion R1CS constraints, or 320 million multiplications with lookups. Per-node Groth16 cannot scale to it; a GKR with lookups and masking can.</a:t>
            </a:r>
          </a:p>
          <a:p>
            <a:pPr>
              <a:spcBef>
                <a:spcPts val="1000"/>
              </a:spcBef>
            </a:pPr>
            <a:r>
              <a:rPr sz="1500" b="0">
                <a:solidFill>
                  <a:srgbClr val="1F2328"/>
                </a:solidFill>
                <a:latin typeface="Helvetica Neue"/>
              </a:rPr>
              <a:t>Next: port the fixed-point mode into llama.cpp's kernels, add masking or aggregation on the GKR side, replace the proof-of-concept setup with ceremony parameters.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